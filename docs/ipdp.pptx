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Oswald" pitchFamily="2" charset="77"/>
      <p:regular r:id="rId23"/>
      <p:bold r:id="rId24"/>
    </p:embeddedFont>
    <p:embeddedFont>
      <p:font typeface="Oswald Light" pitchFamily="2" charset="77"/>
      <p:regular r:id="rId25"/>
      <p:bold r:id="rId26"/>
    </p:embeddedFont>
    <p:embeddedFont>
      <p:font typeface="Oswald Medium" pitchFamily="2" charset="77"/>
      <p:regular r:id="rId27"/>
      <p:bold r:id="rId28"/>
    </p:embeddedFont>
    <p:embeddedFont>
      <p:font typeface="Oswald SemiBold" pitchFamily="2" charset="7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BDDDA9-BF3F-49C2-881C-AD7A4AF4FA9B}">
  <a:tblStyle styleId="{1DBDDDA9-BF3F-49C2-881C-AD7A4AF4FA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4"/>
    <p:restoredTop sz="94649"/>
  </p:normalViewPr>
  <p:slideViewPr>
    <p:cSldViewPr snapToGrid="0">
      <p:cViewPr varScale="1">
        <p:scale>
          <a:sx n="105" d="100"/>
          <a:sy n="105" d="100"/>
        </p:scale>
        <p:origin x="200" y="6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80f67fa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80f67fa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80f67fad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80f67fad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0f67fad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80f67fad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0f67fad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0f67fad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80f67fad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80f67fad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80f67fad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80f67fad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80f67fad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80f67fad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80f67fad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80f67fad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0f67fad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80f67fad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0f67fad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0f67fad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80f67fad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80f67fad9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80f67fad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80f67fad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80f67fad9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80f67fad9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80f67fad9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80f67fad9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80f67fad9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80f67fad9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80f67fad9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80f67fad9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80f67fad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80f67fad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80f67fad9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80f67fad9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80f67fad9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80f67fad9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80f67fad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80f67fad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3438150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55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IPDP</a:t>
            </a:r>
            <a:endParaRPr sz="22255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PLAN</a:t>
            </a:r>
            <a:endParaRPr sz="3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14875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SC WAVE 2025/26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 </a:t>
            </a:r>
            <a:endParaRPr sz="13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59" name="Google Shape;59;p13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788" y="3856150"/>
            <a:ext cx="1132874" cy="113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PLAYER PROFILE</a:t>
            </a:r>
            <a:endParaRPr sz="900"/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2562825" y="895500"/>
            <a:ext cx="4279500" cy="3578400"/>
          </a:xfrm>
          <a:prstGeom prst="rect">
            <a:avLst/>
          </a:prstGeom>
          <a:solidFill>
            <a:srgbClr val="CCCCCC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Oswald SemiBold"/>
                <a:ea typeface="Oswald SemiBold"/>
                <a:cs typeface="Oswald SemiBold"/>
                <a:sym typeface="Oswald SemiBold"/>
              </a:rPr>
              <a:t>Name:</a:t>
            </a:r>
            <a:endParaRPr sz="3200"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NATIONALITY: </a:t>
            </a:r>
            <a:endParaRPr sz="14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BIRTHDATE: </a:t>
            </a:r>
            <a:endParaRPr sz="14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HOMETOWN: </a:t>
            </a:r>
            <a:endParaRPr sz="14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 b="1">
                <a:latin typeface="Oswald"/>
                <a:ea typeface="Oswald"/>
                <a:cs typeface="Oswald"/>
                <a:sym typeface="Oswald"/>
              </a:rPr>
              <a:t>POSITION:  </a:t>
            </a:r>
            <a:endParaRPr sz="14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 b="1">
                <a:latin typeface="Oswald"/>
                <a:ea typeface="Oswald"/>
                <a:cs typeface="Oswald"/>
                <a:sym typeface="Oswald"/>
              </a:rPr>
              <a:t>YEAR: </a:t>
            </a:r>
            <a:endParaRPr sz="14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 b="1">
                <a:latin typeface="Oswald"/>
                <a:ea typeface="Oswald"/>
                <a:cs typeface="Oswald"/>
                <a:sym typeface="Oswald"/>
              </a:rPr>
              <a:t>HEIGHT: </a:t>
            </a:r>
            <a:endParaRPr sz="14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 b="1">
                <a:latin typeface="Oswald"/>
                <a:ea typeface="Oswald"/>
                <a:cs typeface="Oswald"/>
                <a:sym typeface="Oswald"/>
              </a:rPr>
              <a:t>DREAM GOAL: </a:t>
            </a:r>
            <a:endParaRPr sz="14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WHY YOU PLAY: </a:t>
            </a:r>
            <a:endParaRPr sz="14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IDOL: </a:t>
            </a:r>
            <a:endParaRPr sz="14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400">
                <a:latin typeface="Oswald Medium"/>
                <a:ea typeface="Oswald Medium"/>
                <a:cs typeface="Oswald Medium"/>
                <a:sym typeface="Oswald Medium"/>
              </a:rPr>
              <a:t>Video:</a:t>
            </a:r>
            <a:endParaRPr sz="1400"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rPr>
              <a:t>Prepared by Jeremiah Johnson</a:t>
            </a:r>
            <a:endParaRPr sz="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918525" y="895800"/>
            <a:ext cx="1836300" cy="3578400"/>
          </a:xfrm>
          <a:prstGeom prst="rect">
            <a:avLst/>
          </a:prstGeom>
          <a:solidFill>
            <a:srgbClr val="B7B7B7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KEY QUALITIES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500"/>
              </a:spcAft>
              <a:buNone/>
            </a:pPr>
            <a:endParaRPr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0" name="Google Shape;70;p14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02" y="1681152"/>
            <a:ext cx="2104426" cy="210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0" y="3438150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EVALUATION</a:t>
            </a: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-14850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AREAS OF DEVELOPMENTAL FOCUS </a:t>
            </a:r>
            <a:endParaRPr/>
          </a:p>
        </p:txBody>
      </p:sp>
      <p:pic>
        <p:nvPicPr>
          <p:cNvPr id="79" name="Google Shape;79;p15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038" y="3856150"/>
            <a:ext cx="1132874" cy="11328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 </a:t>
            </a:r>
            <a:endParaRPr sz="13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aphicFrame>
        <p:nvGraphicFramePr>
          <p:cNvPr id="87" name="Google Shape;87;p16"/>
          <p:cNvGraphicFramePr/>
          <p:nvPr/>
        </p:nvGraphicFramePr>
        <p:xfrm>
          <a:off x="1458950" y="2489595"/>
          <a:ext cx="7384750" cy="248096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GAME UNDERSTANDING &amp; DECISION MAKING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Read and understand the game and make autonomous decisions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Applies knowledge of the details and implications of the cues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Reads and analyzes situations regarding A/D/T in a split second and/or under pressure, thinks fast. 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Aligns own actions with the other players, positions.  Understands relationships/partnerships.  </a:t>
                      </a:r>
                      <a:endParaRPr sz="800">
                        <a:solidFill>
                          <a:srgbClr val="CC0000"/>
                        </a:solidFill>
                        <a:latin typeface="Oswald SemiBold"/>
                        <a:ea typeface="Oswald SemiBold"/>
                        <a:cs typeface="Oswald SemiBold"/>
                        <a:sym typeface="Oswald SemiBo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the best player at their position based on the style of play of the team.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Recognizes the transition moment as an opportunity and a threat.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Manages the game when it comes to the pace of the game and/or moment in the game.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8" name="Google Shape;88;p16"/>
          <p:cNvSpPr/>
          <p:nvPr/>
        </p:nvSpPr>
        <p:spPr>
          <a:xfrm>
            <a:off x="1458925" y="938275"/>
            <a:ext cx="7384800" cy="141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LEGEND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4 = Performs at a level that exceeds the current playing level/environment</a:t>
            </a:r>
            <a:endParaRPr sz="11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3 = Performs at a high level for the current playing level/environment</a:t>
            </a:r>
            <a:endParaRPr sz="11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2 = Performs at a level that is on par for the current playing level/environment and is likely an opportunity area for improvement</a:t>
            </a:r>
            <a:endParaRPr sz="11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1 = Performance needs improvement for the current playing level/environment</a:t>
            </a:r>
            <a:endParaRPr sz="15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ALIGNMENT TO THE SC WAVE GAME MODEL - KEY QUALITIES OF A PLAYER </a:t>
            </a:r>
            <a:endParaRPr sz="900"/>
          </a:p>
        </p:txBody>
      </p:sp>
      <p:pic>
        <p:nvPicPr>
          <p:cNvPr id="90" name="Google Shape;90;p16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COACH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-2275" y="0"/>
            <a:ext cx="9144000" cy="37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1458925" y="681661"/>
          <a:ext cx="7384750" cy="248096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4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1C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1C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FOCUS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Focus for 90+ minutes on their task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51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Plays to win.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Has guts, is brave,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Deals with adversity (recovers quickly)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composed in their behavior (emotional stability).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Enhances the team and the other players by executing their task (is a giver)  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Executes their task under all circumstances.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9" name="Google Shape;99;p17"/>
          <p:cNvGraphicFramePr/>
          <p:nvPr/>
        </p:nvGraphicFramePr>
        <p:xfrm>
          <a:off x="1458925" y="3162540"/>
          <a:ext cx="7384750" cy="179824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4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5F0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5F0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INITIATIVE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Take initiative, be proactive</a:t>
                      </a:r>
                      <a:endParaRPr/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5F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Creates instead of reacts, confronts situations.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Takes opponents on (1v1, dribble to drag opponents out of position)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Thinks ahead.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Moves into space ahead of time. 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" name="Google Shape;100;p17"/>
          <p:cNvSpPr/>
          <p:nvPr/>
        </p:nvSpPr>
        <p:spPr>
          <a:xfrm>
            <a:off x="414125" y="2747975"/>
            <a:ext cx="795900" cy="2102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91425" rIns="64000" bIns="64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swald Medium"/>
                <a:ea typeface="Oswald Medium"/>
                <a:cs typeface="Oswald Medium"/>
                <a:sym typeface="Oswald Medium"/>
              </a:rPr>
              <a:t>LEGEND</a:t>
            </a:r>
            <a:endParaRPr sz="9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4 = Performs at a level that exceeds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3 = Performs at a high level for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2 = Performs at a level that is on par for the current level/environment and is likely an opportunity area for improvement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1 = Performance needs improvement for the current level/environment</a:t>
            </a: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01" name="Google Shape;101;p17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1;p16">
            <a:extLst>
              <a:ext uri="{FF2B5EF4-FFF2-40B4-BE49-F238E27FC236}">
                <a16:creationId xmlns:a16="http://schemas.microsoft.com/office/drawing/2014/main" id="{BE41987A-2826-2F4A-9F97-5E579BB7DAB6}"/>
              </a:ext>
            </a:extLst>
          </p:cNvPr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COACH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-2275" y="0"/>
            <a:ext cx="9144000" cy="37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aphicFrame>
        <p:nvGraphicFramePr>
          <p:cNvPr id="109" name="Google Shape;109;p18"/>
          <p:cNvGraphicFramePr/>
          <p:nvPr/>
        </p:nvGraphicFramePr>
        <p:xfrm>
          <a:off x="1458925" y="938275"/>
          <a:ext cx="7384750" cy="145688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4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OPTIMAL PHYSICAL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Execute their task for 90+ minutes with optimal physical ability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Uses body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Has the physical fitness to execute their task at a top level during the whole game/season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Exudes power and speed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0" name="Google Shape;110;p18"/>
          <p:cNvGraphicFramePr/>
          <p:nvPr/>
        </p:nvGraphicFramePr>
        <p:xfrm>
          <a:off x="1458925" y="2663269"/>
          <a:ext cx="7384750" cy="179824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5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OPTIMAL TECHNICAL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Execute their task for 90+ minutes with optimal technical ability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technically proficient to be effective (accurate) and successful in all situations.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proficient in 1v1 to create of win/regain the ball.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Has the technical skills to create, even under pressure.  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Has the technical skills to dictate the pace of the game.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Google Shape;111;p18"/>
          <p:cNvSpPr/>
          <p:nvPr/>
        </p:nvSpPr>
        <p:spPr>
          <a:xfrm>
            <a:off x="414125" y="2535350"/>
            <a:ext cx="795900" cy="2102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91425" rIns="64000" bIns="64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swald Medium"/>
                <a:ea typeface="Oswald Medium"/>
                <a:cs typeface="Oswald Medium"/>
                <a:sym typeface="Oswald Medium"/>
              </a:rPr>
              <a:t>LEGEND</a:t>
            </a:r>
            <a:endParaRPr sz="9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4 = Performs at a level that exceeds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3 = Performs at a high level for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2 = Performs at a level that is on par for the current level/environment and is likely an opportunity area for improvement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1 = Performance needs improvement for the current level/environment</a:t>
            </a: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12" name="Google Shape;112;p18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1;p16">
            <a:extLst>
              <a:ext uri="{FF2B5EF4-FFF2-40B4-BE49-F238E27FC236}">
                <a16:creationId xmlns:a16="http://schemas.microsoft.com/office/drawing/2014/main" id="{C65598BA-A61F-CC43-861A-8F39B3DBF041}"/>
              </a:ext>
            </a:extLst>
          </p:cNvPr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COACH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-2275" y="0"/>
            <a:ext cx="9144000" cy="46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aphicFrame>
        <p:nvGraphicFramePr>
          <p:cNvPr id="120" name="Google Shape;120;p19"/>
          <p:cNvGraphicFramePr/>
          <p:nvPr>
            <p:extLst>
              <p:ext uri="{D42A27DB-BD31-4B8C-83A1-F6EECF244321}">
                <p14:modId xmlns:p14="http://schemas.microsoft.com/office/powerpoint/2010/main" val="2321575615"/>
              </p:ext>
            </p:extLst>
          </p:nvPr>
        </p:nvGraphicFramePr>
        <p:xfrm>
          <a:off x="1034580" y="468600"/>
          <a:ext cx="7675875" cy="4601516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8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RESPONSIBLE (ON &amp; OFF FIELD)</a:t>
                      </a: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Takes responsibility and accountability for their own development and performance</a:t>
                      </a:r>
                      <a:endParaRPr sz="8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involved and engaged throughout every game/session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Delivers on agreements and promises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adaptable and flexible in dealing with (un) expected challenges and problems</a:t>
                      </a:r>
                      <a:endParaRPr sz="8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Articulates their own learning needs and formulates personal development goals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Evaluates and reflects on their own performance (analyzes game performance in relation to positional requirements in the system of play) 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Creates a personal development plan 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there when it is needed (leadership)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Organizes and manages personal lifestyle and environment to perform at top level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a coach on the field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Is a role model under all circumstances, shows exemplary behavior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Consults sources of knowledge / “experts”</a:t>
                      </a:r>
                      <a:endParaRPr sz="80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Creates own learning environment</a:t>
                      </a:r>
                      <a:endParaRPr sz="800" dirty="0">
                        <a:solidFill>
                          <a:schemeClr val="dk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1" name="Google Shape;121;p19"/>
          <p:cNvSpPr/>
          <p:nvPr/>
        </p:nvSpPr>
        <p:spPr>
          <a:xfrm>
            <a:off x="164638" y="1802883"/>
            <a:ext cx="795900" cy="2102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91425" rIns="64000" bIns="64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Oswald Medium"/>
                <a:ea typeface="Oswald Medium"/>
                <a:cs typeface="Oswald Medium"/>
                <a:sym typeface="Oswald Medium"/>
              </a:rPr>
              <a:t>LEGEND</a:t>
            </a:r>
            <a:endParaRPr sz="900" dirty="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200" dirty="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 dirty="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4 = Performs at a level that exceeds the current level/environment</a:t>
            </a:r>
            <a:endParaRPr sz="600" dirty="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 dirty="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3 = Performs at a high level for the current level/environment</a:t>
            </a:r>
            <a:endParaRPr sz="600" dirty="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 dirty="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2 = Performs at a level that is on par for the current level/environment and is likely an opportunity area for improvement</a:t>
            </a:r>
            <a:endParaRPr sz="600" dirty="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600" dirty="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1 = Performance needs improvement for the current level/environment</a:t>
            </a:r>
            <a:endParaRPr sz="1000" dirty="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22" name="Google Shape;122;p19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1;p16">
            <a:extLst>
              <a:ext uri="{FF2B5EF4-FFF2-40B4-BE49-F238E27FC236}">
                <a16:creationId xmlns:a16="http://schemas.microsoft.com/office/drawing/2014/main" id="{51CEC145-0241-064A-9773-D8F3078B27BB}"/>
              </a:ext>
            </a:extLst>
          </p:cNvPr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COACH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85100" y="2083980"/>
            <a:ext cx="795900" cy="2102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91425" rIns="64000" bIns="64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Oswald Medium"/>
                <a:ea typeface="Oswald Medium"/>
                <a:cs typeface="Oswald Medium"/>
                <a:sym typeface="Oswald Medium"/>
              </a:rPr>
              <a:t>LEGEND</a:t>
            </a:r>
            <a:endParaRPr sz="9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4 = Performs at a level that exceeds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3 = Performs at a high level for the current level/environment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2 = Performs at a level that is on par for the current level/environment and is likely an opportunity area for improvement</a:t>
            </a:r>
            <a:endParaRPr sz="6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6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1 = Performance needs improvement for the current level/environment</a:t>
            </a: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DEVELOPMENTAL STAGE - ASPECTS OF THE GAME - KEY QUALITIES OF A PLAYER </a:t>
            </a:r>
            <a:endParaRPr sz="900"/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1149175" y="771050"/>
          <a:ext cx="1886700" cy="4322745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10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TECHNICAL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C4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DIRECTIONAL CONTROL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DRIBBLING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BEATING THE OPP.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SHORT PASS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LONG PASS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CROSSING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SWITCH THE FIELD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FINISHING -KICK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FINISHING -HEADER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FEINT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DEFENSIVE HEADER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INTERCEPTATION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DEFENSIVE RUN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COVER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FREE KICKS </a:t>
                      </a:r>
                      <a:endParaRPr sz="7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33" name="Google Shape;133;p20"/>
          <p:cNvGraphicFramePr/>
          <p:nvPr/>
        </p:nvGraphicFramePr>
        <p:xfrm>
          <a:off x="3093325" y="771050"/>
          <a:ext cx="1886700" cy="3275560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TACTICAL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SPEED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ENDURANCE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STRENGTH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AGILITY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COORDINATION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BALANCE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SUPPLENESS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REACTION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PERCEPTION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ACCELERATION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BASIC MOTOR SKILLS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AWARENESS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34" name="Google Shape;134;p20"/>
          <p:cNvGraphicFramePr/>
          <p:nvPr/>
        </p:nvGraphicFramePr>
        <p:xfrm>
          <a:off x="5037475" y="771050"/>
          <a:ext cx="1886700" cy="3841736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6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6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PHYSICAL</a:t>
                      </a:r>
                      <a:endParaRPr sz="6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POSSESSION (RETAIN THE BALL)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TRANSITIONS (RECOGNIZE)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COMBINATION PLAY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SWITCHING PLAY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PLAY OUT OF THE BACK (CONFIDENCE TO PLAY)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ATTACKING PRINCIPLES (UNDERSTANDING)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DEFENDING PRINCIPLES (UNDERSTANDING)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PRESSING (IDENTIFY WHEN) </a:t>
                      </a:r>
                      <a:r>
                        <a:rPr lang="en" sz="600">
                          <a:solidFill>
                            <a:srgbClr val="4C4C4C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RETREAT (WHEN AND WHERE) </a:t>
                      </a:r>
                      <a:endParaRPr sz="6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UNDERSTANDING FORMATION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UNDERSTANDING SYSTEM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UNDERSTANDING FUNCTIONS 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UNDERSTANDING MOMENTS</a:t>
                      </a:r>
                      <a:endParaRPr sz="600">
                        <a:solidFill>
                          <a:srgbClr val="4C4C4C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Google Shape;135;p20"/>
          <p:cNvGraphicFramePr/>
          <p:nvPr/>
        </p:nvGraphicFramePr>
        <p:xfrm>
          <a:off x="7092350" y="771050"/>
          <a:ext cx="1886700" cy="4327929"/>
        </p:xfrm>
        <a:graphic>
          <a:graphicData uri="http://schemas.openxmlformats.org/drawingml/2006/table">
            <a:tbl>
              <a:tblPr>
                <a:noFill/>
                <a:tableStyleId>{1DBDDDA9-BF3F-49C2-881C-AD7A4AF4FA9B}</a:tableStyleId>
              </a:tblPr>
              <a:tblGrid>
                <a:gridCol w="49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EVAL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SOCIAL/MENTAL</a:t>
                      </a:r>
                      <a:endParaRPr sz="700">
                        <a:solidFill>
                          <a:schemeClr val="lt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4000" marB="640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SELF-CONTROL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CONCENTRATION, CARE, DISCIPLINE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RESISTANCE TO STRESS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PSYCHOLOGICAL STAMINA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HIGH MOTIVATION, PERS. ACHIEVE.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SELF-CONFIDENCE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RISK-TAKING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PLAYING FOR THE TEAM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DRIVE FOR IMPROVEMENT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AGGRESSIVENESS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COMPETITIVENESS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LISTENING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COMMUNICATION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PROBLEM-SOLVING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DECISION MAKING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6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RESPECT/LEADERSHIP/INFLUENCE </a:t>
                      </a:r>
                      <a:endParaRPr sz="60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38100" marR="38100" marT="38100" marB="381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136" name="Google Shape;136;p20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1;p16">
            <a:extLst>
              <a:ext uri="{FF2B5EF4-FFF2-40B4-BE49-F238E27FC236}">
                <a16:creationId xmlns:a16="http://schemas.microsoft.com/office/drawing/2014/main" id="{4C1B78A2-822C-334A-9B05-72EE1BB3D17A}"/>
              </a:ext>
            </a:extLst>
          </p:cNvPr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COACH </a:t>
            </a:r>
            <a:endParaRPr sz="11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0" y="3438150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NEXT STEPS</a:t>
            </a: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-14850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AREAS OF DEVELOPMENTAL FOCUS </a:t>
            </a:r>
            <a:endParaRPr/>
          </a:p>
        </p:txBody>
      </p:sp>
      <p:pic>
        <p:nvPicPr>
          <p:cNvPr id="146" name="Google Shape;146;p21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438" y="3856150"/>
            <a:ext cx="1132874" cy="113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 </a:t>
            </a:r>
            <a:endParaRPr sz="13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-2275" y="771050"/>
            <a:ext cx="9144000" cy="44004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QUALITIES OF THE PLAYER </a:t>
            </a:r>
            <a:endParaRPr sz="900"/>
          </a:p>
        </p:txBody>
      </p:sp>
      <p:sp>
        <p:nvSpPr>
          <p:cNvPr id="155" name="Google Shape;155;p22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156" name="Google Shape;156;p22" descr="page10image83718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5" y="1931045"/>
            <a:ext cx="894662" cy="89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 descr="page10image83714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0" y="4074588"/>
            <a:ext cx="866911" cy="86691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1329325" y="2247538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1329325" y="1206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1329325" y="33671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1329325" y="4377250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22" descr="page10image83689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275" y="986686"/>
            <a:ext cx="589051" cy="7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 descr="page10image98266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375" y="3141382"/>
            <a:ext cx="484858" cy="7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2026900" y="998675"/>
            <a:ext cx="3000000" cy="6771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Confidence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Respect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Concentration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1C232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Positive aggressiveness</a:t>
            </a:r>
            <a:endParaRPr>
              <a:highlight>
                <a:srgbClr val="F1C232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2026900" y="1788463"/>
            <a:ext cx="3000000" cy="12930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Organization of play </a:t>
            </a:r>
            <a:endParaRPr sz="800">
              <a:solidFill>
                <a:schemeClr val="dk1"/>
              </a:solidFill>
              <a:highlight>
                <a:srgbClr val="FFD966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Zonal play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Regaining possession 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Pressing/ Anticipation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Retaining possession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Using the width of the pitch 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Play between the lines 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F0000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Attempts to get into the opp. box.</a:t>
            </a:r>
            <a:endParaRPr sz="800">
              <a:solidFill>
                <a:schemeClr val="dk1"/>
              </a:solidFill>
              <a:highlight>
                <a:srgbClr val="FF0000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Counter-attacking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2026900" y="3160950"/>
            <a:ext cx="3000000" cy="9234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Aerobic capacity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Aerobic power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Speed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Jumping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Coordination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Pace and change in pace emphasis</a:t>
            </a:r>
            <a:endParaRPr sz="800">
              <a:solidFill>
                <a:schemeClr val="dk1"/>
              </a:solidFill>
              <a:highlight>
                <a:srgbClr val="FFD966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2026900" y="4163825"/>
            <a:ext cx="3000000" cy="9234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Play both feet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General ball control – Control and passing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Short passing – Long passing </a:t>
            </a: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Crossing – Shooting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Heading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1- or 2-touch play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One-on-ones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599075" y="998675"/>
            <a:ext cx="3000000" cy="6771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Confidence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Respect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Concentration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1C232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Positive aggressiveness</a:t>
            </a:r>
            <a:endParaRPr sz="8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5599075" y="1788463"/>
            <a:ext cx="3000000" cy="12930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Organization of play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Zonal play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Regaining possession 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Pressing/ Anticipation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Retaining possession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Using the width of the pitch 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Play between the lines </a:t>
            </a:r>
            <a:br>
              <a:rPr lang="en" sz="8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Attempts to get into the opp. box.</a:t>
            </a:r>
            <a:endParaRPr sz="800">
              <a:solidFill>
                <a:schemeClr val="dk1"/>
              </a:solidFill>
              <a:highlight>
                <a:srgbClr val="FFD966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Counter-attacking</a:t>
            </a:r>
            <a:endParaRPr sz="8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599075" y="3160950"/>
            <a:ext cx="3000000" cy="9234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Aerobic capacity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Aerobic power 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Speed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Jumping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Coordination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Pace and change in pace emphasis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5599075" y="4163825"/>
            <a:ext cx="3000000" cy="9234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Play both feet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General ball control – Control and passing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Short passing – Long passing –</a:t>
            </a: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 Crossing </a:t>
            </a: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Shooting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</a:t>
            </a:r>
            <a:r>
              <a:rPr lang="en" sz="800">
                <a:solidFill>
                  <a:schemeClr val="dk1"/>
                </a:solidFill>
                <a:highlight>
                  <a:srgbClr val="FFD966"/>
                </a:highlight>
                <a:latin typeface="Oswald Medium"/>
                <a:ea typeface="Oswald Medium"/>
                <a:cs typeface="Oswald Medium"/>
                <a:sym typeface="Oswald Medium"/>
              </a:rPr>
              <a:t> Heading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1- or 2-touch play</a:t>
            </a:r>
            <a:b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</a:br>
            <a:r>
              <a:rPr lang="en" sz="800">
                <a:solidFill>
                  <a:schemeClr val="dk1"/>
                </a:solidFill>
                <a:highlight>
                  <a:srgbClr val="93C47D"/>
                </a:highlight>
                <a:latin typeface="Oswald Medium"/>
                <a:ea typeface="Oswald Medium"/>
                <a:cs typeface="Oswald Medium"/>
                <a:sym typeface="Oswald Medium"/>
              </a:rPr>
              <a:t>– One-on-ones</a:t>
            </a:r>
            <a:endParaRPr sz="800">
              <a:solidFill>
                <a:schemeClr val="dk1"/>
              </a:solidFill>
              <a:highlight>
                <a:srgbClr val="93C47D"/>
              </a:highlight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116938" y="1206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5116925" y="2247550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5116938" y="3391650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5116925" y="44947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2267425" y="673950"/>
            <a:ext cx="2676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(1st Evaluation)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5851925" y="673950"/>
            <a:ext cx="2676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(2nd Evaluation)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116950" y="986675"/>
            <a:ext cx="392100" cy="4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P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R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O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C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E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S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 Medium"/>
                <a:ea typeface="Oswald Medium"/>
                <a:cs typeface="Oswald Medium"/>
                <a:sym typeface="Oswald Medium"/>
              </a:rPr>
              <a:t>S</a:t>
            </a:r>
            <a:endParaRPr sz="1800"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180" name="Google Shape;180;p22" title="IMG_96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ACTION PLAN </a:t>
            </a:r>
            <a:endParaRPr sz="900"/>
          </a:p>
        </p:txBody>
      </p:sp>
      <p:sp>
        <p:nvSpPr>
          <p:cNvPr id="189" name="Google Shape;189;p23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73350" y="1292475"/>
            <a:ext cx="1836300" cy="1015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Oswald Medium"/>
                <a:ea typeface="Oswald Medium"/>
                <a:cs typeface="Oswald Medium"/>
                <a:sym typeface="Oswald Medium"/>
              </a:rPr>
              <a:t>TECHNICAL</a:t>
            </a:r>
            <a:endParaRPr sz="10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5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2277525" y="803175"/>
            <a:ext cx="3641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DEVELOP/IMPROVE/MAINTAIN</a:t>
            </a:r>
            <a:endParaRPr sz="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Repertoire of technical moves and confidence on the ball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Ball control skills: under pressure, at high speed, when tired, under threat from the opponent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Technical skills when moving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taking the ball, controlling the first pass • dribbles, feints; various types of crosses • follow-up (head, feet) and finishing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direct play (one or two touches)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Speed of execution of move (making the right choice quickly)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E06666"/>
                </a:highlight>
                <a:latin typeface="Oswald Light"/>
                <a:ea typeface="Oswald Light"/>
                <a:cs typeface="Oswald Light"/>
                <a:sym typeface="Oswald Light"/>
              </a:rPr>
              <a:t>Shooting out of the box and into the box.</a:t>
            </a:r>
            <a:endParaRPr sz="800">
              <a:solidFill>
                <a:schemeClr val="dk1"/>
              </a:solidFill>
              <a:highlight>
                <a:srgbClr val="E06666"/>
              </a:highlight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highlight>
                <a:srgbClr val="FFFFFF"/>
              </a:highlight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6060750" y="803325"/>
            <a:ext cx="3005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 Medium"/>
                <a:ea typeface="Oswald Medium"/>
                <a:cs typeface="Oswald Medium"/>
                <a:sym typeface="Oswald Medium"/>
              </a:rPr>
              <a:t>ACTION PLAN</a:t>
            </a: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Player with the ball in a one-on-one duel; Exercises first performed alone, then with a partner as technical support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Variations on simple exercises, using dynamic movement, rhythm, and progressively getting up to optimum speed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Coordination skills and technical moves using all the contact surfaces (legs, chest, head)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Player with ball, aiming for efficiency and creativity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Training through progressive exercises; by drills, circuits, technical exercises and playing (1V1; 2V2; 3V3…) Finishing situations.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spcBef>
                <a:spcPts val="12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73350" y="3635200"/>
            <a:ext cx="1836300" cy="1015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Oswald Medium"/>
                <a:ea typeface="Oswald Medium"/>
                <a:cs typeface="Oswald Medium"/>
                <a:sym typeface="Oswald Medium"/>
              </a:rPr>
              <a:t>TACTICAL</a:t>
            </a:r>
            <a:endParaRPr sz="10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5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2277525" y="3015150"/>
            <a:ext cx="3641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DEVELOP/IMPROVE/MAINTAIN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The technical qualities of defense and attack in a game situation Cognitive skills (tactical awareness), individual tactical behavior Rapid transitions from defense to attack and vice versa; Change in pace; 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The tactical relationship between the players and the lines Playing in zones, based on tactical understanding; Being able to read the game and the culture of the game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Tactical behavior in terms of the game, system and tactical organization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Tactical versatility in the game, in the lines (attack, midfield, defense) and in the transition from attack to defense or vice versa; 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Versatility in zonal play, in mixed formations Switching tactics, systems and formations.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Set pieces (dead-ball situations): techniques and tactics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E06666"/>
                </a:highlight>
                <a:latin typeface="Oswald Light"/>
                <a:ea typeface="Oswald Light"/>
                <a:cs typeface="Oswald Light"/>
                <a:sym typeface="Oswald Light"/>
              </a:rPr>
              <a:t>Transitional moment Att-Def</a:t>
            </a: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 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spcBef>
                <a:spcPts val="1200"/>
              </a:spcBef>
              <a:spcAft>
                <a:spcPts val="500"/>
              </a:spcAft>
              <a:buNone/>
            </a:pPr>
            <a:endParaRPr sz="500"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6060750" y="3015150"/>
            <a:ext cx="3005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ACTION PLAN</a:t>
            </a: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Real games situations and actions of 2v1, 4v4, 5v4 and 9v9; Exercises with varied game situations to improve concentration and cognitive qualities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Progressive repetitive exercises without an opponent or with a passive opponent, then active or semi-active with match intensity; try to increase speed of execution; Game, exercise, game format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Vary size of pitch for the same formation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Games with numerical advantage or disadvantage; Line by line towards the idea of defending as a team: from 7v6, or 4v11 to 9v9 or 11v11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Game format and tactical exercises with formations.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E06666"/>
                </a:highlight>
                <a:latin typeface="Oswald Light"/>
                <a:ea typeface="Oswald Light"/>
                <a:cs typeface="Oswald Light"/>
                <a:sym typeface="Oswald Light"/>
              </a:rPr>
              <a:t>Transitional games, pushing to situations non confortables. </a:t>
            </a:r>
            <a:endParaRPr sz="800">
              <a:solidFill>
                <a:schemeClr val="dk1"/>
              </a:solidFill>
              <a:highlight>
                <a:srgbClr val="E06666"/>
              </a:highlight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spcBef>
                <a:spcPts val="12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196" name="Google Shape;196;p23" descr="page10image83718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225" y="3695620"/>
            <a:ext cx="894662" cy="89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descr="page10image83714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100" y="1366925"/>
            <a:ext cx="866911" cy="866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1983300" y="3988400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1983300" y="1669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5764500" y="393377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5764500" y="1669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23" title="IMG_96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ACTION PLAN </a:t>
            </a:r>
            <a:endParaRPr sz="900"/>
          </a:p>
        </p:txBody>
      </p:sp>
      <p:sp>
        <p:nvSpPr>
          <p:cNvPr id="212" name="Google Shape;212;p24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73350" y="1292475"/>
            <a:ext cx="1836300" cy="1015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Oswald Medium"/>
                <a:ea typeface="Oswald Medium"/>
                <a:cs typeface="Oswald Medium"/>
                <a:sym typeface="Oswald Medium"/>
              </a:rPr>
              <a:t>PHYSICAL</a:t>
            </a:r>
            <a:endParaRPr sz="10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5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2277525" y="803175"/>
            <a:ext cx="3641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DEVELOP/IMPROVE/MAINTAIN</a:t>
            </a:r>
            <a:endParaRPr sz="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Optimal physical preparation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General and specific athletic and physical foundations Injury prevention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Monitoring the performance level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Taking into account the physical development and age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highlight>
                <a:srgbClr val="FFFFFF"/>
              </a:highlight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6060750" y="803325"/>
            <a:ext cx="3005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swald Medium"/>
                <a:ea typeface="Oswald Medium"/>
                <a:cs typeface="Oswald Medium"/>
                <a:sym typeface="Oswald Medium"/>
              </a:rPr>
              <a:t>ACTION PLAN</a:t>
            </a: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Basic physical factors: aerobic endurance, muscle strength, suppleness, coordination and speed, from the age of ten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Specific factors, aerobic endurance (aerobic power), muscle strength and reflexes, acyclic and arrhythmic speed.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Training sessions with multiple objectives: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coordination + technique and endurance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strength and speed coordination and technique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aerobic-anaerobic endurance and technical-tactical aspect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aerobic power and speed-strength and technique • speed + coordination and suppleness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Integrated training with the ball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Isolated training (PARADIGME).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73350" y="3635200"/>
            <a:ext cx="1836300" cy="1015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PHYSCOLOGICAL</a:t>
            </a:r>
            <a:endParaRPr sz="10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5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2277525" y="3015150"/>
            <a:ext cx="3641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DEVELOP/IMPROVE/MAINTAIN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Players’ mental preparation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Awareness of the psychological factors that influence performance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Training of mental aptitudes on the pitch: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Concentration, attention, self-confidence, will, perseverance, aggression, controlling emotions, determination, etc.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The means to improve players’ mental strength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E06666"/>
                </a:highlight>
                <a:latin typeface="Oswald Light"/>
                <a:ea typeface="Oswald Light"/>
                <a:cs typeface="Oswald Light"/>
                <a:sym typeface="Oswald Light"/>
              </a:rPr>
              <a:t>Deal with frustration and react.</a:t>
            </a:r>
            <a:endParaRPr sz="800">
              <a:solidFill>
                <a:schemeClr val="dk1"/>
              </a:solidFill>
              <a:highlight>
                <a:srgbClr val="E06666"/>
              </a:highlight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sz="800"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6060750" y="3015150"/>
            <a:ext cx="3005700" cy="19941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37150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ACTION PLAN</a:t>
            </a: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Training games and exercises that regularly include mental aspects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Introduce objectives of a psychological nature into training activities: Concentration, perseverance, aggression, cognitive qualities (perception/anticipation)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Tactical games with instructions or games to develop qualities of perception (anticipation, analysis, decision-making) Exercises or game format under pressure and when tired Always identify with the player the psychological factor(s) behind the success or lack of success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visualisation, communication (talking to oneself) 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self-evaluation of performances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relaxation</a:t>
            </a:r>
            <a:b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r>
              <a:rPr lang="en" sz="8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• personal preparation</a:t>
            </a: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ctr" rtl="0">
              <a:spcBef>
                <a:spcPts val="1200"/>
              </a:spcBef>
              <a:spcAft>
                <a:spcPts val="500"/>
              </a:spcAft>
              <a:buNone/>
            </a:pPr>
            <a:endParaRPr sz="1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1983300" y="3988400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1983300" y="1669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5764500" y="393377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5764500" y="1669425"/>
            <a:ext cx="392100" cy="261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24" descr="page10image98266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125" y="1419307"/>
            <a:ext cx="484858" cy="7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descr="page10image83689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025" y="3792411"/>
            <a:ext cx="589051" cy="7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title="IMG_96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0" y="3438150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5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EVIDENCES</a:t>
            </a: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-14850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VIDEOS </a:t>
            </a:r>
            <a:endParaRPr/>
          </a:p>
        </p:txBody>
      </p:sp>
      <p:pic>
        <p:nvPicPr>
          <p:cNvPr id="236" name="Google Shape;236;p25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563" y="3856150"/>
            <a:ext cx="1132874" cy="113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 </a:t>
            </a:r>
            <a:endParaRPr sz="13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PROFILE HIGHLIGHTS </a:t>
            </a:r>
            <a:endParaRPr sz="900"/>
          </a:p>
        </p:txBody>
      </p:sp>
      <p:sp>
        <p:nvSpPr>
          <p:cNvPr id="245" name="Google Shape;245;p26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334300" y="857050"/>
            <a:ext cx="2577300" cy="3937500"/>
          </a:xfrm>
          <a:prstGeom prst="rect">
            <a:avLst/>
          </a:prstGeom>
          <a:solidFill>
            <a:srgbClr val="EFEFEF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Medium"/>
                <a:ea typeface="Oswald Medium"/>
                <a:cs typeface="Oswald Medium"/>
                <a:sym typeface="Oswald Medium"/>
              </a:rPr>
              <a:t>PLAYER ACTION</a:t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 Light"/>
              <a:ea typeface="Oswald Light"/>
              <a:cs typeface="Oswald Light"/>
              <a:sym typeface="Oswal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swald"/>
                <a:ea typeface="Oswald"/>
                <a:cs typeface="Oswald"/>
                <a:sym typeface="Oswald"/>
              </a:rPr>
              <a:t>3 VIDEO CLIPS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48" name="Google Shape;248;p26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USSF ‘A’ COACH P. ALMEIDA 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0" y="3438150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7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ACTION PLAN</a:t>
            </a: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-14850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CYCLE PERIODIZATION PLAN </a:t>
            </a:r>
            <a:endParaRPr/>
          </a:p>
        </p:txBody>
      </p:sp>
      <p:pic>
        <p:nvPicPr>
          <p:cNvPr id="259" name="Google Shape;259;p27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300" y="3856159"/>
            <a:ext cx="1132874" cy="113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</a:t>
            </a:r>
            <a:endParaRPr sz="13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TRAINING SITUATION- DEVELOPMENT FOCUS SHORT TERM </a:t>
            </a:r>
            <a:endParaRPr sz="900"/>
          </a:p>
        </p:txBody>
      </p:sp>
      <p:sp>
        <p:nvSpPr>
          <p:cNvPr id="268" name="Google Shape;268;p28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334300" y="857050"/>
            <a:ext cx="8425500" cy="3937500"/>
          </a:xfrm>
          <a:prstGeom prst="rect">
            <a:avLst/>
          </a:prstGeom>
          <a:solidFill>
            <a:srgbClr val="EFEFEF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274300" rIns="274300" bIns="274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PLAYER ACTION (RESUME)</a:t>
            </a:r>
            <a:endParaRPr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271" name="Google Shape;271;p28" descr="page10image83689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975" y="3169738"/>
            <a:ext cx="589049" cy="7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 descr="page10image83718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966" y="1424061"/>
            <a:ext cx="701075" cy="7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 descr="page10image98266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8505" y="3971526"/>
            <a:ext cx="445997" cy="7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 descr="page10image83714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9801" y="2279413"/>
            <a:ext cx="743400" cy="7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 title="IMG_96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25800" y="48078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USSF ‘A’ COACH P. ALMEIDA 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/>
          <p:nvPr/>
        </p:nvSpPr>
        <p:spPr>
          <a:xfrm>
            <a:off x="-14875" y="0"/>
            <a:ext cx="917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-25" y="3444525"/>
            <a:ext cx="9144000" cy="17052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ctrTitle"/>
          </p:nvPr>
        </p:nvSpPr>
        <p:spPr>
          <a:xfrm>
            <a:off x="311708" y="98029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PROGRESS</a:t>
            </a:r>
            <a:endParaRPr sz="96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-14850" y="3185775"/>
            <a:ext cx="9173700" cy="517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79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GRAPHIC </a:t>
            </a:r>
            <a:endParaRPr/>
          </a:p>
        </p:txBody>
      </p:sp>
      <p:pic>
        <p:nvPicPr>
          <p:cNvPr id="286" name="Google Shape;286;p29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628" y="3856159"/>
            <a:ext cx="1132874" cy="113287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/>
          <p:nvPr/>
        </p:nvSpPr>
        <p:spPr>
          <a:xfrm>
            <a:off x="334300" y="4625950"/>
            <a:ext cx="31797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Prepared by Coach</a:t>
            </a:r>
            <a:endParaRPr sz="13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PROGRESS- DEVELOPMENT FOCUS SHORT TERM </a:t>
            </a:r>
            <a:endParaRPr sz="900"/>
          </a:p>
        </p:txBody>
      </p:sp>
      <p:sp>
        <p:nvSpPr>
          <p:cNvPr id="295" name="Google Shape;295;p30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297" name="Google Shape;297;p3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425" y="1016750"/>
            <a:ext cx="6566676" cy="3895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 descr="page10image83689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075" y="4263728"/>
            <a:ext cx="446000" cy="53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 descr="page10image98266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348" y="2777425"/>
            <a:ext cx="337693" cy="5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 descr="page10image83718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7398" y="2748314"/>
            <a:ext cx="589050" cy="5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 descr="page10image83714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5075" y="1509520"/>
            <a:ext cx="446001" cy="44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 title="IMG_962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USSF ‘A’ COACH P. ALMEIDA 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/>
          <p:nvPr/>
        </p:nvSpPr>
        <p:spPr>
          <a:xfrm>
            <a:off x="0" y="743100"/>
            <a:ext cx="9144000" cy="4400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1"/>
          <p:cNvSpPr/>
          <p:nvPr/>
        </p:nvSpPr>
        <p:spPr>
          <a:xfrm>
            <a:off x="-2275" y="0"/>
            <a:ext cx="9144000" cy="74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0" y="407400"/>
            <a:ext cx="9144000" cy="33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PROGRESS- DEVELOPMENT FOCUS SHORT TERM </a:t>
            </a:r>
            <a:endParaRPr sz="900"/>
          </a:p>
        </p:txBody>
      </p:sp>
      <p:sp>
        <p:nvSpPr>
          <p:cNvPr id="311" name="Google Shape;311;p31"/>
          <p:cNvSpPr txBox="1">
            <a:spLocks noGrp="1"/>
          </p:cNvSpPr>
          <p:nvPr>
            <p:ph type="ctrTitle"/>
          </p:nvPr>
        </p:nvSpPr>
        <p:spPr>
          <a:xfrm>
            <a:off x="0" y="-50"/>
            <a:ext cx="9144000" cy="37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PROGRAM</a:t>
            </a:r>
            <a:endParaRPr sz="120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313" name="Google Shape;313;p31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75" y="854925"/>
            <a:ext cx="8780700" cy="405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 title="IMG_96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75" y="-50"/>
            <a:ext cx="743400" cy="7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 txBox="1"/>
          <p:nvPr/>
        </p:nvSpPr>
        <p:spPr>
          <a:xfrm>
            <a:off x="23525" y="4832000"/>
            <a:ext cx="909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USSF ‘A’ COACH P. ALMEIDA </a:t>
            </a:r>
            <a:endParaRPr sz="1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 txBox="1"/>
          <p:nvPr/>
        </p:nvSpPr>
        <p:spPr>
          <a:xfrm>
            <a:off x="5581600" y="4385800"/>
            <a:ext cx="35109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Prepared by Coach </a:t>
            </a:r>
            <a:endParaRPr sz="1500" b="1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2" name="Google Shape;322;p32"/>
          <p:cNvSpPr txBox="1">
            <a:spLocks noGrp="1"/>
          </p:cNvSpPr>
          <p:nvPr>
            <p:ph type="title"/>
          </p:nvPr>
        </p:nvSpPr>
        <p:spPr>
          <a:xfrm>
            <a:off x="440290" y="510287"/>
            <a:ext cx="8520600" cy="4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DISCIPLINE + PROCESS</a:t>
            </a: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INDIVIDUAL PLAYER DEVELOPMENT PLAN</a:t>
            </a:r>
            <a:endParaRPr sz="2000" dirty="0">
              <a:solidFill>
                <a:schemeClr val="lt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323" name="Google Shape;323;p32" title="IMG_96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150" y="1433713"/>
            <a:ext cx="2465750" cy="22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2144</Words>
  <Application>Microsoft Macintosh PowerPoint</Application>
  <PresentationFormat>On-screen Show (16:9)</PresentationFormat>
  <Paragraphs>338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Oswald SemiBold</vt:lpstr>
      <vt:lpstr>Oswald Medium</vt:lpstr>
      <vt:lpstr>Arial</vt:lpstr>
      <vt:lpstr>Oswald Light</vt:lpstr>
      <vt:lpstr>Oswald</vt:lpstr>
      <vt:lpstr>Simple Light</vt:lpstr>
      <vt:lpstr>IPDP INDIVIDUAL PLAYER DEVELOPMENT PLAN</vt:lpstr>
      <vt:lpstr>Name: NATIONALITY:  BIRTHDATE:  HOMETOWN:  POSITION:   YEAR:  HEIGHT:  DREAM GOAL:  WHY YOU PLAY:  IDOL:  Video:</vt:lpstr>
      <vt:lpstr>EVALUATION  </vt:lpstr>
      <vt:lpstr>INDIVIDUAL PLAYER DEVELOPMENT PROGRAM</vt:lpstr>
      <vt:lpstr>INDIVIDUAL PLAYER DEVELOPMENT PROGRAM</vt:lpstr>
      <vt:lpstr>INDIVIDUAL PLAYER DEVELOPMENT PROGRAM</vt:lpstr>
      <vt:lpstr>INDIVIDUAL PLAYER DEVELOPMENT PROGRAM</vt:lpstr>
      <vt:lpstr>INDIVIDUAL PLAYER DEVELOPMENT PROGRAM</vt:lpstr>
      <vt:lpstr>NEXT STEPS</vt:lpstr>
      <vt:lpstr>INDIVIDUAL PLAYER DEVELOPMENT PROGRAM</vt:lpstr>
      <vt:lpstr>INDIVIDUAL PLAYER DEVELOPMENT PROGRAM</vt:lpstr>
      <vt:lpstr>INDIVIDUAL PLAYER DEVELOPMENT PROGRAM</vt:lpstr>
      <vt:lpstr>EVIDENCES </vt:lpstr>
      <vt:lpstr>INDIVIDUAL PLAYER DEVELOPMENT PROGRAM</vt:lpstr>
      <vt:lpstr>ACTION PLAN</vt:lpstr>
      <vt:lpstr>INDIVIDUAL PLAYER DEVELOPMENT PROGRAM</vt:lpstr>
      <vt:lpstr>PROGRESS</vt:lpstr>
      <vt:lpstr>INDIVIDUAL PLAYER DEVELOPMENT PROGRAM</vt:lpstr>
      <vt:lpstr>INDIVIDUAL PLAYER DEVELOPMENT PROGRAM</vt:lpstr>
      <vt:lpstr>DISCIPLINE + PROCESS                         INDIVIDUAL PLAYER DEVELOPMENT PLAN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IPDP INDIVIDUAL PLAYER DEVELOPMENT PLAN</dc:title>
  <cp:lastModifiedBy>Daniel Mattos</cp:lastModifiedBy>
  <cp:revision>1</cp:revision>
  <dcterms:modified xsi:type="dcterms:W3CDTF">2025-11-22T01:57:31Z</dcterms:modified>
</cp:coreProperties>
</file>