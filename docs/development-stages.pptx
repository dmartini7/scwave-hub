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535" r:id="rId2"/>
    <p:sldId id="531" r:id="rId3"/>
    <p:sldId id="466" r:id="rId4"/>
    <p:sldId id="519" r:id="rId5"/>
    <p:sldId id="536" r:id="rId6"/>
    <p:sldId id="465" r:id="rId7"/>
    <p:sldId id="517" r:id="rId8"/>
    <p:sldId id="281" r:id="rId9"/>
    <p:sldId id="282" r:id="rId10"/>
    <p:sldId id="304" r:id="rId11"/>
    <p:sldId id="305" r:id="rId12"/>
    <p:sldId id="289" r:id="rId13"/>
    <p:sldId id="307" r:id="rId14"/>
    <p:sldId id="292" r:id="rId15"/>
    <p:sldId id="306" r:id="rId16"/>
    <p:sldId id="290" r:id="rId17"/>
    <p:sldId id="293" r:id="rId18"/>
    <p:sldId id="520" r:id="rId19"/>
    <p:sldId id="308" r:id="rId20"/>
    <p:sldId id="522" r:id="rId21"/>
    <p:sldId id="523" r:id="rId22"/>
    <p:sldId id="524" r:id="rId23"/>
    <p:sldId id="525" r:id="rId24"/>
    <p:sldId id="526" r:id="rId25"/>
    <p:sldId id="527" r:id="rId26"/>
    <p:sldId id="314" r:id="rId27"/>
    <p:sldId id="528" r:id="rId28"/>
    <p:sldId id="529" r:id="rId29"/>
    <p:sldId id="263" r:id="rId30"/>
    <p:sldId id="530" r:id="rId31"/>
    <p:sldId id="264" r:id="rId32"/>
    <p:sldId id="265" r:id="rId33"/>
    <p:sldId id="266" r:id="rId34"/>
    <p:sldId id="316" r:id="rId35"/>
    <p:sldId id="267" r:id="rId36"/>
    <p:sldId id="268" r:id="rId37"/>
    <p:sldId id="269" r:id="rId38"/>
    <p:sldId id="270" r:id="rId39"/>
    <p:sldId id="318" r:id="rId40"/>
    <p:sldId id="271" r:id="rId41"/>
    <p:sldId id="272" r:id="rId42"/>
    <p:sldId id="273" r:id="rId43"/>
    <p:sldId id="319" r:id="rId44"/>
    <p:sldId id="274" r:id="rId45"/>
    <p:sldId id="275" r:id="rId46"/>
    <p:sldId id="276" r:id="rId47"/>
    <p:sldId id="317" r:id="rId48"/>
    <p:sldId id="277" r:id="rId49"/>
    <p:sldId id="27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76"/>
    <p:restoredTop sz="95833"/>
  </p:normalViewPr>
  <p:slideViewPr>
    <p:cSldViewPr snapToGrid="0">
      <p:cViewPr varScale="1">
        <p:scale>
          <a:sx n="112" d="100"/>
          <a:sy n="112" d="100"/>
        </p:scale>
        <p:origin x="20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D1C708-76CE-5E4A-B1C8-8E9D2B895A84}" type="doc">
      <dgm:prSet loTypeId="urn:microsoft.com/office/officeart/2005/8/layout/pyramid2" loCatId="process" qsTypeId="urn:microsoft.com/office/officeart/2005/8/quickstyle/simple1" qsCatId="simple" csTypeId="urn:microsoft.com/office/officeart/2005/8/colors/accent2_1" csCatId="accent2" phldr="1"/>
      <dgm:spPr/>
      <dgm:t>
        <a:bodyPr/>
        <a:lstStyle/>
        <a:p>
          <a:endParaRPr lang="en-US"/>
        </a:p>
      </dgm:t>
    </dgm:pt>
    <dgm:pt modelId="{D8A5097B-20AD-1644-BDEF-50AAD2B7EB6D}">
      <dgm:prSet phldrT="[Text]"/>
      <dgm:spPr>
        <a:solidFill>
          <a:srgbClr val="FFFF00">
            <a:alpha val="90000"/>
          </a:srgbClr>
        </a:solidFill>
        <a:ln>
          <a:solidFill>
            <a:schemeClr val="tx1"/>
          </a:solidFill>
        </a:ln>
        <a:effectLst>
          <a:glow rad="342900">
            <a:srgbClr val="CB9B2B">
              <a:alpha val="78000"/>
            </a:srgbClr>
          </a:glow>
        </a:effectLst>
      </dgm:spPr>
      <dgm:t>
        <a:bodyPr/>
        <a:lstStyle/>
        <a:p>
          <a:r>
            <a:rPr lang="en-US" b="1" dirty="0"/>
            <a:t>GA &amp; MLS NEXT</a:t>
          </a:r>
        </a:p>
      </dgm:t>
    </dgm:pt>
    <dgm:pt modelId="{83F892DF-1D77-5A4D-BD47-45C42BAA2619}" type="parTrans" cxnId="{C355D249-9127-0547-8330-2AA24DE0C461}">
      <dgm:prSet/>
      <dgm:spPr/>
      <dgm:t>
        <a:bodyPr/>
        <a:lstStyle/>
        <a:p>
          <a:endParaRPr lang="en-US"/>
        </a:p>
      </dgm:t>
    </dgm:pt>
    <dgm:pt modelId="{5AE25A44-619E-2B4A-BA95-F0AB8DF7E284}" type="sibTrans" cxnId="{C355D249-9127-0547-8330-2AA24DE0C461}">
      <dgm:prSet/>
      <dgm:spPr/>
      <dgm:t>
        <a:bodyPr/>
        <a:lstStyle/>
        <a:p>
          <a:endParaRPr lang="en-US"/>
        </a:p>
      </dgm:t>
    </dgm:pt>
    <dgm:pt modelId="{62FCF61C-442D-2C4D-B08A-2D345A36561A}">
      <dgm:prSet phldrT="[Text]"/>
      <dgm:spPr>
        <a:solidFill>
          <a:srgbClr val="FFFF00">
            <a:alpha val="90000"/>
          </a:srgbClr>
        </a:solidFill>
        <a:ln>
          <a:solidFill>
            <a:schemeClr val="tx1"/>
          </a:solidFill>
        </a:ln>
      </dgm:spPr>
      <dgm:t>
        <a:bodyPr/>
        <a:lstStyle/>
        <a:p>
          <a:r>
            <a:rPr lang="en-US" dirty="0"/>
            <a:t>Regional Level</a:t>
          </a:r>
        </a:p>
      </dgm:t>
    </dgm:pt>
    <dgm:pt modelId="{2B24C77F-CB30-F645-B48E-659F95E9543C}" type="parTrans" cxnId="{D9245692-1ABB-EF43-8C59-81F430426968}">
      <dgm:prSet/>
      <dgm:spPr/>
      <dgm:t>
        <a:bodyPr/>
        <a:lstStyle/>
        <a:p>
          <a:endParaRPr lang="en-US"/>
        </a:p>
      </dgm:t>
    </dgm:pt>
    <dgm:pt modelId="{1571F7C4-403A-3F41-B383-1DFFB50DF56D}" type="sibTrans" cxnId="{D9245692-1ABB-EF43-8C59-81F430426968}">
      <dgm:prSet/>
      <dgm:spPr/>
      <dgm:t>
        <a:bodyPr/>
        <a:lstStyle/>
        <a:p>
          <a:endParaRPr lang="en-US"/>
        </a:p>
      </dgm:t>
    </dgm:pt>
    <dgm:pt modelId="{9ABA5F0F-DFF8-F243-ADC1-D47394CB6213}">
      <dgm:prSet phldrT="[Text]"/>
      <dgm:spPr>
        <a:solidFill>
          <a:srgbClr val="FFFF00">
            <a:alpha val="90000"/>
          </a:srgbClr>
        </a:solidFill>
        <a:ln>
          <a:solidFill>
            <a:schemeClr val="tx1"/>
          </a:solidFill>
        </a:ln>
      </dgm:spPr>
      <dgm:t>
        <a:bodyPr/>
        <a:lstStyle/>
        <a:p>
          <a:r>
            <a:rPr lang="en-US" dirty="0"/>
            <a:t>State Level</a:t>
          </a:r>
        </a:p>
      </dgm:t>
    </dgm:pt>
    <dgm:pt modelId="{C3B5BD25-C174-5E47-B81C-8935CF0FA8D9}" type="parTrans" cxnId="{2F6CF960-186F-5643-B612-76014CD2BC67}">
      <dgm:prSet/>
      <dgm:spPr/>
      <dgm:t>
        <a:bodyPr/>
        <a:lstStyle/>
        <a:p>
          <a:endParaRPr lang="en-US"/>
        </a:p>
      </dgm:t>
    </dgm:pt>
    <dgm:pt modelId="{20170B0E-0CD2-B945-AB36-E343ED77F574}" type="sibTrans" cxnId="{2F6CF960-186F-5643-B612-76014CD2BC67}">
      <dgm:prSet/>
      <dgm:spPr/>
      <dgm:t>
        <a:bodyPr/>
        <a:lstStyle/>
        <a:p>
          <a:endParaRPr lang="en-US"/>
        </a:p>
      </dgm:t>
    </dgm:pt>
    <dgm:pt modelId="{AFB6A645-DA2B-FE43-8F56-E6A36DE784FD}">
      <dgm:prSet/>
      <dgm:spPr>
        <a:solidFill>
          <a:srgbClr val="FFFF00">
            <a:alpha val="90000"/>
          </a:srgbClr>
        </a:solidFill>
        <a:ln>
          <a:solidFill>
            <a:schemeClr val="tx1"/>
          </a:solidFill>
        </a:ln>
      </dgm:spPr>
      <dgm:t>
        <a:bodyPr/>
        <a:lstStyle/>
        <a:p>
          <a:r>
            <a:rPr lang="en-US" dirty="0"/>
            <a:t>Recreational</a:t>
          </a:r>
        </a:p>
      </dgm:t>
    </dgm:pt>
    <dgm:pt modelId="{BC3A51D2-FE6A-B044-BF3B-CBD2D9233676}" type="parTrans" cxnId="{0AB53893-A731-BB48-B3C1-7740CCFD09AB}">
      <dgm:prSet/>
      <dgm:spPr/>
      <dgm:t>
        <a:bodyPr/>
        <a:lstStyle/>
        <a:p>
          <a:endParaRPr lang="en-US"/>
        </a:p>
      </dgm:t>
    </dgm:pt>
    <dgm:pt modelId="{F83B7D97-9E43-AC4B-8B5F-224C4570CDF0}" type="sibTrans" cxnId="{0AB53893-A731-BB48-B3C1-7740CCFD09AB}">
      <dgm:prSet/>
      <dgm:spPr/>
      <dgm:t>
        <a:bodyPr/>
        <a:lstStyle/>
        <a:p>
          <a:endParaRPr lang="en-US"/>
        </a:p>
      </dgm:t>
    </dgm:pt>
    <dgm:pt modelId="{E75B70F5-599A-364D-9BB5-D7F9668FF267}">
      <dgm:prSet/>
      <dgm:spPr>
        <a:solidFill>
          <a:srgbClr val="FFFF00">
            <a:alpha val="90000"/>
          </a:srgbClr>
        </a:solidFill>
        <a:ln>
          <a:solidFill>
            <a:schemeClr val="tx1"/>
          </a:solidFill>
        </a:ln>
      </dgm:spPr>
      <dgm:t>
        <a:bodyPr/>
        <a:lstStyle/>
        <a:p>
          <a:r>
            <a:rPr lang="en-US" dirty="0"/>
            <a:t>Select</a:t>
          </a:r>
        </a:p>
      </dgm:t>
    </dgm:pt>
    <dgm:pt modelId="{8FD72C36-CFB6-5E43-B803-951E228B896E}" type="parTrans" cxnId="{9ABCE4A5-A081-B94E-A818-F422623EC841}">
      <dgm:prSet/>
      <dgm:spPr/>
      <dgm:t>
        <a:bodyPr/>
        <a:lstStyle/>
        <a:p>
          <a:endParaRPr lang="en-US"/>
        </a:p>
      </dgm:t>
    </dgm:pt>
    <dgm:pt modelId="{4A47F47F-6489-5A41-B6A8-9C86ED72DD4F}" type="sibTrans" cxnId="{9ABCE4A5-A081-B94E-A818-F422623EC841}">
      <dgm:prSet/>
      <dgm:spPr/>
      <dgm:t>
        <a:bodyPr/>
        <a:lstStyle/>
        <a:p>
          <a:endParaRPr lang="en-US"/>
        </a:p>
      </dgm:t>
    </dgm:pt>
    <dgm:pt modelId="{9327C31D-AD79-AB4F-AE3E-961948AD4349}">
      <dgm:prSet/>
      <dgm:spPr>
        <a:solidFill>
          <a:srgbClr val="FFFF00">
            <a:alpha val="90000"/>
          </a:srgbClr>
        </a:solidFill>
        <a:ln>
          <a:solidFill>
            <a:schemeClr val="tx1"/>
          </a:solidFill>
        </a:ln>
      </dgm:spPr>
      <dgm:t>
        <a:bodyPr/>
        <a:lstStyle/>
        <a:p>
          <a:r>
            <a:rPr lang="en-US" dirty="0"/>
            <a:t>Academy</a:t>
          </a:r>
        </a:p>
      </dgm:t>
    </dgm:pt>
    <dgm:pt modelId="{65603FD3-9E1E-C34C-A147-98422938DD52}" type="parTrans" cxnId="{309BB5D6-4937-4B47-A531-E499658EA90C}">
      <dgm:prSet/>
      <dgm:spPr/>
      <dgm:t>
        <a:bodyPr/>
        <a:lstStyle/>
        <a:p>
          <a:endParaRPr lang="en-US"/>
        </a:p>
      </dgm:t>
    </dgm:pt>
    <dgm:pt modelId="{13D045A2-A7D9-F44B-B7BA-EE1574FE50AF}" type="sibTrans" cxnId="{309BB5D6-4937-4B47-A531-E499658EA90C}">
      <dgm:prSet/>
      <dgm:spPr/>
      <dgm:t>
        <a:bodyPr/>
        <a:lstStyle/>
        <a:p>
          <a:endParaRPr lang="en-US"/>
        </a:p>
      </dgm:t>
    </dgm:pt>
    <dgm:pt modelId="{C863596D-25E3-BD4D-8CB4-7754457A1F9A}">
      <dgm:prSet/>
      <dgm:spPr>
        <a:solidFill>
          <a:srgbClr val="FFFF00">
            <a:alpha val="90000"/>
          </a:srgbClr>
        </a:solidFill>
      </dgm:spPr>
      <dgm:t>
        <a:bodyPr/>
        <a:lstStyle/>
        <a:p>
          <a:r>
            <a:rPr lang="en-US" dirty="0"/>
            <a:t>College &amp; PRO</a:t>
          </a:r>
        </a:p>
      </dgm:t>
    </dgm:pt>
    <dgm:pt modelId="{A00499DF-D2E8-324A-A483-1CA02E315CF4}" type="parTrans" cxnId="{7D4814C9-C3D7-D146-9E5A-05F469913A8C}">
      <dgm:prSet/>
      <dgm:spPr/>
      <dgm:t>
        <a:bodyPr/>
        <a:lstStyle/>
        <a:p>
          <a:endParaRPr lang="en-US"/>
        </a:p>
      </dgm:t>
    </dgm:pt>
    <dgm:pt modelId="{EF407E87-A3F1-EC4B-8799-CB3E98FB24A5}" type="sibTrans" cxnId="{7D4814C9-C3D7-D146-9E5A-05F469913A8C}">
      <dgm:prSet/>
      <dgm:spPr/>
      <dgm:t>
        <a:bodyPr/>
        <a:lstStyle/>
        <a:p>
          <a:endParaRPr lang="en-US"/>
        </a:p>
      </dgm:t>
    </dgm:pt>
    <dgm:pt modelId="{74C4861E-E6A9-2942-A8C8-35F7AFF96EA1}" type="pres">
      <dgm:prSet presAssocID="{11D1C708-76CE-5E4A-B1C8-8E9D2B895A84}" presName="compositeShape" presStyleCnt="0">
        <dgm:presLayoutVars>
          <dgm:dir/>
          <dgm:resizeHandles/>
        </dgm:presLayoutVars>
      </dgm:prSet>
      <dgm:spPr/>
    </dgm:pt>
    <dgm:pt modelId="{B25FC30C-AEED-3148-998D-72279D5F3787}" type="pres">
      <dgm:prSet presAssocID="{11D1C708-76CE-5E4A-B1C8-8E9D2B895A84}" presName="pyramid" presStyleLbl="node1" presStyleIdx="0" presStyleCnt="1"/>
      <dgm:spPr>
        <a:solidFill>
          <a:schemeClr val="tx1"/>
        </a:solidFill>
        <a:ln>
          <a:solidFill>
            <a:srgbClr val="FFFF00"/>
          </a:solidFill>
        </a:ln>
      </dgm:spPr>
    </dgm:pt>
    <dgm:pt modelId="{D952F546-EA3F-7C4E-8EDC-5C316DB6AEA9}" type="pres">
      <dgm:prSet presAssocID="{11D1C708-76CE-5E4A-B1C8-8E9D2B895A84}" presName="theList" presStyleCnt="0"/>
      <dgm:spPr/>
    </dgm:pt>
    <dgm:pt modelId="{19F140EE-D245-394D-8815-C02A53737977}" type="pres">
      <dgm:prSet presAssocID="{C863596D-25E3-BD4D-8CB4-7754457A1F9A}" presName="aNode" presStyleLbl="fgAcc1" presStyleIdx="0" presStyleCnt="7">
        <dgm:presLayoutVars>
          <dgm:bulletEnabled val="1"/>
        </dgm:presLayoutVars>
      </dgm:prSet>
      <dgm:spPr/>
    </dgm:pt>
    <dgm:pt modelId="{3AC14378-5E15-B44C-9DBE-428FF21F2BD1}" type="pres">
      <dgm:prSet presAssocID="{C863596D-25E3-BD4D-8CB4-7754457A1F9A}" presName="aSpace" presStyleCnt="0"/>
      <dgm:spPr/>
    </dgm:pt>
    <dgm:pt modelId="{BC284FDB-7734-4F40-AB9D-ABF2E152FB8B}" type="pres">
      <dgm:prSet presAssocID="{D8A5097B-20AD-1644-BDEF-50AAD2B7EB6D}" presName="aNode" presStyleLbl="fgAcc1" presStyleIdx="1" presStyleCnt="7">
        <dgm:presLayoutVars>
          <dgm:bulletEnabled val="1"/>
        </dgm:presLayoutVars>
      </dgm:prSet>
      <dgm:spPr/>
    </dgm:pt>
    <dgm:pt modelId="{1B58102F-9463-EE40-AB57-7B80BB8F67C1}" type="pres">
      <dgm:prSet presAssocID="{D8A5097B-20AD-1644-BDEF-50AAD2B7EB6D}" presName="aSpace" presStyleCnt="0"/>
      <dgm:spPr/>
    </dgm:pt>
    <dgm:pt modelId="{8B1133FF-740E-6743-ADBC-97C85CC76BF6}" type="pres">
      <dgm:prSet presAssocID="{62FCF61C-442D-2C4D-B08A-2D345A36561A}" presName="aNode" presStyleLbl="fgAcc1" presStyleIdx="2" presStyleCnt="7">
        <dgm:presLayoutVars>
          <dgm:bulletEnabled val="1"/>
        </dgm:presLayoutVars>
      </dgm:prSet>
      <dgm:spPr/>
    </dgm:pt>
    <dgm:pt modelId="{417327F0-F10E-8447-A157-440B0D05FDC3}" type="pres">
      <dgm:prSet presAssocID="{62FCF61C-442D-2C4D-B08A-2D345A36561A}" presName="aSpace" presStyleCnt="0"/>
      <dgm:spPr/>
    </dgm:pt>
    <dgm:pt modelId="{95BB7961-8352-A944-8E59-9A47B12030F5}" type="pres">
      <dgm:prSet presAssocID="{9ABA5F0F-DFF8-F243-ADC1-D47394CB6213}" presName="aNode" presStyleLbl="fgAcc1" presStyleIdx="3" presStyleCnt="7">
        <dgm:presLayoutVars>
          <dgm:bulletEnabled val="1"/>
        </dgm:presLayoutVars>
      </dgm:prSet>
      <dgm:spPr/>
    </dgm:pt>
    <dgm:pt modelId="{3229FC4C-8F57-F447-9AFA-82841296D846}" type="pres">
      <dgm:prSet presAssocID="{9ABA5F0F-DFF8-F243-ADC1-D47394CB6213}" presName="aSpace" presStyleCnt="0"/>
      <dgm:spPr/>
    </dgm:pt>
    <dgm:pt modelId="{F7CE9BF2-3210-4742-B667-843A55E0D166}" type="pres">
      <dgm:prSet presAssocID="{E75B70F5-599A-364D-9BB5-D7F9668FF267}" presName="aNode" presStyleLbl="fgAcc1" presStyleIdx="4" presStyleCnt="7">
        <dgm:presLayoutVars>
          <dgm:bulletEnabled val="1"/>
        </dgm:presLayoutVars>
      </dgm:prSet>
      <dgm:spPr/>
    </dgm:pt>
    <dgm:pt modelId="{0DCFFEAA-32E8-DE4D-8B7A-28E2F08CEAF1}" type="pres">
      <dgm:prSet presAssocID="{E75B70F5-599A-364D-9BB5-D7F9668FF267}" presName="aSpace" presStyleCnt="0"/>
      <dgm:spPr/>
    </dgm:pt>
    <dgm:pt modelId="{3A55A94C-C2F5-DD49-B9BD-EDAA7E3254E0}" type="pres">
      <dgm:prSet presAssocID="{9327C31D-AD79-AB4F-AE3E-961948AD4349}" presName="aNode" presStyleLbl="fgAcc1" presStyleIdx="5" presStyleCnt="7">
        <dgm:presLayoutVars>
          <dgm:bulletEnabled val="1"/>
        </dgm:presLayoutVars>
      </dgm:prSet>
      <dgm:spPr/>
    </dgm:pt>
    <dgm:pt modelId="{CFDBC4FD-FBB5-1742-9C30-D467E6F7A2D4}" type="pres">
      <dgm:prSet presAssocID="{9327C31D-AD79-AB4F-AE3E-961948AD4349}" presName="aSpace" presStyleCnt="0"/>
      <dgm:spPr/>
    </dgm:pt>
    <dgm:pt modelId="{9DF6EBB4-1B64-6341-A3B8-0931C22A8BA9}" type="pres">
      <dgm:prSet presAssocID="{AFB6A645-DA2B-FE43-8F56-E6A36DE784FD}" presName="aNode" presStyleLbl="fgAcc1" presStyleIdx="6" presStyleCnt="7">
        <dgm:presLayoutVars>
          <dgm:bulletEnabled val="1"/>
        </dgm:presLayoutVars>
      </dgm:prSet>
      <dgm:spPr/>
    </dgm:pt>
    <dgm:pt modelId="{DAD93D7B-F91D-A149-B17B-8409FA0FB5CE}" type="pres">
      <dgm:prSet presAssocID="{AFB6A645-DA2B-FE43-8F56-E6A36DE784FD}" presName="aSpace" presStyleCnt="0"/>
      <dgm:spPr/>
    </dgm:pt>
  </dgm:ptLst>
  <dgm:cxnLst>
    <dgm:cxn modelId="{F48CE907-4B83-CC47-8431-4D3FE0457B0D}" type="presOf" srcId="{9ABA5F0F-DFF8-F243-ADC1-D47394CB6213}" destId="{95BB7961-8352-A944-8E59-9A47B12030F5}" srcOrd="0" destOrd="0" presId="urn:microsoft.com/office/officeart/2005/8/layout/pyramid2"/>
    <dgm:cxn modelId="{C355D249-9127-0547-8330-2AA24DE0C461}" srcId="{11D1C708-76CE-5E4A-B1C8-8E9D2B895A84}" destId="{D8A5097B-20AD-1644-BDEF-50AAD2B7EB6D}" srcOrd="1" destOrd="0" parTransId="{83F892DF-1D77-5A4D-BD47-45C42BAA2619}" sibTransId="{5AE25A44-619E-2B4A-BA95-F0AB8DF7E284}"/>
    <dgm:cxn modelId="{465CBA54-5E4A-E541-A73F-35681DCB91AA}" type="presOf" srcId="{11D1C708-76CE-5E4A-B1C8-8E9D2B895A84}" destId="{74C4861E-E6A9-2942-A8C8-35F7AFF96EA1}" srcOrd="0" destOrd="0" presId="urn:microsoft.com/office/officeart/2005/8/layout/pyramid2"/>
    <dgm:cxn modelId="{2F6CF960-186F-5643-B612-76014CD2BC67}" srcId="{11D1C708-76CE-5E4A-B1C8-8E9D2B895A84}" destId="{9ABA5F0F-DFF8-F243-ADC1-D47394CB6213}" srcOrd="3" destOrd="0" parTransId="{C3B5BD25-C174-5E47-B81C-8935CF0FA8D9}" sibTransId="{20170B0E-0CD2-B945-AB36-E343ED77F574}"/>
    <dgm:cxn modelId="{E03BBD8F-39E7-0549-8E9A-06742F10DCA2}" type="presOf" srcId="{9327C31D-AD79-AB4F-AE3E-961948AD4349}" destId="{3A55A94C-C2F5-DD49-B9BD-EDAA7E3254E0}" srcOrd="0" destOrd="0" presId="urn:microsoft.com/office/officeart/2005/8/layout/pyramid2"/>
    <dgm:cxn modelId="{D9245692-1ABB-EF43-8C59-81F430426968}" srcId="{11D1C708-76CE-5E4A-B1C8-8E9D2B895A84}" destId="{62FCF61C-442D-2C4D-B08A-2D345A36561A}" srcOrd="2" destOrd="0" parTransId="{2B24C77F-CB30-F645-B48E-659F95E9543C}" sibTransId="{1571F7C4-403A-3F41-B383-1DFFB50DF56D}"/>
    <dgm:cxn modelId="{0AB53893-A731-BB48-B3C1-7740CCFD09AB}" srcId="{11D1C708-76CE-5E4A-B1C8-8E9D2B895A84}" destId="{AFB6A645-DA2B-FE43-8F56-E6A36DE784FD}" srcOrd="6" destOrd="0" parTransId="{BC3A51D2-FE6A-B044-BF3B-CBD2D9233676}" sibTransId="{F83B7D97-9E43-AC4B-8B5F-224C4570CDF0}"/>
    <dgm:cxn modelId="{8C03089C-596C-F44C-94E7-57E92269F641}" type="presOf" srcId="{AFB6A645-DA2B-FE43-8F56-E6A36DE784FD}" destId="{9DF6EBB4-1B64-6341-A3B8-0931C22A8BA9}" srcOrd="0" destOrd="0" presId="urn:microsoft.com/office/officeart/2005/8/layout/pyramid2"/>
    <dgm:cxn modelId="{9ABCE4A5-A081-B94E-A818-F422623EC841}" srcId="{11D1C708-76CE-5E4A-B1C8-8E9D2B895A84}" destId="{E75B70F5-599A-364D-9BB5-D7F9668FF267}" srcOrd="4" destOrd="0" parTransId="{8FD72C36-CFB6-5E43-B803-951E228B896E}" sibTransId="{4A47F47F-6489-5A41-B6A8-9C86ED72DD4F}"/>
    <dgm:cxn modelId="{7D4814C9-C3D7-D146-9E5A-05F469913A8C}" srcId="{11D1C708-76CE-5E4A-B1C8-8E9D2B895A84}" destId="{C863596D-25E3-BD4D-8CB4-7754457A1F9A}" srcOrd="0" destOrd="0" parTransId="{A00499DF-D2E8-324A-A483-1CA02E315CF4}" sibTransId="{EF407E87-A3F1-EC4B-8799-CB3E98FB24A5}"/>
    <dgm:cxn modelId="{140853CB-CDF8-DB49-8B51-40805A9DE07B}" type="presOf" srcId="{E75B70F5-599A-364D-9BB5-D7F9668FF267}" destId="{F7CE9BF2-3210-4742-B667-843A55E0D166}" srcOrd="0" destOrd="0" presId="urn:microsoft.com/office/officeart/2005/8/layout/pyramid2"/>
    <dgm:cxn modelId="{309BB5D6-4937-4B47-A531-E499658EA90C}" srcId="{11D1C708-76CE-5E4A-B1C8-8E9D2B895A84}" destId="{9327C31D-AD79-AB4F-AE3E-961948AD4349}" srcOrd="5" destOrd="0" parTransId="{65603FD3-9E1E-C34C-A147-98422938DD52}" sibTransId="{13D045A2-A7D9-F44B-B7BA-EE1574FE50AF}"/>
    <dgm:cxn modelId="{A0AB67F2-E4A4-1047-9F7E-E9E9F67771DF}" type="presOf" srcId="{D8A5097B-20AD-1644-BDEF-50AAD2B7EB6D}" destId="{BC284FDB-7734-4F40-AB9D-ABF2E152FB8B}" srcOrd="0" destOrd="0" presId="urn:microsoft.com/office/officeart/2005/8/layout/pyramid2"/>
    <dgm:cxn modelId="{CF02FAF5-2936-3E4E-98CE-23C28D4517CC}" type="presOf" srcId="{C863596D-25E3-BD4D-8CB4-7754457A1F9A}" destId="{19F140EE-D245-394D-8815-C02A53737977}" srcOrd="0" destOrd="0" presId="urn:microsoft.com/office/officeart/2005/8/layout/pyramid2"/>
    <dgm:cxn modelId="{04ADB6FF-A44C-C64A-AF9E-3ABE4F5DCAC9}" type="presOf" srcId="{62FCF61C-442D-2C4D-B08A-2D345A36561A}" destId="{8B1133FF-740E-6743-ADBC-97C85CC76BF6}" srcOrd="0" destOrd="0" presId="urn:microsoft.com/office/officeart/2005/8/layout/pyramid2"/>
    <dgm:cxn modelId="{5ADC32BF-3C00-1B47-8E00-4D21CA848F9C}" type="presParOf" srcId="{74C4861E-E6A9-2942-A8C8-35F7AFF96EA1}" destId="{B25FC30C-AEED-3148-998D-72279D5F3787}" srcOrd="0" destOrd="0" presId="urn:microsoft.com/office/officeart/2005/8/layout/pyramid2"/>
    <dgm:cxn modelId="{8B8945D8-62FC-F447-A221-8D07177F7411}" type="presParOf" srcId="{74C4861E-E6A9-2942-A8C8-35F7AFF96EA1}" destId="{D952F546-EA3F-7C4E-8EDC-5C316DB6AEA9}" srcOrd="1" destOrd="0" presId="urn:microsoft.com/office/officeart/2005/8/layout/pyramid2"/>
    <dgm:cxn modelId="{225A2A13-1E36-F144-993B-1563A2065E7A}" type="presParOf" srcId="{D952F546-EA3F-7C4E-8EDC-5C316DB6AEA9}" destId="{19F140EE-D245-394D-8815-C02A53737977}" srcOrd="0" destOrd="0" presId="urn:microsoft.com/office/officeart/2005/8/layout/pyramid2"/>
    <dgm:cxn modelId="{87D32756-2A8D-184E-AABF-E03C9444FE7C}" type="presParOf" srcId="{D952F546-EA3F-7C4E-8EDC-5C316DB6AEA9}" destId="{3AC14378-5E15-B44C-9DBE-428FF21F2BD1}" srcOrd="1" destOrd="0" presId="urn:microsoft.com/office/officeart/2005/8/layout/pyramid2"/>
    <dgm:cxn modelId="{2D375ABD-8522-4D4F-B8C4-48ABFD29C81B}" type="presParOf" srcId="{D952F546-EA3F-7C4E-8EDC-5C316DB6AEA9}" destId="{BC284FDB-7734-4F40-AB9D-ABF2E152FB8B}" srcOrd="2" destOrd="0" presId="urn:microsoft.com/office/officeart/2005/8/layout/pyramid2"/>
    <dgm:cxn modelId="{8501640C-DD76-8443-8F1B-D03AE498DDBD}" type="presParOf" srcId="{D952F546-EA3F-7C4E-8EDC-5C316DB6AEA9}" destId="{1B58102F-9463-EE40-AB57-7B80BB8F67C1}" srcOrd="3" destOrd="0" presId="urn:microsoft.com/office/officeart/2005/8/layout/pyramid2"/>
    <dgm:cxn modelId="{8B5CD37B-2C80-904A-A7D6-D9D67337EA60}" type="presParOf" srcId="{D952F546-EA3F-7C4E-8EDC-5C316DB6AEA9}" destId="{8B1133FF-740E-6743-ADBC-97C85CC76BF6}" srcOrd="4" destOrd="0" presId="urn:microsoft.com/office/officeart/2005/8/layout/pyramid2"/>
    <dgm:cxn modelId="{8E096ECC-00D0-5A4A-B2B7-08058F821AFA}" type="presParOf" srcId="{D952F546-EA3F-7C4E-8EDC-5C316DB6AEA9}" destId="{417327F0-F10E-8447-A157-440B0D05FDC3}" srcOrd="5" destOrd="0" presId="urn:microsoft.com/office/officeart/2005/8/layout/pyramid2"/>
    <dgm:cxn modelId="{7B789FFA-1AB9-2B4B-98A3-B6C0B627DEE0}" type="presParOf" srcId="{D952F546-EA3F-7C4E-8EDC-5C316DB6AEA9}" destId="{95BB7961-8352-A944-8E59-9A47B12030F5}" srcOrd="6" destOrd="0" presId="urn:microsoft.com/office/officeart/2005/8/layout/pyramid2"/>
    <dgm:cxn modelId="{91C9043B-4076-9440-B5B8-F342AC88E3D0}" type="presParOf" srcId="{D952F546-EA3F-7C4E-8EDC-5C316DB6AEA9}" destId="{3229FC4C-8F57-F447-9AFA-82841296D846}" srcOrd="7" destOrd="0" presId="urn:microsoft.com/office/officeart/2005/8/layout/pyramid2"/>
    <dgm:cxn modelId="{D0E5D039-7DED-1C47-A277-88BA5C40345B}" type="presParOf" srcId="{D952F546-EA3F-7C4E-8EDC-5C316DB6AEA9}" destId="{F7CE9BF2-3210-4742-B667-843A55E0D166}" srcOrd="8" destOrd="0" presId="urn:microsoft.com/office/officeart/2005/8/layout/pyramid2"/>
    <dgm:cxn modelId="{E23DD880-462C-9B41-901E-B1DC6431542B}" type="presParOf" srcId="{D952F546-EA3F-7C4E-8EDC-5C316DB6AEA9}" destId="{0DCFFEAA-32E8-DE4D-8B7A-28E2F08CEAF1}" srcOrd="9" destOrd="0" presId="urn:microsoft.com/office/officeart/2005/8/layout/pyramid2"/>
    <dgm:cxn modelId="{24592A0D-8503-9149-A37D-C42B72D80DBD}" type="presParOf" srcId="{D952F546-EA3F-7C4E-8EDC-5C316DB6AEA9}" destId="{3A55A94C-C2F5-DD49-B9BD-EDAA7E3254E0}" srcOrd="10" destOrd="0" presId="urn:microsoft.com/office/officeart/2005/8/layout/pyramid2"/>
    <dgm:cxn modelId="{27BE6D76-722B-BB44-A10B-C203F6490587}" type="presParOf" srcId="{D952F546-EA3F-7C4E-8EDC-5C316DB6AEA9}" destId="{CFDBC4FD-FBB5-1742-9C30-D467E6F7A2D4}" srcOrd="11" destOrd="0" presId="urn:microsoft.com/office/officeart/2005/8/layout/pyramid2"/>
    <dgm:cxn modelId="{B5BD542A-4996-6E48-9D2C-ED0558360D16}" type="presParOf" srcId="{D952F546-EA3F-7C4E-8EDC-5C316DB6AEA9}" destId="{9DF6EBB4-1B64-6341-A3B8-0931C22A8BA9}" srcOrd="12" destOrd="0" presId="urn:microsoft.com/office/officeart/2005/8/layout/pyramid2"/>
    <dgm:cxn modelId="{6721DA26-45F2-174A-9975-62D9ED63FF7C}" type="presParOf" srcId="{D952F546-EA3F-7C4E-8EDC-5C316DB6AEA9}" destId="{DAD93D7B-F91D-A149-B17B-8409FA0FB5CE}" srcOrd="13"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5B0EFC-C01B-428C-9B9D-ADE2247AA602}" type="doc">
      <dgm:prSet loTypeId="urn:microsoft.com/office/officeart/2005/8/layout/chevron1" loCatId="process" qsTypeId="urn:microsoft.com/office/officeart/2005/8/quickstyle/simple1" qsCatId="simple" csTypeId="urn:microsoft.com/office/officeart/2005/8/colors/accent1_2" csCatId="accent1" phldr="1"/>
      <dgm:spPr/>
    </dgm:pt>
    <dgm:pt modelId="{ED26B5CC-A53A-4513-A8F1-414870F2271C}">
      <dgm:prSet phldrT="[Text]" custT="1"/>
      <dgm:spPr>
        <a:xfrm>
          <a:off x="7545224" y="1859888"/>
          <a:ext cx="4187971" cy="1675188"/>
        </a:xfrm>
        <a:prstGeom prst="chevron">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4000" dirty="0">
              <a:solidFill>
                <a:schemeClr val="tx1"/>
              </a:solidFill>
              <a:latin typeface="Calibri" panose="020F0502020204030204"/>
              <a:ea typeface="+mn-ea"/>
              <a:cs typeface="+mn-cs"/>
            </a:rPr>
            <a:t>SPRING</a:t>
          </a:r>
        </a:p>
      </dgm:t>
    </dgm:pt>
    <dgm:pt modelId="{AD82CC15-A677-495D-B3BD-F709FE414488}" type="parTrans" cxnId="{3B317D4F-F35A-434E-B032-0949189AB23F}">
      <dgm:prSet/>
      <dgm:spPr/>
      <dgm:t>
        <a:bodyPr/>
        <a:lstStyle/>
        <a:p>
          <a:endParaRPr lang="en-US"/>
        </a:p>
      </dgm:t>
    </dgm:pt>
    <dgm:pt modelId="{BDAD90F5-150B-4BE8-B363-76C1C4A30E40}" type="sibTrans" cxnId="{3B317D4F-F35A-434E-B032-0949189AB23F}">
      <dgm:prSet/>
      <dgm:spPr/>
      <dgm:t>
        <a:bodyPr/>
        <a:lstStyle/>
        <a:p>
          <a:endParaRPr lang="en-US"/>
        </a:p>
      </dgm:t>
    </dgm:pt>
    <dgm:pt modelId="{F7D901FF-1E16-4942-B0E1-A53E2630BEA1}">
      <dgm:prSet phldrT="[Text]" custT="1"/>
      <dgm:spPr>
        <a:xfrm>
          <a:off x="3772612" y="1838228"/>
          <a:ext cx="4187971" cy="1675188"/>
        </a:xfrm>
        <a:prstGeom prst="chevron">
          <a:avLst/>
        </a:prstGeom>
        <a:solidFill>
          <a:schemeClr val="tx1"/>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4000" dirty="0">
              <a:solidFill>
                <a:sysClr val="window" lastClr="FFFFFF"/>
              </a:solidFill>
              <a:latin typeface="Calibri" panose="020F0502020204030204"/>
              <a:ea typeface="+mn-ea"/>
              <a:cs typeface="+mn-cs"/>
            </a:rPr>
            <a:t>WINTER</a:t>
          </a:r>
        </a:p>
      </dgm:t>
    </dgm:pt>
    <dgm:pt modelId="{9C61A7F3-51F9-459F-AAAF-D0B2FB2C157E}" type="sibTrans" cxnId="{B7AB075C-78C6-4720-A74F-BFFEE814E09D}">
      <dgm:prSet/>
      <dgm:spPr/>
      <dgm:t>
        <a:bodyPr/>
        <a:lstStyle/>
        <a:p>
          <a:endParaRPr lang="en-US"/>
        </a:p>
      </dgm:t>
    </dgm:pt>
    <dgm:pt modelId="{BB5B168C-0092-481F-A54A-E1547722BA44}" type="parTrans" cxnId="{B7AB075C-78C6-4720-A74F-BFFEE814E09D}">
      <dgm:prSet/>
      <dgm:spPr/>
      <dgm:t>
        <a:bodyPr/>
        <a:lstStyle/>
        <a:p>
          <a:endParaRPr lang="en-US"/>
        </a:p>
      </dgm:t>
    </dgm:pt>
    <dgm:pt modelId="{214F97C3-3CC2-4275-B8B8-575F797C0765}">
      <dgm:prSet phldrT="[Text]" custT="1"/>
      <dgm:spPr>
        <a:xfrm>
          <a:off x="3437" y="1838228"/>
          <a:ext cx="4187971" cy="1675188"/>
        </a:xfrm>
        <a:prstGeom prst="chevron">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4000" dirty="0">
              <a:solidFill>
                <a:schemeClr val="tx1"/>
              </a:solidFill>
              <a:latin typeface="Calibri" panose="020F0502020204030204"/>
              <a:ea typeface="+mn-ea"/>
              <a:cs typeface="+mn-cs"/>
            </a:rPr>
            <a:t>FALL</a:t>
          </a:r>
        </a:p>
      </dgm:t>
    </dgm:pt>
    <dgm:pt modelId="{4453823D-E530-47CC-B7D2-1F6F19F62C7A}" type="sibTrans" cxnId="{5B6AB3CC-C03E-42B2-BE5F-657CBE9411BE}">
      <dgm:prSet/>
      <dgm:spPr/>
      <dgm:t>
        <a:bodyPr/>
        <a:lstStyle/>
        <a:p>
          <a:endParaRPr lang="en-US"/>
        </a:p>
      </dgm:t>
    </dgm:pt>
    <dgm:pt modelId="{9F01E94F-844A-4367-9573-8A8C879D0249}" type="parTrans" cxnId="{5B6AB3CC-C03E-42B2-BE5F-657CBE9411BE}">
      <dgm:prSet/>
      <dgm:spPr/>
      <dgm:t>
        <a:bodyPr/>
        <a:lstStyle/>
        <a:p>
          <a:endParaRPr lang="en-US"/>
        </a:p>
      </dgm:t>
    </dgm:pt>
    <dgm:pt modelId="{B822BBC3-E2D9-48EA-A9F4-05D8B7671DD7}" type="pres">
      <dgm:prSet presAssocID="{435B0EFC-C01B-428C-9B9D-ADE2247AA602}" presName="Name0" presStyleCnt="0">
        <dgm:presLayoutVars>
          <dgm:dir/>
          <dgm:animLvl val="lvl"/>
          <dgm:resizeHandles val="exact"/>
        </dgm:presLayoutVars>
      </dgm:prSet>
      <dgm:spPr/>
    </dgm:pt>
    <dgm:pt modelId="{8E1ADE64-697F-4179-9219-EB03395F8CC6}" type="pres">
      <dgm:prSet presAssocID="{214F97C3-3CC2-4275-B8B8-575F797C0765}" presName="parTxOnly" presStyleLbl="node1" presStyleIdx="0" presStyleCnt="3" custScaleX="90860" custLinFactNeighborX="11182" custLinFactNeighborY="-20041">
        <dgm:presLayoutVars>
          <dgm:chMax val="0"/>
          <dgm:chPref val="0"/>
          <dgm:bulletEnabled val="1"/>
        </dgm:presLayoutVars>
      </dgm:prSet>
      <dgm:spPr/>
    </dgm:pt>
    <dgm:pt modelId="{11A0694C-993E-4CFE-A88E-CC20ACAB29C5}" type="pres">
      <dgm:prSet presAssocID="{4453823D-E530-47CC-B7D2-1F6F19F62C7A}" presName="parTxOnlySpace" presStyleCnt="0"/>
      <dgm:spPr/>
    </dgm:pt>
    <dgm:pt modelId="{3A7AC027-FBDF-4EE9-B7B8-7F2FFB4EFF8E}" type="pres">
      <dgm:prSet presAssocID="{F7D901FF-1E16-4942-B0E1-A53E2630BEA1}" presName="parTxOnly" presStyleLbl="node1" presStyleIdx="1" presStyleCnt="3" custLinFactNeighborX="1650" custLinFactNeighborY="-20041">
        <dgm:presLayoutVars>
          <dgm:chMax val="0"/>
          <dgm:chPref val="0"/>
          <dgm:bulletEnabled val="1"/>
        </dgm:presLayoutVars>
      </dgm:prSet>
      <dgm:spPr/>
    </dgm:pt>
    <dgm:pt modelId="{7ACABF47-DF55-4996-B394-FB9C08A25EC6}" type="pres">
      <dgm:prSet presAssocID="{9C61A7F3-51F9-459F-AAAF-D0B2FB2C157E}" presName="parTxOnlySpace" presStyleCnt="0"/>
      <dgm:spPr/>
    </dgm:pt>
    <dgm:pt modelId="{6A5BFF39-DB3E-42D1-BC65-D3CB0F3F999D}" type="pres">
      <dgm:prSet presAssocID="{ED26B5CC-A53A-4513-A8F1-414870F2271C}" presName="parTxOnly" presStyleLbl="node1" presStyleIdx="2" presStyleCnt="3" custLinFactNeighborX="25198" custLinFactNeighborY="-20041">
        <dgm:presLayoutVars>
          <dgm:chMax val="0"/>
          <dgm:chPref val="0"/>
          <dgm:bulletEnabled val="1"/>
        </dgm:presLayoutVars>
      </dgm:prSet>
      <dgm:spPr/>
    </dgm:pt>
  </dgm:ptLst>
  <dgm:cxnLst>
    <dgm:cxn modelId="{4EB01729-B02A-44F2-A81D-DA02717C37F2}" type="presOf" srcId="{F7D901FF-1E16-4942-B0E1-A53E2630BEA1}" destId="{3A7AC027-FBDF-4EE9-B7B8-7F2FFB4EFF8E}" srcOrd="0" destOrd="0" presId="urn:microsoft.com/office/officeart/2005/8/layout/chevron1"/>
    <dgm:cxn modelId="{3B317D4F-F35A-434E-B032-0949189AB23F}" srcId="{435B0EFC-C01B-428C-9B9D-ADE2247AA602}" destId="{ED26B5CC-A53A-4513-A8F1-414870F2271C}" srcOrd="2" destOrd="0" parTransId="{AD82CC15-A677-495D-B3BD-F709FE414488}" sibTransId="{BDAD90F5-150B-4BE8-B363-76C1C4A30E40}"/>
    <dgm:cxn modelId="{B7AB075C-78C6-4720-A74F-BFFEE814E09D}" srcId="{435B0EFC-C01B-428C-9B9D-ADE2247AA602}" destId="{F7D901FF-1E16-4942-B0E1-A53E2630BEA1}" srcOrd="1" destOrd="0" parTransId="{BB5B168C-0092-481F-A54A-E1547722BA44}" sibTransId="{9C61A7F3-51F9-459F-AAAF-D0B2FB2C157E}"/>
    <dgm:cxn modelId="{5B6AB3CC-C03E-42B2-BE5F-657CBE9411BE}" srcId="{435B0EFC-C01B-428C-9B9D-ADE2247AA602}" destId="{214F97C3-3CC2-4275-B8B8-575F797C0765}" srcOrd="0" destOrd="0" parTransId="{9F01E94F-844A-4367-9573-8A8C879D0249}" sibTransId="{4453823D-E530-47CC-B7D2-1F6F19F62C7A}"/>
    <dgm:cxn modelId="{E3DEC9D7-15CB-497D-AD6E-C5D1F76A8F99}" type="presOf" srcId="{ED26B5CC-A53A-4513-A8F1-414870F2271C}" destId="{6A5BFF39-DB3E-42D1-BC65-D3CB0F3F999D}" srcOrd="0" destOrd="0" presId="urn:microsoft.com/office/officeart/2005/8/layout/chevron1"/>
    <dgm:cxn modelId="{B1BF76DA-0CEF-4778-8E4F-521A54AE629B}" type="presOf" srcId="{435B0EFC-C01B-428C-9B9D-ADE2247AA602}" destId="{B822BBC3-E2D9-48EA-A9F4-05D8B7671DD7}" srcOrd="0" destOrd="0" presId="urn:microsoft.com/office/officeart/2005/8/layout/chevron1"/>
    <dgm:cxn modelId="{3E4E9ADC-3B74-4259-B9F1-F7518248E3F1}" type="presOf" srcId="{214F97C3-3CC2-4275-B8B8-575F797C0765}" destId="{8E1ADE64-697F-4179-9219-EB03395F8CC6}" srcOrd="0" destOrd="0" presId="urn:microsoft.com/office/officeart/2005/8/layout/chevron1"/>
    <dgm:cxn modelId="{3A58BF33-8DFE-4963-9BBD-0897E02F9BCA}" type="presParOf" srcId="{B822BBC3-E2D9-48EA-A9F4-05D8B7671DD7}" destId="{8E1ADE64-697F-4179-9219-EB03395F8CC6}" srcOrd="0" destOrd="0" presId="urn:microsoft.com/office/officeart/2005/8/layout/chevron1"/>
    <dgm:cxn modelId="{451B08CE-816E-4F31-9009-47C99C6D4419}" type="presParOf" srcId="{B822BBC3-E2D9-48EA-A9F4-05D8B7671DD7}" destId="{11A0694C-993E-4CFE-A88E-CC20ACAB29C5}" srcOrd="1" destOrd="0" presId="urn:microsoft.com/office/officeart/2005/8/layout/chevron1"/>
    <dgm:cxn modelId="{A3233E8D-FD5B-4C4D-B62C-F960A54A6325}" type="presParOf" srcId="{B822BBC3-E2D9-48EA-A9F4-05D8B7671DD7}" destId="{3A7AC027-FBDF-4EE9-B7B8-7F2FFB4EFF8E}" srcOrd="2" destOrd="0" presId="urn:microsoft.com/office/officeart/2005/8/layout/chevron1"/>
    <dgm:cxn modelId="{2D455ED4-50C5-4703-AC37-A1CE187DE966}" type="presParOf" srcId="{B822BBC3-E2D9-48EA-A9F4-05D8B7671DD7}" destId="{7ACABF47-DF55-4996-B394-FB9C08A25EC6}" srcOrd="3" destOrd="0" presId="urn:microsoft.com/office/officeart/2005/8/layout/chevron1"/>
    <dgm:cxn modelId="{BCA5F9B7-D783-4288-8C5D-4FB9C3EF484E}" type="presParOf" srcId="{B822BBC3-E2D9-48EA-A9F4-05D8B7671DD7}" destId="{6A5BFF39-DB3E-42D1-BC65-D3CB0F3F999D}"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5FC30C-AEED-3148-998D-72279D5F3787}">
      <dsp:nvSpPr>
        <dsp:cNvPr id="0" name=""/>
        <dsp:cNvSpPr/>
      </dsp:nvSpPr>
      <dsp:spPr>
        <a:xfrm>
          <a:off x="895909" y="0"/>
          <a:ext cx="5142911" cy="5142911"/>
        </a:xfrm>
        <a:prstGeom prst="triangle">
          <a:avLst/>
        </a:prstGeom>
        <a:solidFill>
          <a:schemeClr val="tx1"/>
        </a:solidFill>
        <a:ln w="12700" cap="flat" cmpd="sng" algn="ctr">
          <a:solidFill>
            <a:srgbClr val="FFFF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40EE-D245-394D-8815-C02A53737977}">
      <dsp:nvSpPr>
        <dsp:cNvPr id="0" name=""/>
        <dsp:cNvSpPr/>
      </dsp:nvSpPr>
      <dsp:spPr>
        <a:xfrm>
          <a:off x="3467365" y="514793"/>
          <a:ext cx="3342892" cy="522326"/>
        </a:xfrm>
        <a:prstGeom prst="roundRect">
          <a:avLst/>
        </a:prstGeom>
        <a:solidFill>
          <a:srgbClr val="FFFF00">
            <a:alpha val="90000"/>
          </a:srgb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College &amp; PRO</a:t>
          </a:r>
        </a:p>
      </dsp:txBody>
      <dsp:txXfrm>
        <a:off x="3492863" y="540291"/>
        <a:ext cx="3291896" cy="471330"/>
      </dsp:txXfrm>
    </dsp:sp>
    <dsp:sp modelId="{BC284FDB-7734-4F40-AB9D-ABF2E152FB8B}">
      <dsp:nvSpPr>
        <dsp:cNvPr id="0" name=""/>
        <dsp:cNvSpPr/>
      </dsp:nvSpPr>
      <dsp:spPr>
        <a:xfrm>
          <a:off x="3467365" y="1102411"/>
          <a:ext cx="3342892" cy="522326"/>
        </a:xfrm>
        <a:prstGeom prst="roundRect">
          <a:avLst/>
        </a:prstGeom>
        <a:solidFill>
          <a:srgbClr val="FFFF00">
            <a:alpha val="90000"/>
          </a:srgbClr>
        </a:solidFill>
        <a:ln w="12700" cap="flat" cmpd="sng" algn="ctr">
          <a:solidFill>
            <a:schemeClr val="tx1"/>
          </a:solidFill>
          <a:prstDash val="solid"/>
          <a:miter lim="800000"/>
        </a:ln>
        <a:effectLst>
          <a:glow rad="342900">
            <a:srgbClr val="CB9B2B">
              <a:alpha val="78000"/>
            </a:srgbClr>
          </a:glow>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1" kern="1200" dirty="0"/>
            <a:t>GA &amp; MLS NEXT</a:t>
          </a:r>
        </a:p>
      </dsp:txBody>
      <dsp:txXfrm>
        <a:off x="3492863" y="1127909"/>
        <a:ext cx="3291896" cy="471330"/>
      </dsp:txXfrm>
    </dsp:sp>
    <dsp:sp modelId="{8B1133FF-740E-6743-ADBC-97C85CC76BF6}">
      <dsp:nvSpPr>
        <dsp:cNvPr id="0" name=""/>
        <dsp:cNvSpPr/>
      </dsp:nvSpPr>
      <dsp:spPr>
        <a:xfrm>
          <a:off x="3467365" y="1690028"/>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Regional Level</a:t>
          </a:r>
        </a:p>
      </dsp:txBody>
      <dsp:txXfrm>
        <a:off x="3492863" y="1715526"/>
        <a:ext cx="3291896" cy="471330"/>
      </dsp:txXfrm>
    </dsp:sp>
    <dsp:sp modelId="{95BB7961-8352-A944-8E59-9A47B12030F5}">
      <dsp:nvSpPr>
        <dsp:cNvPr id="0" name=""/>
        <dsp:cNvSpPr/>
      </dsp:nvSpPr>
      <dsp:spPr>
        <a:xfrm>
          <a:off x="3467365" y="2277646"/>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State Level</a:t>
          </a:r>
        </a:p>
      </dsp:txBody>
      <dsp:txXfrm>
        <a:off x="3492863" y="2303144"/>
        <a:ext cx="3291896" cy="471330"/>
      </dsp:txXfrm>
    </dsp:sp>
    <dsp:sp modelId="{F7CE9BF2-3210-4742-B667-843A55E0D166}">
      <dsp:nvSpPr>
        <dsp:cNvPr id="0" name=""/>
        <dsp:cNvSpPr/>
      </dsp:nvSpPr>
      <dsp:spPr>
        <a:xfrm>
          <a:off x="3467365" y="2865264"/>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Select</a:t>
          </a:r>
        </a:p>
      </dsp:txBody>
      <dsp:txXfrm>
        <a:off x="3492863" y="2890762"/>
        <a:ext cx="3291896" cy="471330"/>
      </dsp:txXfrm>
    </dsp:sp>
    <dsp:sp modelId="{3A55A94C-C2F5-DD49-B9BD-EDAA7E3254E0}">
      <dsp:nvSpPr>
        <dsp:cNvPr id="0" name=""/>
        <dsp:cNvSpPr/>
      </dsp:nvSpPr>
      <dsp:spPr>
        <a:xfrm>
          <a:off x="3467365" y="3452882"/>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Academy</a:t>
          </a:r>
        </a:p>
      </dsp:txBody>
      <dsp:txXfrm>
        <a:off x="3492863" y="3478380"/>
        <a:ext cx="3291896" cy="471330"/>
      </dsp:txXfrm>
    </dsp:sp>
    <dsp:sp modelId="{9DF6EBB4-1B64-6341-A3B8-0931C22A8BA9}">
      <dsp:nvSpPr>
        <dsp:cNvPr id="0" name=""/>
        <dsp:cNvSpPr/>
      </dsp:nvSpPr>
      <dsp:spPr>
        <a:xfrm>
          <a:off x="3467365" y="4040499"/>
          <a:ext cx="3342892" cy="522326"/>
        </a:xfrm>
        <a:prstGeom prst="roundRect">
          <a:avLst/>
        </a:prstGeom>
        <a:solidFill>
          <a:srgbClr val="FFFF00">
            <a:alpha val="90000"/>
          </a:srgb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Recreational</a:t>
          </a:r>
        </a:p>
      </dsp:txBody>
      <dsp:txXfrm>
        <a:off x="3492863" y="4065997"/>
        <a:ext cx="3291896" cy="4713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1ADE64-697F-4179-9219-EB03395F8CC6}">
      <dsp:nvSpPr>
        <dsp:cNvPr id="0" name=""/>
        <dsp:cNvSpPr/>
      </dsp:nvSpPr>
      <dsp:spPr>
        <a:xfrm>
          <a:off x="49656" y="0"/>
          <a:ext cx="3964894" cy="957944"/>
        </a:xfrm>
        <a:prstGeom prst="chevron">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53340" rIns="53340" bIns="5334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chemeClr val="tx1"/>
              </a:solidFill>
              <a:latin typeface="Calibri" panose="020F0502020204030204"/>
              <a:ea typeface="+mn-ea"/>
              <a:cs typeface="+mn-cs"/>
            </a:rPr>
            <a:t>FALL</a:t>
          </a:r>
        </a:p>
      </dsp:txBody>
      <dsp:txXfrm>
        <a:off x="528628" y="0"/>
        <a:ext cx="3006950" cy="957944"/>
      </dsp:txXfrm>
    </dsp:sp>
    <dsp:sp modelId="{3A7AC027-FBDF-4EE9-B7B8-7F2FFB4EFF8E}">
      <dsp:nvSpPr>
        <dsp:cNvPr id="0" name=""/>
        <dsp:cNvSpPr/>
      </dsp:nvSpPr>
      <dsp:spPr>
        <a:xfrm>
          <a:off x="3536581" y="0"/>
          <a:ext cx="4363740" cy="957944"/>
        </a:xfrm>
        <a:prstGeom prst="chevron">
          <a:avLst/>
        </a:prstGeom>
        <a:solidFill>
          <a:schemeClr val="tx1"/>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53340" rIns="53340" bIns="5334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ysClr val="window" lastClr="FFFFFF"/>
              </a:solidFill>
              <a:latin typeface="Calibri" panose="020F0502020204030204"/>
              <a:ea typeface="+mn-ea"/>
              <a:cs typeface="+mn-cs"/>
            </a:rPr>
            <a:t>WINTER</a:t>
          </a:r>
        </a:p>
      </dsp:txBody>
      <dsp:txXfrm>
        <a:off x="4015553" y="0"/>
        <a:ext cx="3405796" cy="957944"/>
      </dsp:txXfrm>
    </dsp:sp>
    <dsp:sp modelId="{6A5BFF39-DB3E-42D1-BC65-D3CB0F3F999D}">
      <dsp:nvSpPr>
        <dsp:cNvPr id="0" name=""/>
        <dsp:cNvSpPr/>
      </dsp:nvSpPr>
      <dsp:spPr>
        <a:xfrm>
          <a:off x="7457608" y="0"/>
          <a:ext cx="4363740" cy="957944"/>
        </a:xfrm>
        <a:prstGeom prst="chevron">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53340" rIns="53340" bIns="53340" numCol="1" spcCol="1270" anchor="ctr" anchorCtr="0">
          <a:noAutofit/>
        </a:bodyPr>
        <a:lstStyle/>
        <a:p>
          <a:pPr marL="0" lvl="0" indent="0" algn="ctr" defTabSz="1778000">
            <a:lnSpc>
              <a:spcPct val="90000"/>
            </a:lnSpc>
            <a:spcBef>
              <a:spcPct val="0"/>
            </a:spcBef>
            <a:spcAft>
              <a:spcPct val="35000"/>
            </a:spcAft>
            <a:buNone/>
          </a:pPr>
          <a:r>
            <a:rPr lang="en-US" sz="4000" kern="1200" dirty="0">
              <a:solidFill>
                <a:schemeClr val="tx1"/>
              </a:solidFill>
              <a:latin typeface="Calibri" panose="020F0502020204030204"/>
              <a:ea typeface="+mn-ea"/>
              <a:cs typeface="+mn-cs"/>
            </a:rPr>
            <a:t>SPRING</a:t>
          </a:r>
        </a:p>
      </dsp:txBody>
      <dsp:txXfrm>
        <a:off x="7936580" y="0"/>
        <a:ext cx="3405796" cy="957944"/>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A1A5F-7800-DF4F-9FCF-00A9273A7F83}" type="datetimeFigureOut">
              <a:rPr lang="en-US" smtClean="0"/>
              <a:t>8/24/24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28D1E7-DA72-2E4F-A045-2E9C900C8A9B}" type="slidenum">
              <a:rPr lang="en-US" smtClean="0"/>
              <a:t>‹#›</a:t>
            </a:fld>
            <a:endParaRPr lang="en-US"/>
          </a:p>
        </p:txBody>
      </p:sp>
    </p:spTree>
    <p:extLst>
      <p:ext uri="{BB962C8B-B14F-4D97-AF65-F5344CB8AC3E}">
        <p14:creationId xmlns:p14="http://schemas.microsoft.com/office/powerpoint/2010/main" val="25052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uFillTx/>
            </a:endParaRPr>
          </a:p>
        </p:txBody>
      </p:sp>
    </p:spTree>
    <p:extLst>
      <p:ext uri="{BB962C8B-B14F-4D97-AF65-F5344CB8AC3E}">
        <p14:creationId xmlns:p14="http://schemas.microsoft.com/office/powerpoint/2010/main" val="3697536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3302210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3281680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1013712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27255472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2396065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1740088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3084185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1091086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uFillTx/>
            </a:endParaRPr>
          </a:p>
        </p:txBody>
      </p:sp>
    </p:spTree>
    <p:extLst>
      <p:ext uri="{BB962C8B-B14F-4D97-AF65-F5344CB8AC3E}">
        <p14:creationId xmlns:p14="http://schemas.microsoft.com/office/powerpoint/2010/main" val="2073201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F3A78-0A21-8F81-5612-886ABEEABC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D78128-D67A-246A-96D8-3A919651C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B86DC5-C494-7C9D-1A65-2D2FB334E1FD}"/>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5" name="Footer Placeholder 4">
            <a:extLst>
              <a:ext uri="{FF2B5EF4-FFF2-40B4-BE49-F238E27FC236}">
                <a16:creationId xmlns:a16="http://schemas.microsoft.com/office/drawing/2014/main" id="{EAAA2630-B5E6-3593-8F31-C09CEE2D92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37F74-1061-ADD2-1C63-3D40484147B7}"/>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2936543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4C48-EE44-F14D-2D26-1FD9DCFDBA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F44125-88C8-D0D7-B573-FF4FE18F93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A6B21-FB00-F6F2-AE79-D7B65990FB1C}"/>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5" name="Footer Placeholder 4">
            <a:extLst>
              <a:ext uri="{FF2B5EF4-FFF2-40B4-BE49-F238E27FC236}">
                <a16:creationId xmlns:a16="http://schemas.microsoft.com/office/drawing/2014/main" id="{A0C5ABF7-A5C4-A5E8-4E8B-9B0C2BAECE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A886B-EBE0-8433-85FA-D8DA5E615D33}"/>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1874560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F0340-7B57-2876-6F2E-DC8ED47B78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436A3A-3897-D4E5-56F2-789BB38DDF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4920BC-0B29-FA37-AF48-106BD0AF0C79}"/>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5" name="Footer Placeholder 4">
            <a:extLst>
              <a:ext uri="{FF2B5EF4-FFF2-40B4-BE49-F238E27FC236}">
                <a16:creationId xmlns:a16="http://schemas.microsoft.com/office/drawing/2014/main" id="{D8046BCF-2453-5ADC-2073-8D208C758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ABEF1-16FF-05CF-9341-155FF36C300C}"/>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968869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2D2A-ACD6-06A8-E0EE-935D5E0EBE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1F3E01-2C15-E781-41DF-7131919927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536B51-F75D-3B46-2B86-AB4DD6DB86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E75469-2985-7DD5-63BF-D6239EF57E40}"/>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6" name="Footer Placeholder 5">
            <a:extLst>
              <a:ext uri="{FF2B5EF4-FFF2-40B4-BE49-F238E27FC236}">
                <a16:creationId xmlns:a16="http://schemas.microsoft.com/office/drawing/2014/main" id="{710EE944-4794-24E7-5AA2-A3431FF563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BE47CB-F2C2-A77F-AA1D-A022609245C1}"/>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1009554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210F-78D1-16BB-B2DA-154CCCC721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18EE7F-B8AB-A2A7-79E3-537EFA71C5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8FFD6A-ACAB-1EFA-480F-D1A0A4FE81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97C813-918C-9C2E-8FE2-969433BDBA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2E00FB-832C-FE9D-12E7-B39F82D741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0DD609-1EB0-F22E-4F44-26AF5A419481}"/>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8" name="Footer Placeholder 7">
            <a:extLst>
              <a:ext uri="{FF2B5EF4-FFF2-40B4-BE49-F238E27FC236}">
                <a16:creationId xmlns:a16="http://schemas.microsoft.com/office/drawing/2014/main" id="{090465C0-8A39-D579-6934-F31136DF7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54645E-D564-4517-9603-C3B6B66C180D}"/>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3219166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03CAA-5486-BF99-C3F3-86E0DDD21F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B9AA29-2855-B04F-B46C-196746A547DE}"/>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4" name="Footer Placeholder 3">
            <a:extLst>
              <a:ext uri="{FF2B5EF4-FFF2-40B4-BE49-F238E27FC236}">
                <a16:creationId xmlns:a16="http://schemas.microsoft.com/office/drawing/2014/main" id="{3A837468-21F2-E033-A248-A6CDE861B2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957D15-912E-1E8D-F2EF-BCDF09711BEE}"/>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783029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A7AE99-9D66-37B0-F7E4-05B74C7FCD9E}"/>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3" name="Footer Placeholder 2">
            <a:extLst>
              <a:ext uri="{FF2B5EF4-FFF2-40B4-BE49-F238E27FC236}">
                <a16:creationId xmlns:a16="http://schemas.microsoft.com/office/drawing/2014/main" id="{C36528BD-0085-1B1B-8EBD-7054FB0E8A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7F1047-1C19-9633-E984-6133D024FF9E}"/>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1783998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1DB4D-D6DA-BC6E-9C7A-8A71C0C98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DF183-F39C-7F65-8FCB-B44D53DBAC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F5DD8C-3DAB-A38A-A0CA-BF352F77A2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76029-AC3B-D222-11AD-8486317A9E5D}"/>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6" name="Footer Placeholder 5">
            <a:extLst>
              <a:ext uri="{FF2B5EF4-FFF2-40B4-BE49-F238E27FC236}">
                <a16:creationId xmlns:a16="http://schemas.microsoft.com/office/drawing/2014/main" id="{08A2FD34-1905-4EF7-1FEE-25013D7A87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C7D8D5-297C-4482-22C9-3696F695D4FC}"/>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3252648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765D-D6AB-7B91-47A5-2AEBD57E0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F425CC-C743-899F-6809-F65F9C8F5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81AFB2-8E42-36BD-F997-0643946EA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FE294E-3501-648E-445D-F1DB63EF32E5}"/>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6" name="Footer Placeholder 5">
            <a:extLst>
              <a:ext uri="{FF2B5EF4-FFF2-40B4-BE49-F238E27FC236}">
                <a16:creationId xmlns:a16="http://schemas.microsoft.com/office/drawing/2014/main" id="{1C6F2044-310B-CCCD-59E8-4016B48218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DC0B7F-C5D6-C19B-0598-DE122EDD8808}"/>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3806254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5FC65-28B0-CF83-3314-191104AB87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7A353E-2F6C-0DE3-4C87-E1D0DC4274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16C822-58CA-0252-54E1-C5CC0D1D7C26}"/>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5" name="Footer Placeholder 4">
            <a:extLst>
              <a:ext uri="{FF2B5EF4-FFF2-40B4-BE49-F238E27FC236}">
                <a16:creationId xmlns:a16="http://schemas.microsoft.com/office/drawing/2014/main" id="{C8DBAF0A-343E-7E20-6808-B85459C55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074DF-B384-67E7-D9A3-6E80DEB0F973}"/>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254378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017C85-DD7D-2548-1239-94119C0C42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BB8376-03A0-90D9-8EAC-429067DE18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A52CF-9688-BD21-C23C-13288963CFDE}"/>
              </a:ext>
            </a:extLst>
          </p:cNvPr>
          <p:cNvSpPr>
            <a:spLocks noGrp="1"/>
          </p:cNvSpPr>
          <p:nvPr>
            <p:ph type="dt" sz="half" idx="10"/>
          </p:nvPr>
        </p:nvSpPr>
        <p:spPr/>
        <p:txBody>
          <a:bodyPr/>
          <a:lstStyle/>
          <a:p>
            <a:fld id="{BF80DE68-10B9-E44D-B91E-2E037F86674F}" type="datetimeFigureOut">
              <a:rPr lang="en-US" smtClean="0"/>
              <a:t>8/24/24</a:t>
            </a:fld>
            <a:endParaRPr lang="en-US"/>
          </a:p>
        </p:txBody>
      </p:sp>
      <p:sp>
        <p:nvSpPr>
          <p:cNvPr id="5" name="Footer Placeholder 4">
            <a:extLst>
              <a:ext uri="{FF2B5EF4-FFF2-40B4-BE49-F238E27FC236}">
                <a16:creationId xmlns:a16="http://schemas.microsoft.com/office/drawing/2014/main" id="{24481CB9-BD2C-A4CF-5EF8-F18CF538A2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69927C-F75D-8F37-6C6A-CF97A0C9FAEE}"/>
              </a:ext>
            </a:extLst>
          </p:cNvPr>
          <p:cNvSpPr>
            <a:spLocks noGrp="1"/>
          </p:cNvSpPr>
          <p:nvPr>
            <p:ph type="sldNum" sz="quarter" idx="12"/>
          </p:nvPr>
        </p:nvSpPr>
        <p:spPr/>
        <p:txBody>
          <a:bodyPr/>
          <a:lstStyle/>
          <a:p>
            <a:fld id="{D5E34F95-1A59-B546-840D-583E93E36145}" type="slidenum">
              <a:rPr lang="en-US" smtClean="0"/>
              <a:t>‹#›</a:t>
            </a:fld>
            <a:endParaRPr lang="en-US"/>
          </a:p>
        </p:txBody>
      </p:sp>
    </p:spTree>
    <p:extLst>
      <p:ext uri="{BB962C8B-B14F-4D97-AF65-F5344CB8AC3E}">
        <p14:creationId xmlns:p14="http://schemas.microsoft.com/office/powerpoint/2010/main" val="2918560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Fans">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duotone>
              <a:srgbClr val="000000"/>
              <a:srgbClr val="CC9900">
                <a:tint val="45000"/>
                <a:satMod val="400000"/>
              </a:srgbClr>
            </a:duotone>
          </a:blip>
          <a:stretch>
            <a:fillRect/>
          </a:stretch>
        </p:blipFill>
        <p:spPr>
          <a:xfrm>
            <a:off x="0" y="0"/>
            <a:ext cx="12192000" cy="6858000"/>
          </a:xfrm>
          <a:prstGeom prst="rect">
            <a:avLst/>
          </a:prstGeom>
        </p:spPr>
      </p:pic>
      <p:sp>
        <p:nvSpPr>
          <p:cNvPr id="7" name="Title 1"/>
          <p:cNvSpPr>
            <a:spLocks noGrp="1"/>
          </p:cNvSpPr>
          <p:nvPr>
            <p:ph type="ctrTitle"/>
          </p:nvPr>
        </p:nvSpPr>
        <p:spPr>
          <a:xfrm>
            <a:off x="648930" y="1"/>
            <a:ext cx="10894142" cy="1042219"/>
          </a:xfrm>
        </p:spPr>
        <p:txBody>
          <a:bodyPr anchor="b">
            <a:normAutofit/>
          </a:bodyPr>
          <a:lstStyle>
            <a:lvl1pPr algn="ctr">
              <a:defRPr sz="3825" b="1">
                <a:solidFill>
                  <a:schemeClr val="bg1"/>
                </a:solidFill>
                <a:uFillTx/>
                <a:latin typeface="Arial" charset="0"/>
                <a:ea typeface="Arial" charset="0"/>
                <a:cs typeface="Arial" charset="0"/>
              </a:defRPr>
            </a:lvl1pPr>
          </a:lstStyle>
          <a:p>
            <a:r>
              <a:rPr lang="en-US" dirty="0">
                <a:uFillTx/>
              </a:rPr>
              <a:t>Click to edit Master title style</a:t>
            </a:r>
          </a:p>
        </p:txBody>
      </p:sp>
    </p:spTree>
    <p:extLst>
      <p:ext uri="{BB962C8B-B14F-4D97-AF65-F5344CB8AC3E}">
        <p14:creationId xmlns:p14="http://schemas.microsoft.com/office/powerpoint/2010/main" val="3695848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9B897-F9DF-154E-955F-978D9A769FF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pic>
        <p:nvPicPr>
          <p:cNvPr id="3" name="Picture 2">
            <a:extLst>
              <a:ext uri="{FF2B5EF4-FFF2-40B4-BE49-F238E27FC236}">
                <a16:creationId xmlns:a16="http://schemas.microsoft.com/office/drawing/2014/main" id="{9ABC7D99-5253-C645-97A2-A7FA77F3866F}"/>
              </a:ext>
            </a:extLst>
          </p:cNvPr>
          <p:cNvPicPr>
            <a:picLocks noChangeAspect="1"/>
          </p:cNvPicPr>
          <p:nvPr userDrawn="1"/>
        </p:nvPicPr>
        <p:blipFill>
          <a:blip r:embed="rId2">
            <a:alphaModFix/>
            <a:duotone>
              <a:prstClr val="black"/>
              <a:schemeClr val="tx2">
                <a:tint val="45000"/>
                <a:satMod val="400000"/>
              </a:schemeClr>
            </a:duotone>
          </a:blip>
          <a:stretch>
            <a:fillRect/>
          </a:stretch>
        </p:blipFill>
        <p:spPr>
          <a:xfrm>
            <a:off x="0" y="1"/>
            <a:ext cx="12192000" cy="6857999"/>
          </a:xfrm>
          <a:prstGeom prst="rect">
            <a:avLst/>
          </a:prstGeom>
        </p:spPr>
      </p:pic>
      <p:pic>
        <p:nvPicPr>
          <p:cNvPr id="5" name="Picture 4">
            <a:extLst>
              <a:ext uri="{FF2B5EF4-FFF2-40B4-BE49-F238E27FC236}">
                <a16:creationId xmlns:a16="http://schemas.microsoft.com/office/drawing/2014/main" id="{7224756D-0329-AB43-9BEA-7832A58C0931}"/>
              </a:ext>
            </a:extLst>
          </p:cNvPr>
          <p:cNvPicPr>
            <a:picLocks noChangeAspect="1"/>
          </p:cNvPicPr>
          <p:nvPr userDrawn="1"/>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3145547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Blank Page">
    <p:spTree>
      <p:nvGrpSpPr>
        <p:cNvPr id="1" name=""/>
        <p:cNvGrpSpPr/>
        <p:nvPr/>
      </p:nvGrpSpPr>
      <p:grpSpPr>
        <a:xfrm>
          <a:off x="0" y="0"/>
          <a:ext cx="0" cy="0"/>
          <a:chOff x="0" y="0"/>
          <a:chExt cx="0" cy="0"/>
        </a:xfrm>
      </p:grpSpPr>
      <p:sp>
        <p:nvSpPr>
          <p:cNvPr id="170" name="Shape 170"/>
          <p:cNvSpPr>
            <a:spLocks noGrp="1"/>
          </p:cNvSpPr>
          <p:nvPr>
            <p:ph type="sldNum" sz="quarter" idx="2"/>
          </p:nvPr>
        </p:nvSpPr>
        <p:spPr>
          <a:prstGeom prst="rect">
            <a:avLst/>
          </a:prstGeom>
        </p:spPr>
        <p:txBody>
          <a:bodyPr/>
          <a:lstStyle/>
          <a:p>
            <a:fld id="{86CB4B4D-7CA3-9044-876B-883B54F8677D}" type="slidenum">
              <a:t>‹#›</a:t>
            </a:fld>
            <a:endParaRPr>
              <a:uFillTx/>
            </a:endParaRPr>
          </a:p>
        </p:txBody>
      </p:sp>
      <p:sp>
        <p:nvSpPr>
          <p:cNvPr id="2" name="Rectangle 1">
            <a:extLst>
              <a:ext uri="{FF2B5EF4-FFF2-40B4-BE49-F238E27FC236}">
                <a16:creationId xmlns:a16="http://schemas.microsoft.com/office/drawing/2014/main" id="{07E5F521-1C5F-DB49-97E5-32A0CFCB236F}"/>
              </a:ext>
            </a:extLst>
          </p:cNvPr>
          <p:cNvSpPr/>
          <p:nvPr userDrawn="1"/>
        </p:nvSpPr>
        <p:spPr>
          <a:xfrm>
            <a:off x="3048000" y="3105835"/>
            <a:ext cx="6096000" cy="646331"/>
          </a:xfrm>
          <a:prstGeom prst="rect">
            <a:avLst/>
          </a:prstGeom>
        </p:spPr>
        <p:txBody>
          <a:bodyPr>
            <a:spAutoFit/>
          </a:bodyPr>
          <a:lstStyle/>
          <a:p>
            <a:pPr algn="ctr"/>
            <a:r>
              <a:rPr lang="en-US" sz="1800" kern="0" dirty="0">
                <a:solidFill>
                  <a:srgbClr val="CB9B2C"/>
                </a:solidFill>
              </a:rPr>
              <a:t>Key Qualities and Team Tactical Principles based on stages of development U-13 through U-19 age groups</a:t>
            </a:r>
          </a:p>
        </p:txBody>
      </p:sp>
    </p:spTree>
    <p:extLst>
      <p:ext uri="{BB962C8B-B14F-4D97-AF65-F5344CB8AC3E}">
        <p14:creationId xmlns:p14="http://schemas.microsoft.com/office/powerpoint/2010/main" val="38203870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1CC60A-E39A-91E9-386E-1B65E8A24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F113E6-F4C6-98BF-5592-86B2D03EFE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46779A-3CD6-0AAC-CC4D-BEFEF2DA5E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80DE68-10B9-E44D-B91E-2E037F86674F}" type="datetimeFigureOut">
              <a:rPr lang="en-US" smtClean="0"/>
              <a:t>8/24/24</a:t>
            </a:fld>
            <a:endParaRPr lang="en-US"/>
          </a:p>
        </p:txBody>
      </p:sp>
      <p:sp>
        <p:nvSpPr>
          <p:cNvPr id="5" name="Footer Placeholder 4">
            <a:extLst>
              <a:ext uri="{FF2B5EF4-FFF2-40B4-BE49-F238E27FC236}">
                <a16:creationId xmlns:a16="http://schemas.microsoft.com/office/drawing/2014/main" id="{AD12305E-1D84-0DAB-9FE3-6E23BF8879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A51BA3-1BF4-8155-0A5E-6912243D3A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E34F95-1A59-B546-840D-583E93E36145}" type="slidenum">
              <a:rPr lang="en-US" smtClean="0"/>
              <a:t>‹#›</a:t>
            </a:fld>
            <a:endParaRPr lang="en-US"/>
          </a:p>
        </p:txBody>
      </p:sp>
    </p:spTree>
    <p:extLst>
      <p:ext uri="{BB962C8B-B14F-4D97-AF65-F5344CB8AC3E}">
        <p14:creationId xmlns:p14="http://schemas.microsoft.com/office/powerpoint/2010/main" val="429393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microsoft.com/office/2007/relationships/hdphoto" Target="../media/hdphoto2.wdp"/><Relationship Id="rId5" Type="http://schemas.openxmlformats.org/officeDocument/2006/relationships/diagramQuickStyle" Target="../diagrams/quickStyle1.xml"/><Relationship Id="rId10" Type="http://schemas.openxmlformats.org/officeDocument/2006/relationships/image" Target="../media/image9.png"/><Relationship Id="rId4" Type="http://schemas.openxmlformats.org/officeDocument/2006/relationships/diagramLayout" Target="../diagrams/layout1.xml"/><Relationship Id="rId9"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D756723-CE4E-894E-8572-280A8E1A07D7}"/>
              </a:ext>
            </a:extLst>
          </p:cNvPr>
          <p:cNvSpPr/>
          <p:nvPr/>
        </p:nvSpPr>
        <p:spPr>
          <a:xfrm>
            <a:off x="1334658" y="3506449"/>
            <a:ext cx="9328053" cy="2123945"/>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3600" b="1" dirty="0">
                <a:solidFill>
                  <a:srgbClr val="FFFF00"/>
                </a:solidFill>
                <a:latin typeface="Arial Rounded MT Bold" panose="020F0704030504030204" pitchFamily="34" charset="77"/>
              </a:rPr>
              <a:t>SC WAVE </a:t>
            </a:r>
          </a:p>
          <a:p>
            <a:pPr marL="0" lvl="0" indent="0" algn="ctr" defTabSz="1955800">
              <a:lnSpc>
                <a:spcPct val="90000"/>
              </a:lnSpc>
              <a:spcBef>
                <a:spcPct val="0"/>
              </a:spcBef>
              <a:spcAft>
                <a:spcPct val="35000"/>
              </a:spcAft>
              <a:buNone/>
            </a:pPr>
            <a:r>
              <a:rPr lang="en-US" sz="3600" b="1" dirty="0">
                <a:solidFill>
                  <a:srgbClr val="FFFF00"/>
                </a:solidFill>
                <a:latin typeface="Arial Rounded MT Bold" panose="020F0704030504030204" pitchFamily="34" charset="77"/>
              </a:rPr>
              <a:t>Development Stages + Key Qualities</a:t>
            </a:r>
            <a:endParaRPr lang="en-US" sz="3600" b="1" kern="1200" dirty="0">
              <a:solidFill>
                <a:srgbClr val="FFFF00"/>
              </a:solidFill>
              <a:latin typeface="Arial Rounded MT Bold" panose="020F0704030504030204" pitchFamily="34" charset="77"/>
            </a:endParaRPr>
          </a:p>
        </p:txBody>
      </p:sp>
      <p:pic>
        <p:nvPicPr>
          <p:cNvPr id="8" name="Picture 7">
            <a:extLst>
              <a:ext uri="{FF2B5EF4-FFF2-40B4-BE49-F238E27FC236}">
                <a16:creationId xmlns:a16="http://schemas.microsoft.com/office/drawing/2014/main" id="{85D2E24A-D25A-D049-80EC-9B83CFEC411A}"/>
              </a:ext>
            </a:extLst>
          </p:cNvPr>
          <p:cNvPicPr>
            <a:picLocks noChangeAspect="1"/>
          </p:cNvPicPr>
          <p:nvPr/>
        </p:nvPicPr>
        <p:blipFill>
          <a:blip r:embed="rId2"/>
          <a:stretch>
            <a:fillRect/>
          </a:stretch>
        </p:blipFill>
        <p:spPr>
          <a:xfrm>
            <a:off x="4971838" y="282185"/>
            <a:ext cx="2053692" cy="2053692"/>
          </a:xfrm>
          <a:prstGeom prst="rect">
            <a:avLst/>
          </a:prstGeom>
        </p:spPr>
      </p:pic>
    </p:spTree>
    <p:extLst>
      <p:ext uri="{BB962C8B-B14F-4D97-AF65-F5344CB8AC3E}">
        <p14:creationId xmlns:p14="http://schemas.microsoft.com/office/powerpoint/2010/main" val="370932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D756723-CE4E-894E-8572-280A8E1A07D7}"/>
              </a:ext>
            </a:extLst>
          </p:cNvPr>
          <p:cNvSpPr/>
          <p:nvPr/>
        </p:nvSpPr>
        <p:spPr>
          <a:xfrm>
            <a:off x="1028059" y="2800669"/>
            <a:ext cx="1802399" cy="1060704"/>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889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2000" b="1" dirty="0">
                <a:solidFill>
                  <a:srgbClr val="FFFF00"/>
                </a:solidFill>
                <a:latin typeface="Arial Rounded MT Bold" panose="020F0704030504030204" pitchFamily="34" charset="77"/>
              </a:rPr>
              <a:t>MISSION</a:t>
            </a:r>
            <a:endParaRPr lang="en-US" sz="2000" b="1" kern="1200" dirty="0">
              <a:solidFill>
                <a:srgbClr val="FFFF00"/>
              </a:solidFill>
              <a:latin typeface="Arial Rounded MT Bold" panose="020F0704030504030204" pitchFamily="34" charset="77"/>
            </a:endParaRPr>
          </a:p>
        </p:txBody>
      </p:sp>
      <p:sp>
        <p:nvSpPr>
          <p:cNvPr id="5" name="Freeform 4">
            <a:extLst>
              <a:ext uri="{FF2B5EF4-FFF2-40B4-BE49-F238E27FC236}">
                <a16:creationId xmlns:a16="http://schemas.microsoft.com/office/drawing/2014/main" id="{1E24017E-F978-3741-B79A-716A7999AC06}"/>
              </a:ext>
            </a:extLst>
          </p:cNvPr>
          <p:cNvSpPr/>
          <p:nvPr/>
        </p:nvSpPr>
        <p:spPr>
          <a:xfrm>
            <a:off x="1028059" y="4840350"/>
            <a:ext cx="1801368" cy="1059406"/>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889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2000" b="1" kern="1200" dirty="0">
                <a:solidFill>
                  <a:srgbClr val="FFFF00"/>
                </a:solidFill>
                <a:latin typeface="Arial Rounded MT Bold" panose="020F0704030504030204" pitchFamily="34" charset="77"/>
              </a:rPr>
              <a:t>VISION</a:t>
            </a:r>
          </a:p>
        </p:txBody>
      </p:sp>
      <p:sp>
        <p:nvSpPr>
          <p:cNvPr id="6" name="TextBox 5">
            <a:extLst>
              <a:ext uri="{FF2B5EF4-FFF2-40B4-BE49-F238E27FC236}">
                <a16:creationId xmlns:a16="http://schemas.microsoft.com/office/drawing/2014/main" id="{89A1DAD8-1F3F-F84C-981F-C69287ECAC3B}"/>
              </a:ext>
            </a:extLst>
          </p:cNvPr>
          <p:cNvSpPr txBox="1"/>
          <p:nvPr/>
        </p:nvSpPr>
        <p:spPr>
          <a:xfrm>
            <a:off x="3087446" y="2516116"/>
            <a:ext cx="8584602" cy="1477328"/>
          </a:xfrm>
          <a:prstGeom prst="rect">
            <a:avLst/>
          </a:prstGeom>
          <a:noFill/>
        </p:spPr>
        <p:txBody>
          <a:bodyPr wrap="square" rtlCol="0">
            <a:spAutoFit/>
          </a:bodyPr>
          <a:lstStyle/>
          <a:p>
            <a:r>
              <a:rPr lang="en-US" dirty="0">
                <a:solidFill>
                  <a:schemeClr val="bg1"/>
                </a:solidFill>
              </a:rPr>
              <a:t>SC Wave provides an enjoyable and positive environment for soccer players. Our mission is to promote individual development of all our players and assist them to reach their full potential, both within the game and outside of the game of soccer. Our players focus on proper preparation through discipline, determination, dedication, hard work and teamwork while playing with a passion and competing every time they step on the field.</a:t>
            </a:r>
          </a:p>
        </p:txBody>
      </p:sp>
      <p:sp>
        <p:nvSpPr>
          <p:cNvPr id="7" name="TextBox 6">
            <a:extLst>
              <a:ext uri="{FF2B5EF4-FFF2-40B4-BE49-F238E27FC236}">
                <a16:creationId xmlns:a16="http://schemas.microsoft.com/office/drawing/2014/main" id="{6B4DEF36-8815-AA48-B5E5-2EC26B381A25}"/>
              </a:ext>
            </a:extLst>
          </p:cNvPr>
          <p:cNvSpPr txBox="1"/>
          <p:nvPr/>
        </p:nvSpPr>
        <p:spPr>
          <a:xfrm>
            <a:off x="3087446" y="4631389"/>
            <a:ext cx="8229718" cy="1477328"/>
          </a:xfrm>
          <a:prstGeom prst="rect">
            <a:avLst/>
          </a:prstGeom>
          <a:noFill/>
        </p:spPr>
        <p:txBody>
          <a:bodyPr wrap="square" rtlCol="0">
            <a:spAutoFit/>
          </a:bodyPr>
          <a:lstStyle/>
          <a:p>
            <a:r>
              <a:rPr lang="en-US" dirty="0">
                <a:solidFill>
                  <a:schemeClr val="bg1"/>
                </a:solidFill>
              </a:rPr>
              <a:t>SC Wave will develop complete soccer players with excellent soccer intelligence, technical skills, and a competitive mentality.  Players will learn to love the game and will compete at their appropriate level, while experiencing life-lessons beyond the game. We aim to prepare our players to the next level of College Soccer and in some instances professional soccer.</a:t>
            </a:r>
          </a:p>
        </p:txBody>
      </p:sp>
      <p:pic>
        <p:nvPicPr>
          <p:cNvPr id="8" name="Picture 7">
            <a:extLst>
              <a:ext uri="{FF2B5EF4-FFF2-40B4-BE49-F238E27FC236}">
                <a16:creationId xmlns:a16="http://schemas.microsoft.com/office/drawing/2014/main" id="{85D2E24A-D25A-D049-80EC-9B83CFEC411A}"/>
              </a:ext>
            </a:extLst>
          </p:cNvPr>
          <p:cNvPicPr>
            <a:picLocks noChangeAspect="1"/>
          </p:cNvPicPr>
          <p:nvPr/>
        </p:nvPicPr>
        <p:blipFill>
          <a:blip r:embed="rId2"/>
          <a:stretch>
            <a:fillRect/>
          </a:stretch>
        </p:blipFill>
        <p:spPr>
          <a:xfrm>
            <a:off x="4905487" y="204241"/>
            <a:ext cx="2053692" cy="2053692"/>
          </a:xfrm>
          <a:prstGeom prst="rect">
            <a:avLst/>
          </a:prstGeom>
        </p:spPr>
      </p:pic>
    </p:spTree>
    <p:extLst>
      <p:ext uri="{BB962C8B-B14F-4D97-AF65-F5344CB8AC3E}">
        <p14:creationId xmlns:p14="http://schemas.microsoft.com/office/powerpoint/2010/main" val="3302277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D713CB3-3CC8-C546-AFF1-1A3B039BE1F8}"/>
              </a:ext>
            </a:extLst>
          </p:cNvPr>
          <p:cNvSpPr/>
          <p:nvPr/>
        </p:nvSpPr>
        <p:spPr>
          <a:xfrm>
            <a:off x="811527"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792" tIns="1945704" rIns="113792" bIns="1029749"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bg1"/>
                </a:solidFill>
              </a:rPr>
              <a:t>MERITOCRACY</a:t>
            </a:r>
          </a:p>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200" kern="1200" dirty="0"/>
              <a:t>Our attitudes and behaviors reflect what we deserve </a:t>
            </a:r>
          </a:p>
        </p:txBody>
      </p:sp>
      <p:sp>
        <p:nvSpPr>
          <p:cNvPr id="5" name="Freeform 4">
            <a:extLst>
              <a:ext uri="{FF2B5EF4-FFF2-40B4-BE49-F238E27FC236}">
                <a16:creationId xmlns:a16="http://schemas.microsoft.com/office/drawing/2014/main" id="{71C700D1-3F6C-2645-A1B4-A47FB533F902}"/>
              </a:ext>
            </a:extLst>
          </p:cNvPr>
          <p:cNvSpPr/>
          <p:nvPr/>
        </p:nvSpPr>
        <p:spPr>
          <a:xfrm>
            <a:off x="2859763"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792" tIns="1945704" rIns="113792" bIns="1029749" numCol="1" spcCol="1270" anchor="ctr" anchorCtr="0">
            <a:noAutofit/>
          </a:bodyPr>
          <a:lstStyle/>
          <a:p>
            <a:pPr marL="0" lvl="0" indent="0" algn="ctr" defTabSz="711200">
              <a:lnSpc>
                <a:spcPct val="90000"/>
              </a:lnSpc>
              <a:spcBef>
                <a:spcPct val="0"/>
              </a:spcBef>
              <a:spcAft>
                <a:spcPct val="35000"/>
              </a:spcAft>
              <a:buNone/>
            </a:pPr>
            <a:r>
              <a:rPr lang="en-US" sz="1600" b="1" kern="1200" dirty="0"/>
              <a:t>TEAM SPIRIT</a:t>
            </a:r>
          </a:p>
          <a:p>
            <a:pPr marL="0" lvl="0" indent="0" algn="ctr" defTabSz="711200">
              <a:lnSpc>
                <a:spcPct val="90000"/>
              </a:lnSpc>
              <a:spcBef>
                <a:spcPct val="0"/>
              </a:spcBef>
              <a:spcAft>
                <a:spcPct val="35000"/>
              </a:spcAft>
              <a:buNone/>
            </a:pPr>
            <a:endParaRPr lang="en-US" sz="1200" b="1" kern="1200" dirty="0"/>
          </a:p>
          <a:p>
            <a:pPr marL="0" lvl="0" indent="0" algn="ctr" defTabSz="711200">
              <a:lnSpc>
                <a:spcPct val="90000"/>
              </a:lnSpc>
              <a:spcBef>
                <a:spcPct val="0"/>
              </a:spcBef>
              <a:spcAft>
                <a:spcPct val="35000"/>
              </a:spcAft>
              <a:buNone/>
            </a:pPr>
            <a:r>
              <a:rPr lang="en-US" sz="1200" kern="1200" dirty="0"/>
              <a:t>Collective achievements generate individual benefits </a:t>
            </a:r>
            <a:endParaRPr lang="en-US" sz="1200" b="1" kern="1200" dirty="0"/>
          </a:p>
        </p:txBody>
      </p:sp>
      <p:sp>
        <p:nvSpPr>
          <p:cNvPr id="7" name="Freeform 6">
            <a:extLst>
              <a:ext uri="{FF2B5EF4-FFF2-40B4-BE49-F238E27FC236}">
                <a16:creationId xmlns:a16="http://schemas.microsoft.com/office/drawing/2014/main" id="{364BACCB-F5C9-7848-9B7A-78C7C3EFDFFE}"/>
              </a:ext>
            </a:extLst>
          </p:cNvPr>
          <p:cNvSpPr/>
          <p:nvPr/>
        </p:nvSpPr>
        <p:spPr>
          <a:xfrm>
            <a:off x="4907999" y="2045625"/>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13792" tIns="1945704" rIns="113792" bIns="1029749" numCol="1" spcCol="1270" anchor="ctr" anchorCtr="0">
            <a:noAutofit/>
          </a:bodyPr>
          <a:lstStyle/>
          <a:p>
            <a:pPr marL="0" lvl="0" indent="0" algn="ctr" defTabSz="711200">
              <a:lnSpc>
                <a:spcPct val="90000"/>
              </a:lnSpc>
              <a:spcBef>
                <a:spcPct val="0"/>
              </a:spcBef>
              <a:spcAft>
                <a:spcPct val="35000"/>
              </a:spcAft>
              <a:buNone/>
            </a:pPr>
            <a:endParaRPr lang="en-US" sz="1600" b="1" kern="1200" dirty="0"/>
          </a:p>
          <a:p>
            <a:pPr marL="0" lvl="0" indent="0" algn="ctr" defTabSz="711200">
              <a:lnSpc>
                <a:spcPct val="90000"/>
              </a:lnSpc>
              <a:spcBef>
                <a:spcPct val="0"/>
              </a:spcBef>
              <a:spcAft>
                <a:spcPct val="35000"/>
              </a:spcAft>
              <a:buNone/>
            </a:pPr>
            <a:endParaRPr lang="en-US" sz="1600" b="1" dirty="0"/>
          </a:p>
          <a:p>
            <a:pPr marL="0" lvl="0" indent="0" algn="ctr" defTabSz="711200">
              <a:lnSpc>
                <a:spcPct val="90000"/>
              </a:lnSpc>
              <a:spcBef>
                <a:spcPct val="0"/>
              </a:spcBef>
              <a:spcAft>
                <a:spcPct val="35000"/>
              </a:spcAft>
              <a:buNone/>
            </a:pPr>
            <a:r>
              <a:rPr lang="en-US" sz="1600" b="1" kern="1200" dirty="0"/>
              <a:t>RESPECT</a:t>
            </a:r>
          </a:p>
          <a:p>
            <a:pPr marL="0" lvl="0" indent="0" algn="ctr" defTabSz="711200">
              <a:lnSpc>
                <a:spcPct val="90000"/>
              </a:lnSpc>
              <a:spcBef>
                <a:spcPct val="0"/>
              </a:spcBef>
              <a:spcAft>
                <a:spcPct val="35000"/>
              </a:spcAft>
              <a:buNone/>
            </a:pPr>
            <a:endParaRPr lang="en-US" sz="1600" kern="1200" dirty="0"/>
          </a:p>
          <a:p>
            <a:pPr marL="0" lvl="0" indent="0" algn="ctr" defTabSz="711200">
              <a:lnSpc>
                <a:spcPct val="90000"/>
              </a:lnSpc>
              <a:spcBef>
                <a:spcPct val="0"/>
              </a:spcBef>
              <a:spcAft>
                <a:spcPct val="35000"/>
              </a:spcAft>
              <a:buNone/>
            </a:pPr>
            <a:r>
              <a:rPr lang="en-US" sz="1200" kern="1200" dirty="0"/>
              <a:t>We respect the environment;  referees, </a:t>
            </a:r>
            <a:r>
              <a:rPr lang="en-US" sz="1200" dirty="0"/>
              <a:t>opponents, teammates and facilities</a:t>
            </a:r>
            <a:r>
              <a:rPr lang="en-US" sz="1200" b="1" dirty="0"/>
              <a:t>. </a:t>
            </a:r>
            <a:r>
              <a:rPr lang="en-US" sz="1200" kern="1200" dirty="0"/>
              <a:t>We are proud to represent the club and our community</a:t>
            </a:r>
          </a:p>
        </p:txBody>
      </p:sp>
      <p:sp>
        <p:nvSpPr>
          <p:cNvPr id="9" name="Freeform 8">
            <a:extLst>
              <a:ext uri="{FF2B5EF4-FFF2-40B4-BE49-F238E27FC236}">
                <a16:creationId xmlns:a16="http://schemas.microsoft.com/office/drawing/2014/main" id="{82D271B1-18FC-594B-9EE6-B9530404F7D2}"/>
              </a:ext>
            </a:extLst>
          </p:cNvPr>
          <p:cNvSpPr/>
          <p:nvPr/>
        </p:nvSpPr>
        <p:spPr>
          <a:xfrm>
            <a:off x="6956236"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5168" tIns="2287080" rIns="455168" bIns="1371125" numCol="1" spcCol="1270" anchor="ctr" anchorCtr="0">
            <a:noAutofit/>
          </a:bodyPr>
          <a:lstStyle/>
          <a:p>
            <a:pPr marL="0" lvl="0" indent="0" algn="ctr" defTabSz="2844800">
              <a:lnSpc>
                <a:spcPct val="90000"/>
              </a:lnSpc>
              <a:spcBef>
                <a:spcPct val="0"/>
              </a:spcBef>
              <a:spcAft>
                <a:spcPct val="35000"/>
              </a:spcAft>
              <a:buNone/>
            </a:pPr>
            <a:endParaRPr lang="en-US" sz="6400" kern="1200"/>
          </a:p>
        </p:txBody>
      </p:sp>
      <p:sp>
        <p:nvSpPr>
          <p:cNvPr id="11" name="Freeform 10">
            <a:extLst>
              <a:ext uri="{FF2B5EF4-FFF2-40B4-BE49-F238E27FC236}">
                <a16:creationId xmlns:a16="http://schemas.microsoft.com/office/drawing/2014/main" id="{8C546999-876D-E643-BD43-25702E6D0BDD}"/>
              </a:ext>
            </a:extLst>
          </p:cNvPr>
          <p:cNvSpPr/>
          <p:nvPr/>
        </p:nvSpPr>
        <p:spPr>
          <a:xfrm>
            <a:off x="9004472" y="2045626"/>
            <a:ext cx="1988579" cy="4579781"/>
          </a:xfrm>
          <a:custGeom>
            <a:avLst/>
            <a:gdLst>
              <a:gd name="connsiteX0" fmla="*/ 0 w 1988579"/>
              <a:gd name="connsiteY0" fmla="*/ 198858 h 4579781"/>
              <a:gd name="connsiteX1" fmla="*/ 198858 w 1988579"/>
              <a:gd name="connsiteY1" fmla="*/ 0 h 4579781"/>
              <a:gd name="connsiteX2" fmla="*/ 1789721 w 1988579"/>
              <a:gd name="connsiteY2" fmla="*/ 0 h 4579781"/>
              <a:gd name="connsiteX3" fmla="*/ 1988579 w 1988579"/>
              <a:gd name="connsiteY3" fmla="*/ 198858 h 4579781"/>
              <a:gd name="connsiteX4" fmla="*/ 1988579 w 1988579"/>
              <a:gd name="connsiteY4" fmla="*/ 4380923 h 4579781"/>
              <a:gd name="connsiteX5" fmla="*/ 1789721 w 1988579"/>
              <a:gd name="connsiteY5" fmla="*/ 4579781 h 4579781"/>
              <a:gd name="connsiteX6" fmla="*/ 198858 w 1988579"/>
              <a:gd name="connsiteY6" fmla="*/ 4579781 h 4579781"/>
              <a:gd name="connsiteX7" fmla="*/ 0 w 1988579"/>
              <a:gd name="connsiteY7" fmla="*/ 4380923 h 4579781"/>
              <a:gd name="connsiteX8" fmla="*/ 0 w 1988579"/>
              <a:gd name="connsiteY8" fmla="*/ 198858 h 4579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88579" h="4579781">
                <a:moveTo>
                  <a:pt x="0" y="198858"/>
                </a:moveTo>
                <a:cubicBezTo>
                  <a:pt x="0" y="89032"/>
                  <a:pt x="89032" y="0"/>
                  <a:pt x="198858" y="0"/>
                </a:cubicBezTo>
                <a:lnTo>
                  <a:pt x="1789721" y="0"/>
                </a:lnTo>
                <a:cubicBezTo>
                  <a:pt x="1899547" y="0"/>
                  <a:pt x="1988579" y="89032"/>
                  <a:pt x="1988579" y="198858"/>
                </a:cubicBezTo>
                <a:lnTo>
                  <a:pt x="1988579" y="4380923"/>
                </a:lnTo>
                <a:cubicBezTo>
                  <a:pt x="1988579" y="4490749"/>
                  <a:pt x="1899547" y="4579781"/>
                  <a:pt x="1789721" y="4579781"/>
                </a:cubicBezTo>
                <a:lnTo>
                  <a:pt x="198858" y="4579781"/>
                </a:lnTo>
                <a:cubicBezTo>
                  <a:pt x="89032" y="4579781"/>
                  <a:pt x="0" y="4490749"/>
                  <a:pt x="0" y="4380923"/>
                </a:cubicBezTo>
                <a:lnTo>
                  <a:pt x="0" y="198858"/>
                </a:lnTo>
                <a:close/>
              </a:path>
            </a:pathLst>
          </a:custGeom>
          <a:solidFill>
            <a:schemeClr val="tx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5168" tIns="2287080" rIns="455168" bIns="1371125" numCol="1" spcCol="1270" anchor="ctr" anchorCtr="0">
            <a:noAutofit/>
          </a:bodyPr>
          <a:lstStyle/>
          <a:p>
            <a:pPr marL="0" lvl="0" indent="0" algn="ctr" defTabSz="2844800">
              <a:lnSpc>
                <a:spcPct val="90000"/>
              </a:lnSpc>
              <a:spcBef>
                <a:spcPct val="0"/>
              </a:spcBef>
              <a:spcAft>
                <a:spcPct val="35000"/>
              </a:spcAft>
              <a:buNone/>
            </a:pPr>
            <a:endParaRPr lang="en-US" sz="6400" kern="1200"/>
          </a:p>
        </p:txBody>
      </p:sp>
      <p:sp>
        <p:nvSpPr>
          <p:cNvPr id="13" name="Left-Right Arrow 12">
            <a:extLst>
              <a:ext uri="{FF2B5EF4-FFF2-40B4-BE49-F238E27FC236}">
                <a16:creationId xmlns:a16="http://schemas.microsoft.com/office/drawing/2014/main" id="{B4E57AC6-FBD3-6C4C-A170-CACAD86726F5}"/>
              </a:ext>
            </a:extLst>
          </p:cNvPr>
          <p:cNvSpPr/>
          <p:nvPr/>
        </p:nvSpPr>
        <p:spPr>
          <a:xfrm>
            <a:off x="1077533" y="5800625"/>
            <a:ext cx="9367003" cy="686967"/>
          </a:xfrm>
          <a:prstGeom prst="leftRightArrow">
            <a:avLst/>
          </a:prstGeom>
          <a:solidFill>
            <a:srgbClr val="FFFF00">
              <a:alpha val="89000"/>
            </a:srgbClr>
          </a:solidFill>
          <a:ln>
            <a:solidFill>
              <a:schemeClr val="bg1"/>
            </a:solidFill>
          </a:ln>
        </p:spPr>
        <p:style>
          <a:lnRef idx="2">
            <a:scrgbClr r="0" g="0" b="0"/>
          </a:lnRef>
          <a:fillRef idx="1">
            <a:scrgbClr r="0" g="0" b="0"/>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endParaRPr lang="en-US" dirty="0"/>
          </a:p>
        </p:txBody>
      </p:sp>
      <p:sp>
        <p:nvSpPr>
          <p:cNvPr id="14" name="TextBox 13">
            <a:extLst>
              <a:ext uri="{FF2B5EF4-FFF2-40B4-BE49-F238E27FC236}">
                <a16:creationId xmlns:a16="http://schemas.microsoft.com/office/drawing/2014/main" id="{BB591C18-11E4-C642-8047-E1B9F34FC900}"/>
              </a:ext>
            </a:extLst>
          </p:cNvPr>
          <p:cNvSpPr txBox="1"/>
          <p:nvPr/>
        </p:nvSpPr>
        <p:spPr>
          <a:xfrm>
            <a:off x="7040031" y="4199967"/>
            <a:ext cx="1758462" cy="1538883"/>
          </a:xfrm>
          <a:prstGeom prst="rect">
            <a:avLst/>
          </a:prstGeom>
          <a:noFill/>
        </p:spPr>
        <p:txBody>
          <a:bodyPr wrap="square" rtlCol="0">
            <a:spAutoFit/>
          </a:bodyPr>
          <a:lstStyle/>
          <a:p>
            <a:pPr lvl="0" algn="ctr"/>
            <a:r>
              <a:rPr lang="en-US" sz="1600" b="1" dirty="0">
                <a:solidFill>
                  <a:schemeClr val="bg1"/>
                </a:solidFill>
              </a:rPr>
              <a:t>RESILIENCE</a:t>
            </a:r>
          </a:p>
          <a:p>
            <a:pPr lvl="0" algn="ctr"/>
            <a:endParaRPr lang="en-US" sz="2400" dirty="0"/>
          </a:p>
          <a:p>
            <a:pPr lvl="0" algn="ctr"/>
            <a:r>
              <a:rPr lang="en-US" sz="1200" dirty="0">
                <a:solidFill>
                  <a:schemeClr val="bg1"/>
                </a:solidFill>
              </a:rPr>
              <a:t>Giving up is not an option. You fail only when you quit</a:t>
            </a:r>
          </a:p>
          <a:p>
            <a:endParaRPr lang="en-US" dirty="0"/>
          </a:p>
        </p:txBody>
      </p:sp>
      <p:sp>
        <p:nvSpPr>
          <p:cNvPr id="15" name="TextBox 14">
            <a:extLst>
              <a:ext uri="{FF2B5EF4-FFF2-40B4-BE49-F238E27FC236}">
                <a16:creationId xmlns:a16="http://schemas.microsoft.com/office/drawing/2014/main" id="{7B1A2CF6-0491-2543-B58E-24CBA0839F58}"/>
              </a:ext>
            </a:extLst>
          </p:cNvPr>
          <p:cNvSpPr txBox="1"/>
          <p:nvPr/>
        </p:nvSpPr>
        <p:spPr>
          <a:xfrm>
            <a:off x="9071823" y="4199967"/>
            <a:ext cx="1758462" cy="1908215"/>
          </a:xfrm>
          <a:prstGeom prst="rect">
            <a:avLst/>
          </a:prstGeom>
          <a:noFill/>
        </p:spPr>
        <p:txBody>
          <a:bodyPr wrap="square" rtlCol="0">
            <a:spAutoFit/>
          </a:bodyPr>
          <a:lstStyle/>
          <a:p>
            <a:pPr lvl="0" algn="ctr"/>
            <a:r>
              <a:rPr lang="en-US" sz="1600" b="1" dirty="0">
                <a:solidFill>
                  <a:schemeClr val="bg1"/>
                </a:solidFill>
              </a:rPr>
              <a:t>CREATIVITY</a:t>
            </a:r>
          </a:p>
          <a:p>
            <a:pPr lvl="0"/>
            <a:endParaRPr lang="en-US" sz="2400" dirty="0"/>
          </a:p>
          <a:p>
            <a:pPr lvl="0" algn="ctr">
              <a:buNone/>
            </a:pPr>
            <a:r>
              <a:rPr lang="en-US" sz="1200" dirty="0">
                <a:solidFill>
                  <a:schemeClr val="bg1"/>
                </a:solidFill>
              </a:rPr>
              <a:t>We are brave and confident to create/generate something  unpredictable </a:t>
            </a:r>
          </a:p>
          <a:p>
            <a:endParaRPr lang="en-US" dirty="0"/>
          </a:p>
        </p:txBody>
      </p:sp>
      <p:pic>
        <p:nvPicPr>
          <p:cNvPr id="16" name="Picture 15">
            <a:extLst>
              <a:ext uri="{FF2B5EF4-FFF2-40B4-BE49-F238E27FC236}">
                <a16:creationId xmlns:a16="http://schemas.microsoft.com/office/drawing/2014/main" id="{B2BAA25F-F2A2-E34E-807F-F40EBAF1912A}"/>
              </a:ext>
            </a:extLst>
          </p:cNvPr>
          <p:cNvPicPr>
            <a:picLocks noChangeAspect="1"/>
          </p:cNvPicPr>
          <p:nvPr/>
        </p:nvPicPr>
        <p:blipFill>
          <a:blip r:embed="rId2"/>
          <a:stretch>
            <a:fillRect/>
          </a:stretch>
        </p:blipFill>
        <p:spPr>
          <a:xfrm>
            <a:off x="5199235" y="162155"/>
            <a:ext cx="1189789" cy="1189789"/>
          </a:xfrm>
          <a:prstGeom prst="rect">
            <a:avLst/>
          </a:prstGeom>
        </p:spPr>
      </p:pic>
      <p:sp>
        <p:nvSpPr>
          <p:cNvPr id="17" name="TextBox 16">
            <a:extLst>
              <a:ext uri="{FF2B5EF4-FFF2-40B4-BE49-F238E27FC236}">
                <a16:creationId xmlns:a16="http://schemas.microsoft.com/office/drawing/2014/main" id="{3BB66E28-44CE-4E46-8E25-F62C27C7FF86}"/>
              </a:ext>
            </a:extLst>
          </p:cNvPr>
          <p:cNvSpPr txBox="1"/>
          <p:nvPr/>
        </p:nvSpPr>
        <p:spPr>
          <a:xfrm>
            <a:off x="4737582" y="1359182"/>
            <a:ext cx="2158996" cy="584775"/>
          </a:xfrm>
          <a:prstGeom prst="rect">
            <a:avLst/>
          </a:prstGeom>
          <a:noFill/>
        </p:spPr>
        <p:txBody>
          <a:bodyPr wrap="square" rtlCol="0">
            <a:spAutoFit/>
          </a:bodyPr>
          <a:lstStyle/>
          <a:p>
            <a:r>
              <a:rPr lang="en-US" sz="3200" b="1" dirty="0">
                <a:solidFill>
                  <a:schemeClr val="bg1"/>
                </a:solidFill>
                <a:latin typeface="Copperplate Gothic Bold" panose="020E0705020206020404" pitchFamily="34" charset="77"/>
              </a:rPr>
              <a:t>VALUES</a:t>
            </a:r>
          </a:p>
        </p:txBody>
      </p:sp>
      <p:pic>
        <p:nvPicPr>
          <p:cNvPr id="21" name="Picture 20">
            <a:extLst>
              <a:ext uri="{FF2B5EF4-FFF2-40B4-BE49-F238E27FC236}">
                <a16:creationId xmlns:a16="http://schemas.microsoft.com/office/drawing/2014/main" id="{BFACF061-D2C7-0B41-B965-C5CD2838E939}"/>
              </a:ext>
            </a:extLst>
          </p:cNvPr>
          <p:cNvPicPr>
            <a:picLocks noChangeAspect="1"/>
          </p:cNvPicPr>
          <p:nvPr/>
        </p:nvPicPr>
        <p:blipFill>
          <a:blip r:embed="rId3"/>
          <a:stretch>
            <a:fillRect/>
          </a:stretch>
        </p:blipFill>
        <p:spPr>
          <a:xfrm>
            <a:off x="2872984" y="2470001"/>
            <a:ext cx="1975357" cy="1315619"/>
          </a:xfrm>
          <a:prstGeom prst="ellipse">
            <a:avLst/>
          </a:prstGeom>
          <a:ln>
            <a:noFill/>
          </a:ln>
          <a:effectLst>
            <a:softEdge rad="112500"/>
          </a:effectLst>
        </p:spPr>
      </p:pic>
      <p:pic>
        <p:nvPicPr>
          <p:cNvPr id="23" name="Picture 22">
            <a:extLst>
              <a:ext uri="{FF2B5EF4-FFF2-40B4-BE49-F238E27FC236}">
                <a16:creationId xmlns:a16="http://schemas.microsoft.com/office/drawing/2014/main" id="{0FB4A301-47DD-944D-86C1-533C0F31E894}"/>
              </a:ext>
            </a:extLst>
          </p:cNvPr>
          <p:cNvPicPr>
            <a:picLocks noChangeAspect="1"/>
          </p:cNvPicPr>
          <p:nvPr/>
        </p:nvPicPr>
        <p:blipFill>
          <a:blip r:embed="rId4"/>
          <a:stretch>
            <a:fillRect/>
          </a:stretch>
        </p:blipFill>
        <p:spPr>
          <a:xfrm>
            <a:off x="4917790" y="2339421"/>
            <a:ext cx="1993789" cy="1495342"/>
          </a:xfrm>
          <a:prstGeom prst="ellipse">
            <a:avLst/>
          </a:prstGeom>
          <a:ln>
            <a:noFill/>
          </a:ln>
          <a:effectLst>
            <a:softEdge rad="112500"/>
          </a:effectLst>
        </p:spPr>
      </p:pic>
      <p:pic>
        <p:nvPicPr>
          <p:cNvPr id="27" name="Picture 26">
            <a:extLst>
              <a:ext uri="{FF2B5EF4-FFF2-40B4-BE49-F238E27FC236}">
                <a16:creationId xmlns:a16="http://schemas.microsoft.com/office/drawing/2014/main" id="{D74D716B-B284-D042-91AE-4F47E46E1BC7}"/>
              </a:ext>
            </a:extLst>
          </p:cNvPr>
          <p:cNvPicPr>
            <a:picLocks noChangeAspect="1"/>
          </p:cNvPicPr>
          <p:nvPr/>
        </p:nvPicPr>
        <p:blipFill>
          <a:blip r:embed="rId5"/>
          <a:stretch>
            <a:fillRect/>
          </a:stretch>
        </p:blipFill>
        <p:spPr>
          <a:xfrm>
            <a:off x="7107520" y="2132643"/>
            <a:ext cx="1686010" cy="1980308"/>
          </a:xfrm>
          <a:prstGeom prst="ellipse">
            <a:avLst/>
          </a:prstGeom>
          <a:ln>
            <a:noFill/>
          </a:ln>
          <a:effectLst>
            <a:softEdge rad="112500"/>
          </a:effectLst>
        </p:spPr>
      </p:pic>
      <p:pic>
        <p:nvPicPr>
          <p:cNvPr id="29" name="Picture 28">
            <a:extLst>
              <a:ext uri="{FF2B5EF4-FFF2-40B4-BE49-F238E27FC236}">
                <a16:creationId xmlns:a16="http://schemas.microsoft.com/office/drawing/2014/main" id="{6317E74C-599C-E340-8C24-4B7D83126CDD}"/>
              </a:ext>
            </a:extLst>
          </p:cNvPr>
          <p:cNvPicPr>
            <a:picLocks noChangeAspect="1"/>
          </p:cNvPicPr>
          <p:nvPr/>
        </p:nvPicPr>
        <p:blipFill>
          <a:blip r:embed="rId6"/>
          <a:stretch>
            <a:fillRect/>
          </a:stretch>
        </p:blipFill>
        <p:spPr>
          <a:xfrm>
            <a:off x="9004471" y="2490355"/>
            <a:ext cx="2018583" cy="1344408"/>
          </a:xfrm>
          <a:prstGeom prst="ellipse">
            <a:avLst/>
          </a:prstGeom>
          <a:ln>
            <a:noFill/>
          </a:ln>
          <a:effectLst>
            <a:softEdge rad="112500"/>
          </a:effectLst>
        </p:spPr>
      </p:pic>
      <p:pic>
        <p:nvPicPr>
          <p:cNvPr id="31" name="Picture 30">
            <a:extLst>
              <a:ext uri="{FF2B5EF4-FFF2-40B4-BE49-F238E27FC236}">
                <a16:creationId xmlns:a16="http://schemas.microsoft.com/office/drawing/2014/main" id="{C1710ABD-FB40-CF4A-B834-5B896F0FC36F}"/>
              </a:ext>
            </a:extLst>
          </p:cNvPr>
          <p:cNvPicPr>
            <a:picLocks noChangeAspect="1"/>
          </p:cNvPicPr>
          <p:nvPr/>
        </p:nvPicPr>
        <p:blipFill>
          <a:blip r:embed="rId7">
            <a:alphaModFix/>
          </a:blip>
          <a:stretch>
            <a:fillRect/>
          </a:stretch>
        </p:blipFill>
        <p:spPr>
          <a:xfrm>
            <a:off x="919143" y="2133790"/>
            <a:ext cx="1789335" cy="1789335"/>
          </a:xfrm>
          <a:prstGeom prst="ellipse">
            <a:avLst/>
          </a:prstGeom>
          <a:ln>
            <a:noFill/>
          </a:ln>
          <a:effectLst>
            <a:softEdge rad="112500"/>
          </a:effectLst>
        </p:spPr>
      </p:pic>
    </p:spTree>
    <p:extLst>
      <p:ext uri="{BB962C8B-B14F-4D97-AF65-F5344CB8AC3E}">
        <p14:creationId xmlns:p14="http://schemas.microsoft.com/office/powerpoint/2010/main" val="161088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1" grpId="0" animBg="1"/>
      <p:bldP spid="14" grpId="0"/>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p:cNvSpPr>
          <p:nvPr/>
        </p:nvSpPr>
        <p:spPr>
          <a:xfrm>
            <a:off x="1262078" y="197524"/>
            <a:ext cx="8302850" cy="738664"/>
          </a:xfrm>
          <a:prstGeom prst="rect">
            <a:avLst/>
          </a:prstGeom>
        </p:spPr>
        <p:txBody>
          <a:bodyPr vert="horz" wrap="none" lIns="0" tIns="0" rIns="0" bIns="0" rtlCol="0">
            <a:spAutoFit/>
          </a:bodyPr>
          <a:lstStyle/>
          <a:p>
            <a:pPr marL="12700"/>
            <a:r>
              <a:rPr lang="en-US" sz="4800" b="1" spc="-235" dirty="0">
                <a:solidFill>
                  <a:srgbClr val="FFFF00"/>
                </a:solidFill>
                <a:uFillTx/>
                <a:latin typeface="Arial" panose="020B0604020202020204" pitchFamily="34" charset="0"/>
                <a:cs typeface="Arial" panose="020B0604020202020204" pitchFamily="34" charset="0"/>
              </a:rPr>
              <a:t>SC WAVE PLAYERS </a:t>
            </a:r>
            <a:r>
              <a:rPr sz="4800" b="1" spc="-235" dirty="0">
                <a:solidFill>
                  <a:srgbClr val="FFFF00"/>
                </a:solidFill>
                <a:uFillTx/>
                <a:latin typeface="Arial" panose="020B0604020202020204" pitchFamily="34" charset="0"/>
                <a:cs typeface="Arial" panose="020B0604020202020204" pitchFamily="34" charset="0"/>
              </a:rPr>
              <a:t>P</a:t>
            </a:r>
            <a:r>
              <a:rPr sz="4800" b="1" spc="-300" dirty="0">
                <a:solidFill>
                  <a:srgbClr val="FFFF00"/>
                </a:solidFill>
                <a:uFillTx/>
                <a:latin typeface="Arial" panose="020B0604020202020204" pitchFamily="34" charset="0"/>
                <a:cs typeface="Arial" panose="020B0604020202020204" pitchFamily="34" charset="0"/>
              </a:rPr>
              <a:t>A</a:t>
            </a:r>
            <a:r>
              <a:rPr sz="4800" b="1" spc="-30" dirty="0">
                <a:solidFill>
                  <a:srgbClr val="FFFF00"/>
                </a:solidFill>
                <a:uFillTx/>
                <a:latin typeface="Arial" panose="020B0604020202020204" pitchFamily="34" charset="0"/>
                <a:cs typeface="Arial" panose="020B0604020202020204" pitchFamily="34" charset="0"/>
              </a:rPr>
              <a:t>TH</a:t>
            </a:r>
            <a:r>
              <a:rPr sz="4800" b="1" spc="-165" dirty="0">
                <a:solidFill>
                  <a:srgbClr val="FFFF00"/>
                </a:solidFill>
                <a:uFillTx/>
                <a:latin typeface="Arial" panose="020B0604020202020204" pitchFamily="34" charset="0"/>
                <a:cs typeface="Arial" panose="020B0604020202020204" pitchFamily="34" charset="0"/>
              </a:rPr>
              <a:t>W</a:t>
            </a:r>
            <a:r>
              <a:rPr sz="4800" b="1" spc="-310" dirty="0">
                <a:solidFill>
                  <a:srgbClr val="FFFF00"/>
                </a:solidFill>
                <a:uFillTx/>
                <a:latin typeface="Arial" panose="020B0604020202020204" pitchFamily="34" charset="0"/>
                <a:cs typeface="Arial" panose="020B0604020202020204" pitchFamily="34" charset="0"/>
              </a:rPr>
              <a:t>A</a:t>
            </a:r>
            <a:r>
              <a:rPr sz="4800" b="1" spc="-20" dirty="0">
                <a:solidFill>
                  <a:srgbClr val="FFFF00"/>
                </a:solidFill>
                <a:uFillTx/>
                <a:latin typeface="Arial" panose="020B0604020202020204" pitchFamily="34" charset="0"/>
                <a:cs typeface="Arial" panose="020B0604020202020204" pitchFamily="34" charset="0"/>
              </a:rPr>
              <a:t>Y</a:t>
            </a:r>
            <a:endParaRPr sz="4800" dirty="0">
              <a:solidFill>
                <a:srgbClr val="FFFF00"/>
              </a:solidFill>
              <a:uFillTx/>
              <a:latin typeface="Arial" panose="020B0604020202020204" pitchFamily="34" charset="0"/>
              <a:cs typeface="Arial" panose="020B0604020202020204" pitchFamily="34" charset="0"/>
            </a:endParaRPr>
          </a:p>
        </p:txBody>
      </p:sp>
      <p:graphicFrame>
        <p:nvGraphicFramePr>
          <p:cNvPr id="2" name="Diagram 1">
            <a:extLst>
              <a:ext uri="{FF2B5EF4-FFF2-40B4-BE49-F238E27FC236}">
                <a16:creationId xmlns:a16="http://schemas.microsoft.com/office/drawing/2014/main" id="{098B63EB-C731-8549-8FAB-6F96A77051A6}"/>
              </a:ext>
            </a:extLst>
          </p:cNvPr>
          <p:cNvGraphicFramePr/>
          <p:nvPr/>
        </p:nvGraphicFramePr>
        <p:xfrm>
          <a:off x="1560419" y="1285981"/>
          <a:ext cx="7706167" cy="51429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Up Arrow 4">
            <a:extLst>
              <a:ext uri="{FF2B5EF4-FFF2-40B4-BE49-F238E27FC236}">
                <a16:creationId xmlns:a16="http://schemas.microsoft.com/office/drawing/2014/main" id="{625E8F24-B48E-8442-9652-128A68E67CF2}"/>
              </a:ext>
            </a:extLst>
          </p:cNvPr>
          <p:cNvSpPr/>
          <p:nvPr/>
        </p:nvSpPr>
        <p:spPr>
          <a:xfrm>
            <a:off x="3494218" y="1804740"/>
            <a:ext cx="1075448" cy="4046610"/>
          </a:xfrm>
          <a:prstGeom prst="upArrow">
            <a:avLst/>
          </a:prstGeom>
          <a:solidFill>
            <a:srgbClr val="FFFF00"/>
          </a:solidFill>
          <a:ln w="666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6600">
                <a:solidFill>
                  <a:schemeClr val="accent2"/>
                </a:solidFill>
                <a:prstDash val="solid"/>
              </a:ln>
              <a:solidFill>
                <a:srgbClr val="FFFFFF"/>
              </a:solidFill>
              <a:effectLst>
                <a:outerShdw dist="38100" dir="2700000" algn="tl" rotWithShape="0">
                  <a:schemeClr val="accent2"/>
                </a:outerShdw>
              </a:effectLst>
            </a:endParaRPr>
          </a:p>
        </p:txBody>
      </p:sp>
      <p:pic>
        <p:nvPicPr>
          <p:cNvPr id="10" name="Picture 9">
            <a:extLst>
              <a:ext uri="{FF2B5EF4-FFF2-40B4-BE49-F238E27FC236}">
                <a16:creationId xmlns:a16="http://schemas.microsoft.com/office/drawing/2014/main" id="{530C5490-6FBC-DA44-AF34-6F85C8FAA117}"/>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10000" b="90000" l="10000" r="90000">
                        <a14:foregroundMark x1="53688" y1="75985" x2="53688" y2="75985"/>
                        <a14:foregroundMark x1="55500" y1="75797" x2="55500" y2="75797"/>
                        <a14:foregroundMark x1="55500" y1="73921" x2="55500" y2="73921"/>
                        <a14:foregroundMark x1="66188" y1="72889" x2="66188" y2="72889"/>
                        <a14:foregroundMark x1="50625" y1="19043" x2="50625" y2="19043"/>
                        <a14:foregroundMark x1="52063" y1="18011" x2="52063" y2="18011"/>
                        <a14:foregroundMark x1="36688" y1="74109" x2="36688" y2="74109"/>
                        <a14:foregroundMark x1="36000" y1="77111" x2="36000" y2="77111"/>
                        <a14:foregroundMark x1="37188" y1="78143" x2="37188" y2="78143"/>
                        <a14:foregroundMark x1="36250" y1="79550" x2="36250" y2="79550"/>
                        <a14:foregroundMark x1="35125" y1="79174" x2="35125" y2="79174"/>
                        <a14:foregroundMark x1="34188" y1="78518" x2="34188" y2="78518"/>
                        <a14:foregroundMark x1="36813" y1="80019" x2="36813" y2="80019"/>
                        <a14:foregroundMark x1="37938" y1="79174" x2="37938" y2="79174"/>
                        <a14:foregroundMark x1="38563" y1="78330" x2="38563" y2="78330"/>
                        <a14:foregroundMark x1="46750" y1="45028" x2="46750" y2="45028"/>
                        <a14:foregroundMark x1="36813" y1="74953" x2="36813" y2="74953"/>
                        <a14:foregroundMark x1="49375" y1="20169" x2="49375" y2="20169"/>
                        <a14:foregroundMark x1="38875" y1="77674" x2="38875" y2="77674"/>
                        <a14:foregroundMark x1="39125" y1="77017" x2="39125" y2="77017"/>
                        <a14:foregroundMark x1="37250" y1="80582" x2="37250" y2="80582"/>
                        <a14:foregroundMark x1="35938" y1="80863" x2="35938" y2="80863"/>
                        <a14:foregroundMark x1="35000" y1="81051" x2="35000" y2="81051"/>
                        <a14:foregroundMark x1="33750" y1="80394" x2="33750" y2="80394"/>
                        <a14:foregroundMark x1="47063" y1="36492" x2="47063" y2="36492"/>
                        <a14:foregroundMark x1="47313" y1="33583" x2="47313" y2="33583"/>
                        <a14:backgroundMark x1="22250" y1="46060" x2="22250" y2="46060"/>
                        <a14:backgroundMark x1="20875" y1="38649" x2="20875" y2="38649"/>
                        <a14:backgroundMark x1="20438" y1="38180" x2="20438" y2="38180"/>
                        <a14:backgroundMark x1="17563" y1="35084" x2="17563" y2="35084"/>
                        <a14:backgroundMark x1="17125" y1="34428" x2="17125" y2="34428"/>
                        <a14:backgroundMark x1="25563" y1="34240" x2="25563" y2="34240"/>
                        <a14:backgroundMark x1="21188" y1="34897" x2="21188" y2="34897"/>
                        <a14:backgroundMark x1="19250" y1="35272" x2="19250" y2="35272"/>
                        <a14:backgroundMark x1="18688" y1="35272" x2="19375" y2="35460"/>
                        <a14:backgroundMark x1="28750" y1="35272" x2="28750" y2="35272"/>
                        <a14:backgroundMark x1="29063" y1="35272" x2="29563" y2="35460"/>
                        <a14:backgroundMark x1="34188" y1="53002" x2="34188" y2="53002"/>
                        <a14:backgroundMark x1="36688" y1="50938" x2="36688" y2="50938"/>
                        <a14:backgroundMark x1="35563" y1="38462" x2="35563" y2="38462"/>
                        <a14:backgroundMark x1="35563" y1="34709" x2="35563" y2="34709"/>
                        <a14:backgroundMark x1="32813" y1="35272" x2="32813" y2="35272"/>
                        <a14:backgroundMark x1="33750" y1="42402" x2="33750" y2="42402"/>
                        <a14:backgroundMark x1="67813" y1="39400" x2="67813" y2="39400"/>
                        <a14:backgroundMark x1="54937" y1="60694" x2="54937" y2="60694"/>
                        <a14:backgroundMark x1="57563" y1="57786" x2="57563" y2="57786"/>
                        <a14:backgroundMark x1="58438" y1="60038" x2="58438" y2="60038"/>
                        <a14:backgroundMark x1="59625" y1="59568" x2="59625" y2="59568"/>
                        <a14:backgroundMark x1="57000" y1="56942" x2="57000" y2="56942"/>
                        <a14:backgroundMark x1="56313" y1="55253" x2="56313" y2="55253"/>
                        <a14:backgroundMark x1="40375" y1="43433" x2="40375" y2="43433"/>
                        <a14:backgroundMark x1="37188" y1="41370" x2="37188" y2="41370"/>
                        <a14:backgroundMark x1="34000" y1="39024" x2="34000" y2="39024"/>
                        <a14:backgroundMark x1="38625" y1="37336" x2="38625" y2="37336"/>
                        <a14:backgroundMark x1="41063" y1="44653" x2="41063" y2="44653"/>
                        <a14:backgroundMark x1="43000" y1="42589" x2="43000" y2="42589"/>
                        <a14:backgroundMark x1="44250" y1="47373" x2="44250" y2="47373"/>
                        <a14:backgroundMark x1="48875" y1="39681" x2="48875" y2="39681"/>
                        <a14:backgroundMark x1="48813" y1="38368" x2="48813" y2="38368"/>
                        <a14:backgroundMark x1="48688" y1="49812" x2="48688" y2="49812"/>
                        <a14:backgroundMark x1="48125" y1="44465" x2="48125" y2="44465"/>
                        <a14:backgroundMark x1="49813" y1="44465" x2="49813" y2="44465"/>
                        <a14:backgroundMark x1="49375" y1="60038" x2="49375" y2="60038"/>
                        <a14:backgroundMark x1="49250" y1="59006" x2="49250" y2="59006"/>
                        <a14:backgroundMark x1="50250" y1="61538" x2="50250" y2="61538"/>
                        <a14:backgroundMark x1="53000" y1="60413" x2="53000" y2="60413"/>
                        <a14:backgroundMark x1="62813" y1="52908" x2="62813" y2="52908"/>
                        <a14:backgroundMark x1="39875" y1="34897" x2="39875" y2="34897"/>
                        <a14:backgroundMark x1="37063" y1="75797" x2="37063" y2="75797"/>
                        <a14:backgroundMark x1="36688" y1="73077" x2="36688" y2="73077"/>
                        <a14:backgroundMark x1="36375" y1="77674" x2="36375" y2="77674"/>
                        <a14:backgroundMark x1="34688" y1="75422" x2="34688" y2="75422"/>
                        <a14:backgroundMark x1="34313" y1="77861" x2="34313" y2="77861"/>
                        <a14:backgroundMark x1="37188" y1="79550" x2="37188" y2="79550"/>
                        <a14:backgroundMark x1="37938" y1="77111" x2="37938" y2="77111"/>
                        <a14:backgroundMark x1="37500" y1="78893" x2="37500" y2="78893"/>
                        <a14:backgroundMark x1="37750" y1="76266" x2="37750" y2="76266"/>
                        <a14:backgroundMark x1="36938" y1="80769" x2="36938" y2="80769"/>
                        <a14:backgroundMark x1="35938" y1="82458" x2="35938" y2="82458"/>
                        <a14:backgroundMark x1="36500" y1="80394" x2="36500" y2="80394"/>
                        <a14:backgroundMark x1="34188" y1="80206" x2="34188" y2="80206"/>
                        <a14:backgroundMark x1="33750" y1="80206" x2="33750" y2="80206"/>
                        <a14:backgroundMark x1="34438" y1="79174" x2="34438" y2="79174"/>
                        <a14:backgroundMark x1="35688" y1="78518" x2="35688" y2="78518"/>
                        <a14:backgroundMark x1="37875" y1="79925" x2="37875" y2="79925"/>
                        <a14:backgroundMark x1="37938" y1="80769" x2="37938" y2="80769"/>
                        <a14:backgroundMark x1="38188" y1="77298" x2="38188" y2="77298"/>
                        <a14:backgroundMark x1="38188" y1="75235" x2="38188" y2="75235"/>
                        <a14:backgroundMark x1="38438" y1="75985" x2="38438" y2="75985"/>
                        <a14:backgroundMark x1="38563" y1="77111" x2="38563" y2="77111"/>
                        <a14:backgroundMark x1="38563" y1="78893" x2="38563" y2="78893"/>
                        <a14:backgroundMark x1="38750" y1="81614" x2="38750" y2="81614"/>
                        <a14:backgroundMark x1="35938" y1="79737" x2="35938" y2="79737"/>
                        <a14:backgroundMark x1="35125" y1="78143" x2="35125" y2="78143"/>
                        <a14:backgroundMark x1="34063" y1="77861" x2="34063" y2="77861"/>
                        <a14:backgroundMark x1="48875" y1="37617" x2="48875" y2="37617"/>
                        <a14:backgroundMark x1="49438" y1="38649" x2="49438" y2="38649"/>
                        <a14:backgroundMark x1="38063" y1="78143" x2="38063" y2="78143"/>
                        <a14:backgroundMark x1="38375" y1="75704" x2="38375" y2="75704"/>
                        <a14:backgroundMark x1="38250" y1="75235" x2="38250" y2="75235"/>
                        <a14:backgroundMark x1="36188" y1="77767" x2="36188" y2="77767"/>
                        <a14:backgroundMark x1="36125" y1="77955" x2="36125" y2="77955"/>
                        <a14:backgroundMark x1="36875" y1="78143" x2="36875" y2="78143"/>
                        <a14:backgroundMark x1="36563" y1="76454" x2="36563" y2="76454"/>
                        <a14:backgroundMark x1="36563" y1="76923" x2="36563" y2="76923"/>
                        <a14:backgroundMark x1="36563" y1="76454" x2="36563" y2="76454"/>
                        <a14:backgroundMark x1="36688" y1="77955" x2="36688" y2="77955"/>
                        <a14:backgroundMark x1="38938" y1="75235" x2="38938" y2="75235"/>
                        <a14:backgroundMark x1="72563" y1="48218" x2="72563" y2="48218"/>
                        <a14:backgroundMark x1="66500" y1="42214" x2="66500" y2="42214"/>
                      </a14:backgroundRemoval>
                    </a14:imgEffect>
                  </a14:imgLayer>
                </a14:imgProps>
              </a:ext>
            </a:extLst>
          </a:blip>
          <a:srcRect l="41642" t="10912" r="28583" b="15126"/>
          <a:stretch/>
        </p:blipFill>
        <p:spPr>
          <a:xfrm>
            <a:off x="332252" y="1179256"/>
            <a:ext cx="3025232" cy="5006568"/>
          </a:xfrm>
          <a:prstGeom prst="rect">
            <a:avLst/>
          </a:prstGeom>
        </p:spPr>
      </p:pic>
      <p:pic>
        <p:nvPicPr>
          <p:cNvPr id="12" name="Picture 11">
            <a:extLst>
              <a:ext uri="{FF2B5EF4-FFF2-40B4-BE49-F238E27FC236}">
                <a16:creationId xmlns:a16="http://schemas.microsoft.com/office/drawing/2014/main" id="{E4D071B0-F514-674C-A5A4-0666B1EADC30}"/>
              </a:ext>
            </a:extLst>
          </p:cNvPr>
          <p:cNvPicPr>
            <a:picLocks noChangeAspect="1"/>
          </p:cNvPicPr>
          <p:nvPr/>
        </p:nvPicPr>
        <p:blipFill rotWithShape="1">
          <a:blip r:embed="rId10">
            <a:extLst>
              <a:ext uri="{BEBA8EAE-BF5A-486C-A8C5-ECC9F3942E4B}">
                <a14:imgProps xmlns:a14="http://schemas.microsoft.com/office/drawing/2010/main">
                  <a14:imgLayer r:embed="rId11">
                    <a14:imgEffect>
                      <a14:backgroundRemoval t="25313" b="77125" l="5413" r="94993">
                        <a14:backgroundMark x1="58999" y1="53500" x2="58999" y2="53500"/>
                        <a14:backgroundMark x1="42490" y1="32063" x2="42490" y2="32063"/>
                        <a14:backgroundMark x1="43302" y1="33250" x2="43302" y2="33250"/>
                      </a14:backgroundRemoval>
                    </a14:imgEffect>
                  </a14:imgLayer>
                </a14:imgProps>
              </a:ext>
            </a:extLst>
          </a:blip>
          <a:srcRect t="23453" b="21844"/>
          <a:stretch/>
        </p:blipFill>
        <p:spPr>
          <a:xfrm>
            <a:off x="8301772" y="1484494"/>
            <a:ext cx="3570078" cy="4234046"/>
          </a:xfrm>
          <a:prstGeom prst="rect">
            <a:avLst/>
          </a:prstGeom>
        </p:spPr>
      </p:pic>
    </p:spTree>
    <p:extLst>
      <p:ext uri="{BB962C8B-B14F-4D97-AF65-F5344CB8AC3E}">
        <p14:creationId xmlns:p14="http://schemas.microsoft.com/office/powerpoint/2010/main" val="120179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E8D6-2CA8-994B-A94D-998BA142B448}"/>
              </a:ext>
            </a:extLst>
          </p:cNvPr>
          <p:cNvSpPr>
            <a:spLocks noGrp="1"/>
          </p:cNvSpPr>
          <p:nvPr>
            <p:ph type="ctrTitle"/>
          </p:nvPr>
        </p:nvSpPr>
        <p:spPr/>
        <p:txBody>
          <a:bodyPr/>
          <a:lstStyle/>
          <a:p>
            <a:r>
              <a:rPr lang="en-US" dirty="0">
                <a:solidFill>
                  <a:srgbClr val="FFFF00"/>
                </a:solidFill>
              </a:rPr>
              <a:t>TRAINING ENVIRONMENT</a:t>
            </a:r>
          </a:p>
        </p:txBody>
      </p:sp>
      <p:graphicFrame>
        <p:nvGraphicFramePr>
          <p:cNvPr id="4" name="Diagram 3">
            <a:extLst>
              <a:ext uri="{FF2B5EF4-FFF2-40B4-BE49-F238E27FC236}">
                <a16:creationId xmlns:a16="http://schemas.microsoft.com/office/drawing/2014/main" id="{D8198DD2-0BA2-C445-8DA7-668899F2421E}"/>
              </a:ext>
            </a:extLst>
          </p:cNvPr>
          <p:cNvGraphicFramePr/>
          <p:nvPr/>
        </p:nvGraphicFramePr>
        <p:xfrm>
          <a:off x="240021" y="1756228"/>
          <a:ext cx="11821349" cy="9579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E269D652-C938-D845-8C4E-631A053FA8CA}"/>
              </a:ext>
            </a:extLst>
          </p:cNvPr>
          <p:cNvGraphicFramePr>
            <a:graphicFrameLocks noGrp="1"/>
          </p:cNvGraphicFramePr>
          <p:nvPr/>
        </p:nvGraphicFramePr>
        <p:xfrm>
          <a:off x="240021" y="1147519"/>
          <a:ext cx="3565914" cy="370840"/>
        </p:xfrm>
        <a:graphic>
          <a:graphicData uri="http://schemas.openxmlformats.org/drawingml/2006/table">
            <a:tbl>
              <a:tblPr firstRow="1" bandRow="1"/>
              <a:tblGrid>
                <a:gridCol w="703408">
                  <a:extLst>
                    <a:ext uri="{9D8B030D-6E8A-4147-A177-3AD203B41FA5}">
                      <a16:colId xmlns:a16="http://schemas.microsoft.com/office/drawing/2014/main" val="3385426953"/>
                    </a:ext>
                  </a:extLst>
                </a:gridCol>
                <a:gridCol w="1030514">
                  <a:extLst>
                    <a:ext uri="{9D8B030D-6E8A-4147-A177-3AD203B41FA5}">
                      <a16:colId xmlns:a16="http://schemas.microsoft.com/office/drawing/2014/main" val="2900762829"/>
                    </a:ext>
                  </a:extLst>
                </a:gridCol>
                <a:gridCol w="798286">
                  <a:extLst>
                    <a:ext uri="{9D8B030D-6E8A-4147-A177-3AD203B41FA5}">
                      <a16:colId xmlns:a16="http://schemas.microsoft.com/office/drawing/2014/main" val="1345781482"/>
                    </a:ext>
                  </a:extLst>
                </a:gridCol>
                <a:gridCol w="1033706">
                  <a:extLst>
                    <a:ext uri="{9D8B030D-6E8A-4147-A177-3AD203B41FA5}">
                      <a16:colId xmlns:a16="http://schemas.microsoft.com/office/drawing/2014/main" val="89976903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FFFF00"/>
                          </a:solidFill>
                        </a:rPr>
                        <a:t>August</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September </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October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November </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25480087"/>
                  </a:ext>
                </a:extLst>
              </a:tr>
            </a:tbl>
          </a:graphicData>
        </a:graphic>
      </p:graphicFrame>
      <p:graphicFrame>
        <p:nvGraphicFramePr>
          <p:cNvPr id="6" name="Table 8">
            <a:extLst>
              <a:ext uri="{FF2B5EF4-FFF2-40B4-BE49-F238E27FC236}">
                <a16:creationId xmlns:a16="http://schemas.microsoft.com/office/drawing/2014/main" id="{CCC1604F-0E8D-5D44-B40F-924F3006EF9F}"/>
              </a:ext>
            </a:extLst>
          </p:cNvPr>
          <p:cNvGraphicFramePr>
            <a:graphicFrameLocks noGrp="1"/>
          </p:cNvGraphicFramePr>
          <p:nvPr/>
        </p:nvGraphicFramePr>
        <p:xfrm>
          <a:off x="7939162" y="1147519"/>
          <a:ext cx="3983789" cy="370840"/>
        </p:xfrm>
        <a:graphic>
          <a:graphicData uri="http://schemas.openxmlformats.org/drawingml/2006/table">
            <a:tbl>
              <a:tblPr firstRow="1" bandRow="1"/>
              <a:tblGrid>
                <a:gridCol w="1301548">
                  <a:extLst>
                    <a:ext uri="{9D8B030D-6E8A-4147-A177-3AD203B41FA5}">
                      <a16:colId xmlns:a16="http://schemas.microsoft.com/office/drawing/2014/main" val="85942220"/>
                    </a:ext>
                  </a:extLst>
                </a:gridCol>
                <a:gridCol w="1267633">
                  <a:extLst>
                    <a:ext uri="{9D8B030D-6E8A-4147-A177-3AD203B41FA5}">
                      <a16:colId xmlns:a16="http://schemas.microsoft.com/office/drawing/2014/main" val="3783983798"/>
                    </a:ext>
                  </a:extLst>
                </a:gridCol>
                <a:gridCol w="1414608">
                  <a:extLst>
                    <a:ext uri="{9D8B030D-6E8A-4147-A177-3AD203B41FA5}">
                      <a16:colId xmlns:a16="http://schemas.microsoft.com/office/drawing/2014/main" val="1526167159"/>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dirty="0">
                          <a:solidFill>
                            <a:srgbClr val="FFFF00"/>
                          </a:solidFill>
                        </a:rPr>
                        <a:t>April</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dirty="0">
                          <a:solidFill>
                            <a:srgbClr val="FFFF00"/>
                          </a:solidFill>
                        </a:rPr>
                        <a:t>May</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dirty="0">
                          <a:solidFill>
                            <a:srgbClr val="FFFF00"/>
                          </a:solidFill>
                        </a:rPr>
                        <a:t>June</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346229136"/>
                  </a:ext>
                </a:extLst>
              </a:tr>
            </a:tbl>
          </a:graphicData>
        </a:graphic>
      </p:graphicFrame>
      <p:graphicFrame>
        <p:nvGraphicFramePr>
          <p:cNvPr id="7" name="Table 10">
            <a:extLst>
              <a:ext uri="{FF2B5EF4-FFF2-40B4-BE49-F238E27FC236}">
                <a16:creationId xmlns:a16="http://schemas.microsoft.com/office/drawing/2014/main" id="{8BDD2346-6EDF-7543-9DDD-E08456613D0F}"/>
              </a:ext>
            </a:extLst>
          </p:cNvPr>
          <p:cNvGraphicFramePr>
            <a:graphicFrameLocks noGrp="1"/>
          </p:cNvGraphicFramePr>
          <p:nvPr/>
        </p:nvGraphicFramePr>
        <p:xfrm>
          <a:off x="3969276" y="1147519"/>
          <a:ext cx="3791285" cy="370840"/>
        </p:xfrm>
        <a:graphic>
          <a:graphicData uri="http://schemas.openxmlformats.org/drawingml/2006/table">
            <a:tbl>
              <a:tblPr firstRow="1" bandRow="1"/>
              <a:tblGrid>
                <a:gridCol w="980096">
                  <a:extLst>
                    <a:ext uri="{9D8B030D-6E8A-4147-A177-3AD203B41FA5}">
                      <a16:colId xmlns:a16="http://schemas.microsoft.com/office/drawing/2014/main" val="1335601184"/>
                    </a:ext>
                  </a:extLst>
                </a:gridCol>
                <a:gridCol w="928914">
                  <a:extLst>
                    <a:ext uri="{9D8B030D-6E8A-4147-A177-3AD203B41FA5}">
                      <a16:colId xmlns:a16="http://schemas.microsoft.com/office/drawing/2014/main" val="3609769005"/>
                    </a:ext>
                  </a:extLst>
                </a:gridCol>
                <a:gridCol w="1060693">
                  <a:extLst>
                    <a:ext uri="{9D8B030D-6E8A-4147-A177-3AD203B41FA5}">
                      <a16:colId xmlns:a16="http://schemas.microsoft.com/office/drawing/2014/main" val="2748734147"/>
                    </a:ext>
                  </a:extLst>
                </a:gridCol>
                <a:gridCol w="821582">
                  <a:extLst>
                    <a:ext uri="{9D8B030D-6E8A-4147-A177-3AD203B41FA5}">
                      <a16:colId xmlns:a16="http://schemas.microsoft.com/office/drawing/2014/main" val="3900667917"/>
                    </a:ext>
                  </a:extLst>
                </a:gridCol>
              </a:tblGrid>
              <a:tr h="37084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December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January </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400" b="1" dirty="0">
                          <a:solidFill>
                            <a:srgbClr val="FFFF00"/>
                          </a:solidFill>
                        </a:rPr>
                        <a:t>February </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tc>
                  <a:txBody>
                    <a:bodyPr/>
                    <a:lstStyle/>
                    <a:p>
                      <a:pPr algn="ctr"/>
                      <a:r>
                        <a:rPr lang="en-US" sz="1400" b="1" dirty="0">
                          <a:solidFill>
                            <a:srgbClr val="FFFF00"/>
                          </a:solidFill>
                        </a:rPr>
                        <a:t>March</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34399823"/>
                  </a:ext>
                </a:extLst>
              </a:tr>
            </a:tbl>
          </a:graphicData>
        </a:graphic>
      </p:graphicFrame>
      <p:sp>
        <p:nvSpPr>
          <p:cNvPr id="9" name="TextBox 8">
            <a:extLst>
              <a:ext uri="{FF2B5EF4-FFF2-40B4-BE49-F238E27FC236}">
                <a16:creationId xmlns:a16="http://schemas.microsoft.com/office/drawing/2014/main" id="{495A2696-D7D7-7247-A2D0-7D4862B32C8A}"/>
              </a:ext>
            </a:extLst>
          </p:cNvPr>
          <p:cNvSpPr txBox="1"/>
          <p:nvPr/>
        </p:nvSpPr>
        <p:spPr>
          <a:xfrm>
            <a:off x="469067" y="2850441"/>
            <a:ext cx="3107822" cy="3693319"/>
          </a:xfrm>
          <a:prstGeom prst="rect">
            <a:avLst/>
          </a:prstGeom>
          <a:solidFill>
            <a:schemeClr val="tx1"/>
          </a:solidFill>
          <a:ln>
            <a:solidFill>
              <a:srgbClr val="FFFF00"/>
            </a:solidFill>
          </a:ln>
        </p:spPr>
        <p:txBody>
          <a:bodyPr wrap="square" lIns="0" tIns="0" rIns="0" bIns="0" rtlCol="0">
            <a:spAutoFit/>
          </a:bodyPr>
          <a:lstStyle/>
          <a:p>
            <a:pPr algn="ctr"/>
            <a:r>
              <a:rPr lang="en-US" b="1" dirty="0">
                <a:solidFill>
                  <a:schemeClr val="bg1"/>
                </a:solidFill>
              </a:rPr>
              <a:t>4 SESSIONS PER WEEK</a:t>
            </a:r>
          </a:p>
          <a:p>
            <a:pPr algn="ct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Mon: </a:t>
            </a:r>
            <a:r>
              <a:rPr lang="en-US" sz="1600" dirty="0">
                <a:solidFill>
                  <a:schemeClr val="bg1"/>
                </a:solidFill>
              </a:rPr>
              <a:t>Recovery Day – technical/skill day (free play). Tactical Focus (Individual)</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 </a:t>
            </a:r>
            <a:r>
              <a:rPr lang="en-US" sz="1600" b="1" dirty="0">
                <a:solidFill>
                  <a:srgbClr val="FFFF00"/>
                </a:solidFill>
              </a:rPr>
              <a:t>Tues/Wed: </a:t>
            </a:r>
            <a:r>
              <a:rPr lang="en-US" sz="1600" dirty="0">
                <a:solidFill>
                  <a:schemeClr val="bg1"/>
                </a:solidFill>
              </a:rPr>
              <a:t>Tactical Focus (Group/Team)</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Thurs: </a:t>
            </a:r>
            <a:r>
              <a:rPr lang="en-US" sz="1600" dirty="0">
                <a:solidFill>
                  <a:schemeClr val="bg1"/>
                </a:solidFill>
              </a:rPr>
              <a:t>Organizational Sessions (set pieces/plays, patterns, detail oriented, Game Preparation)</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Location: </a:t>
            </a:r>
            <a:r>
              <a:rPr lang="en-US" sz="1600" dirty="0">
                <a:solidFill>
                  <a:schemeClr val="bg1"/>
                </a:solidFill>
              </a:rPr>
              <a:t>Brookfield and/or Franklin, WI</a:t>
            </a:r>
          </a:p>
        </p:txBody>
      </p:sp>
      <p:sp>
        <p:nvSpPr>
          <p:cNvPr id="10" name="TextBox 9">
            <a:extLst>
              <a:ext uri="{FF2B5EF4-FFF2-40B4-BE49-F238E27FC236}">
                <a16:creationId xmlns:a16="http://schemas.microsoft.com/office/drawing/2014/main" id="{C03917D1-6672-1145-A257-328FBA1BF73D}"/>
              </a:ext>
            </a:extLst>
          </p:cNvPr>
          <p:cNvSpPr txBox="1"/>
          <p:nvPr/>
        </p:nvSpPr>
        <p:spPr>
          <a:xfrm>
            <a:off x="4311007" y="2847208"/>
            <a:ext cx="3107822" cy="3693319"/>
          </a:xfrm>
          <a:prstGeom prst="rect">
            <a:avLst/>
          </a:prstGeom>
          <a:solidFill>
            <a:schemeClr val="tx1"/>
          </a:solidFill>
          <a:ln>
            <a:solidFill>
              <a:srgbClr val="FFFF00"/>
            </a:solidFill>
          </a:ln>
        </p:spPr>
        <p:txBody>
          <a:bodyPr wrap="square" lIns="0" tIns="0" rIns="0" bIns="0" rtlCol="0">
            <a:spAutoFit/>
          </a:bodyPr>
          <a:lstStyle/>
          <a:p>
            <a:pPr algn="ctr"/>
            <a:r>
              <a:rPr lang="en-US" b="1" dirty="0">
                <a:solidFill>
                  <a:schemeClr val="bg1"/>
                </a:solidFill>
              </a:rPr>
              <a:t>2-3 SESSIONS PER WEEK</a:t>
            </a:r>
          </a:p>
          <a:p>
            <a:pPr algn="ct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U13 &amp; U14: </a:t>
            </a:r>
            <a:r>
              <a:rPr lang="en-US" sz="1600" b="1" dirty="0">
                <a:solidFill>
                  <a:schemeClr val="bg1"/>
                </a:solidFill>
              </a:rPr>
              <a:t>Futsal Training 1x week (focus on technical and tactical benefits translation to the outdoor game)</a:t>
            </a: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Video Sessions &amp; EXOS: </a:t>
            </a:r>
            <a:r>
              <a:rPr lang="en-US" sz="1600" dirty="0">
                <a:solidFill>
                  <a:schemeClr val="bg1"/>
                </a:solidFill>
              </a:rPr>
              <a:t>Speed/Agility/Strength Program  </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SC Wave Winter League: </a:t>
            </a:r>
            <a:r>
              <a:rPr lang="en-US" sz="1600" dirty="0">
                <a:solidFill>
                  <a:schemeClr val="bg1"/>
                </a:solidFill>
              </a:rPr>
              <a:t>7-8 Games hosted at MOSH </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Location: </a:t>
            </a:r>
            <a:r>
              <a:rPr lang="en-US" sz="1600" dirty="0">
                <a:solidFill>
                  <a:schemeClr val="bg1"/>
                </a:solidFill>
              </a:rPr>
              <a:t>MOSH (Franklin) and New Berlin, WI</a:t>
            </a:r>
          </a:p>
        </p:txBody>
      </p:sp>
      <p:sp>
        <p:nvSpPr>
          <p:cNvPr id="11" name="TextBox 10">
            <a:extLst>
              <a:ext uri="{FF2B5EF4-FFF2-40B4-BE49-F238E27FC236}">
                <a16:creationId xmlns:a16="http://schemas.microsoft.com/office/drawing/2014/main" id="{E47D860F-371F-7A43-AE72-792719EBE489}"/>
              </a:ext>
            </a:extLst>
          </p:cNvPr>
          <p:cNvSpPr txBox="1"/>
          <p:nvPr/>
        </p:nvSpPr>
        <p:spPr>
          <a:xfrm>
            <a:off x="8377145" y="2847209"/>
            <a:ext cx="3107822" cy="3693319"/>
          </a:xfrm>
          <a:prstGeom prst="rect">
            <a:avLst/>
          </a:prstGeom>
          <a:solidFill>
            <a:schemeClr val="tx1"/>
          </a:solidFill>
          <a:ln>
            <a:solidFill>
              <a:srgbClr val="FFFF00"/>
            </a:solidFill>
          </a:ln>
        </p:spPr>
        <p:txBody>
          <a:bodyPr wrap="square" lIns="0" tIns="0" rIns="0" bIns="0" rtlCol="0">
            <a:spAutoFit/>
          </a:bodyPr>
          <a:lstStyle/>
          <a:p>
            <a:pPr algn="ctr"/>
            <a:r>
              <a:rPr lang="en-US" b="1" dirty="0">
                <a:solidFill>
                  <a:schemeClr val="bg1"/>
                </a:solidFill>
              </a:rPr>
              <a:t>4 SESSIONS PER WEEK</a:t>
            </a:r>
          </a:p>
          <a:p>
            <a:pPr algn="ct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Mon: </a:t>
            </a:r>
            <a:r>
              <a:rPr lang="en-US" sz="1600" dirty="0">
                <a:solidFill>
                  <a:schemeClr val="bg1"/>
                </a:solidFill>
              </a:rPr>
              <a:t>Recovery Day – technical/skill day (free play). Tactical Focus (Individual)</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 </a:t>
            </a:r>
            <a:r>
              <a:rPr lang="en-US" sz="1600" b="1" dirty="0">
                <a:solidFill>
                  <a:srgbClr val="FFFF00"/>
                </a:solidFill>
              </a:rPr>
              <a:t>Tues/Wed: </a:t>
            </a:r>
            <a:r>
              <a:rPr lang="en-US" sz="1600" dirty="0">
                <a:solidFill>
                  <a:schemeClr val="bg1"/>
                </a:solidFill>
              </a:rPr>
              <a:t>Tactical Focus (Group/Team)</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Thurs: </a:t>
            </a:r>
            <a:r>
              <a:rPr lang="en-US" sz="1600" dirty="0">
                <a:solidFill>
                  <a:schemeClr val="bg1"/>
                </a:solidFill>
              </a:rPr>
              <a:t>Organizational Sessions (set pieces/plays, patterns, detail oriented, Game Preparation)</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b="1" dirty="0">
                <a:solidFill>
                  <a:srgbClr val="FFFF00"/>
                </a:solidFill>
              </a:rPr>
              <a:t>Location: </a:t>
            </a:r>
            <a:r>
              <a:rPr lang="en-US" sz="1600" dirty="0">
                <a:solidFill>
                  <a:schemeClr val="bg1"/>
                </a:solidFill>
              </a:rPr>
              <a:t>Brookfield and/or Franklin, WI</a:t>
            </a:r>
          </a:p>
        </p:txBody>
      </p:sp>
      <p:pic>
        <p:nvPicPr>
          <p:cNvPr id="12" name="Picture 11">
            <a:extLst>
              <a:ext uri="{FF2B5EF4-FFF2-40B4-BE49-F238E27FC236}">
                <a16:creationId xmlns:a16="http://schemas.microsoft.com/office/drawing/2014/main" id="{1FEA6FA4-6F2F-6E49-BC15-1A4C1DBBDA95}"/>
              </a:ext>
            </a:extLst>
          </p:cNvPr>
          <p:cNvPicPr>
            <a:picLocks noChangeAspect="1"/>
          </p:cNvPicPr>
          <p:nvPr/>
        </p:nvPicPr>
        <p:blipFill>
          <a:blip r:embed="rId7"/>
          <a:stretch>
            <a:fillRect/>
          </a:stretch>
        </p:blipFill>
        <p:spPr>
          <a:xfrm>
            <a:off x="1750208" y="72721"/>
            <a:ext cx="1036017" cy="1036017"/>
          </a:xfrm>
          <a:prstGeom prst="rect">
            <a:avLst/>
          </a:prstGeom>
        </p:spPr>
      </p:pic>
    </p:spTree>
    <p:extLst>
      <p:ext uri="{BB962C8B-B14F-4D97-AF65-F5344CB8AC3E}">
        <p14:creationId xmlns:p14="http://schemas.microsoft.com/office/powerpoint/2010/main" val="302623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E3AB56C-27DE-5046-830D-F74844B8E7EC}"/>
              </a:ext>
            </a:extLst>
          </p:cNvPr>
          <p:cNvPicPr>
            <a:picLocks noChangeAspect="1"/>
          </p:cNvPicPr>
          <p:nvPr/>
        </p:nvPicPr>
        <p:blipFill>
          <a:blip r:embed="rId2">
            <a:alphaModFix amt="20000"/>
          </a:blip>
          <a:stretch>
            <a:fillRect/>
          </a:stretch>
        </p:blipFill>
        <p:spPr>
          <a:xfrm>
            <a:off x="2424825" y="69978"/>
            <a:ext cx="6656877" cy="6656877"/>
          </a:xfrm>
          <a:prstGeom prst="rect">
            <a:avLst/>
          </a:prstGeom>
        </p:spPr>
      </p:pic>
      <p:sp>
        <p:nvSpPr>
          <p:cNvPr id="2" name="Title 1">
            <a:extLst>
              <a:ext uri="{FF2B5EF4-FFF2-40B4-BE49-F238E27FC236}">
                <a16:creationId xmlns:a16="http://schemas.microsoft.com/office/drawing/2014/main" id="{621C10B1-7E05-2347-839B-F1B89C383B7B}"/>
              </a:ext>
            </a:extLst>
          </p:cNvPr>
          <p:cNvSpPr>
            <a:spLocks noGrp="1"/>
          </p:cNvSpPr>
          <p:nvPr>
            <p:ph type="title"/>
          </p:nvPr>
        </p:nvSpPr>
        <p:spPr>
          <a:xfrm>
            <a:off x="495463" y="0"/>
            <a:ext cx="10515600" cy="1325563"/>
          </a:xfrm>
          <a:effectLst>
            <a:glow rad="787400">
              <a:srgbClr val="FFFF00">
                <a:alpha val="55000"/>
              </a:srgbClr>
            </a:glow>
          </a:effectLst>
        </p:spPr>
        <p:txBody>
          <a:bodyPr>
            <a:normAutofit/>
          </a:bodyPr>
          <a:lstStyle/>
          <a:p>
            <a:pPr algn="ctr"/>
            <a:r>
              <a:rPr lang="en-US" sz="4800" b="1" i="1" dirty="0">
                <a:solidFill>
                  <a:schemeClr val="bg1"/>
                </a:solidFill>
                <a:latin typeface="+mn-lt"/>
              </a:rPr>
              <a:t>SC WAVE DNA</a:t>
            </a:r>
          </a:p>
        </p:txBody>
      </p:sp>
      <p:sp>
        <p:nvSpPr>
          <p:cNvPr id="3" name="Freeform 2">
            <a:extLst>
              <a:ext uri="{FF2B5EF4-FFF2-40B4-BE49-F238E27FC236}">
                <a16:creationId xmlns:a16="http://schemas.microsoft.com/office/drawing/2014/main" id="{05DF1EFB-1942-774F-A77A-1AB33FE8374E}"/>
              </a:ext>
            </a:extLst>
          </p:cNvPr>
          <p:cNvSpPr/>
          <p:nvPr/>
        </p:nvSpPr>
        <p:spPr>
          <a:xfrm>
            <a:off x="4889456" y="1240936"/>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marL="0" lvl="0" indent="0" algn="ctr" defTabSz="1955800">
              <a:lnSpc>
                <a:spcPct val="90000"/>
              </a:lnSpc>
              <a:spcBef>
                <a:spcPct val="0"/>
              </a:spcBef>
              <a:spcAft>
                <a:spcPct val="35000"/>
              </a:spcAft>
              <a:buNone/>
            </a:pPr>
            <a:r>
              <a:rPr lang="en-US" sz="1200" b="1" kern="1200" dirty="0">
                <a:solidFill>
                  <a:srgbClr val="FFFF00"/>
                </a:solidFill>
                <a:latin typeface="Arial Rounded MT Bold" panose="020F0704030504030204" pitchFamily="34" charset="77"/>
              </a:rPr>
              <a:t>ATTACKING</a:t>
            </a:r>
          </a:p>
        </p:txBody>
      </p:sp>
      <p:sp>
        <p:nvSpPr>
          <p:cNvPr id="4" name="Freeform 3">
            <a:extLst>
              <a:ext uri="{FF2B5EF4-FFF2-40B4-BE49-F238E27FC236}">
                <a16:creationId xmlns:a16="http://schemas.microsoft.com/office/drawing/2014/main" id="{18206E3B-CC07-164D-9E21-32388478F72E}"/>
              </a:ext>
            </a:extLst>
          </p:cNvPr>
          <p:cNvSpPr/>
          <p:nvPr/>
        </p:nvSpPr>
        <p:spPr>
          <a:xfrm>
            <a:off x="3525112" y="1442277"/>
            <a:ext cx="2676057" cy="2715937"/>
          </a:xfrm>
          <a:custGeom>
            <a:avLst/>
            <a:gdLst/>
            <a:ahLst/>
            <a:cxnLst/>
            <a:rect l="0" t="0" r="0" b="0"/>
            <a:pathLst>
              <a:path>
                <a:moveTo>
                  <a:pt x="3315338" y="406915"/>
                </a:moveTo>
                <a:arcTo wR="2079657" hR="2079657" stAng="18387232" swAng="1633569"/>
              </a:path>
            </a:pathLst>
          </a:custGeom>
          <a:noFill/>
          <a:ln w="76200">
            <a:solidFill>
              <a:srgbClr val="C41F33"/>
            </a:solidFill>
            <a:tailEnd type="arrow"/>
          </a:ln>
        </p:spPr>
        <p:style>
          <a:lnRef idx="1">
            <a:scrgbClr r="0" g="0" b="0"/>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5" name="Freeform 4">
            <a:extLst>
              <a:ext uri="{FF2B5EF4-FFF2-40B4-BE49-F238E27FC236}">
                <a16:creationId xmlns:a16="http://schemas.microsoft.com/office/drawing/2014/main" id="{D0DF461F-3C25-B340-82FE-B44684DEEDC0}"/>
              </a:ext>
            </a:extLst>
          </p:cNvPr>
          <p:cNvSpPr/>
          <p:nvPr/>
        </p:nvSpPr>
        <p:spPr>
          <a:xfrm>
            <a:off x="7073810" y="2773467"/>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ATTACKING</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TO</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DEFENDING</a:t>
            </a:r>
          </a:p>
          <a:p>
            <a:pPr marL="0" lvl="0" indent="0" algn="ctr" defTabSz="1955800">
              <a:lnSpc>
                <a:spcPct val="90000"/>
              </a:lnSpc>
              <a:spcBef>
                <a:spcPct val="0"/>
              </a:spcBef>
              <a:spcAft>
                <a:spcPct val="35000"/>
              </a:spcAft>
              <a:buNone/>
            </a:pPr>
            <a:endParaRPr lang="en-US" sz="4400" kern="1200" dirty="0"/>
          </a:p>
        </p:txBody>
      </p:sp>
      <p:sp>
        <p:nvSpPr>
          <p:cNvPr id="6" name="Freeform 5">
            <a:extLst>
              <a:ext uri="{FF2B5EF4-FFF2-40B4-BE49-F238E27FC236}">
                <a16:creationId xmlns:a16="http://schemas.microsoft.com/office/drawing/2014/main" id="{2C942EC5-3725-CA49-9525-5ED850DC3710}"/>
              </a:ext>
            </a:extLst>
          </p:cNvPr>
          <p:cNvSpPr/>
          <p:nvPr/>
        </p:nvSpPr>
        <p:spPr>
          <a:xfrm>
            <a:off x="3466831" y="1043394"/>
            <a:ext cx="3594837" cy="3151979"/>
          </a:xfrm>
          <a:custGeom>
            <a:avLst/>
            <a:gdLst/>
            <a:ahLst/>
            <a:cxnLst/>
            <a:rect l="0" t="0" r="0" b="0"/>
            <a:pathLst>
              <a:path>
                <a:moveTo>
                  <a:pt x="3943720" y="3001743"/>
                </a:moveTo>
                <a:arcTo wR="2079657" hR="2079657" stAng="1579199" swAng="1633569"/>
              </a:path>
            </a:pathLst>
          </a:custGeom>
          <a:noFill/>
          <a:ln w="76200">
            <a:solidFill>
              <a:srgbClr val="C41F33"/>
            </a:solidFill>
            <a:tailEnd type="arrow"/>
          </a:ln>
        </p:spPr>
        <p:style>
          <a:lnRef idx="1">
            <a:schemeClr val="accent4">
              <a:hueOff val="0"/>
              <a:satOff val="0"/>
              <a:lumOff val="0"/>
              <a:alphaOff val="0"/>
            </a:schemeClr>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solidFill>
                <a:sysClr val="windowText" lastClr="000000"/>
              </a:solidFill>
            </a:endParaRPr>
          </a:p>
        </p:txBody>
      </p:sp>
      <p:sp>
        <p:nvSpPr>
          <p:cNvPr id="7" name="Freeform 6">
            <a:extLst>
              <a:ext uri="{FF2B5EF4-FFF2-40B4-BE49-F238E27FC236}">
                <a16:creationId xmlns:a16="http://schemas.microsoft.com/office/drawing/2014/main" id="{CA813B1F-3EA7-BE49-BE61-FE4DCB883CAA}"/>
              </a:ext>
            </a:extLst>
          </p:cNvPr>
          <p:cNvSpPr/>
          <p:nvPr/>
        </p:nvSpPr>
        <p:spPr>
          <a:xfrm>
            <a:off x="4863140" y="4445432"/>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DEFENDING</a:t>
            </a:r>
          </a:p>
          <a:p>
            <a:pPr marL="0" lvl="0" indent="0" algn="ctr" defTabSz="1955800">
              <a:lnSpc>
                <a:spcPct val="90000"/>
              </a:lnSpc>
              <a:spcBef>
                <a:spcPct val="0"/>
              </a:spcBef>
              <a:spcAft>
                <a:spcPct val="35000"/>
              </a:spcAft>
              <a:buNone/>
            </a:pPr>
            <a:endParaRPr lang="en-US" sz="4400" kern="1200" dirty="0"/>
          </a:p>
        </p:txBody>
      </p:sp>
      <p:sp>
        <p:nvSpPr>
          <p:cNvPr id="8" name="Freeform 7">
            <a:extLst>
              <a:ext uri="{FF2B5EF4-FFF2-40B4-BE49-F238E27FC236}">
                <a16:creationId xmlns:a16="http://schemas.microsoft.com/office/drawing/2014/main" id="{DC17AA94-C424-BA46-9E94-6DFF6A7965F9}"/>
              </a:ext>
            </a:extLst>
          </p:cNvPr>
          <p:cNvSpPr/>
          <p:nvPr/>
        </p:nvSpPr>
        <p:spPr>
          <a:xfrm>
            <a:off x="2842910" y="2816924"/>
            <a:ext cx="1673906" cy="954000"/>
          </a:xfrm>
          <a:custGeom>
            <a:avLst/>
            <a:gdLst>
              <a:gd name="connsiteX0" fmla="*/ 0 w 1936750"/>
              <a:gd name="connsiteY0" fmla="*/ 209819 h 1258887"/>
              <a:gd name="connsiteX1" fmla="*/ 209819 w 1936750"/>
              <a:gd name="connsiteY1" fmla="*/ 0 h 1258887"/>
              <a:gd name="connsiteX2" fmla="*/ 1726931 w 1936750"/>
              <a:gd name="connsiteY2" fmla="*/ 0 h 1258887"/>
              <a:gd name="connsiteX3" fmla="*/ 1936750 w 1936750"/>
              <a:gd name="connsiteY3" fmla="*/ 209819 h 1258887"/>
              <a:gd name="connsiteX4" fmla="*/ 1936750 w 1936750"/>
              <a:gd name="connsiteY4" fmla="*/ 1049068 h 1258887"/>
              <a:gd name="connsiteX5" fmla="*/ 1726931 w 1936750"/>
              <a:gd name="connsiteY5" fmla="*/ 1258887 h 1258887"/>
              <a:gd name="connsiteX6" fmla="*/ 209819 w 1936750"/>
              <a:gd name="connsiteY6" fmla="*/ 1258887 h 1258887"/>
              <a:gd name="connsiteX7" fmla="*/ 0 w 1936750"/>
              <a:gd name="connsiteY7" fmla="*/ 1049068 h 1258887"/>
              <a:gd name="connsiteX8" fmla="*/ 0 w 1936750"/>
              <a:gd name="connsiteY8" fmla="*/ 209819 h 125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6750" h="1258887">
                <a:moveTo>
                  <a:pt x="0" y="209819"/>
                </a:moveTo>
                <a:cubicBezTo>
                  <a:pt x="0" y="93939"/>
                  <a:pt x="93939" y="0"/>
                  <a:pt x="209819" y="0"/>
                </a:cubicBezTo>
                <a:lnTo>
                  <a:pt x="1726931" y="0"/>
                </a:lnTo>
                <a:cubicBezTo>
                  <a:pt x="1842811" y="0"/>
                  <a:pt x="1936750" y="93939"/>
                  <a:pt x="1936750" y="209819"/>
                </a:cubicBezTo>
                <a:lnTo>
                  <a:pt x="1936750" y="1049068"/>
                </a:lnTo>
                <a:cubicBezTo>
                  <a:pt x="1936750" y="1164948"/>
                  <a:pt x="1842811" y="1258887"/>
                  <a:pt x="1726931" y="1258887"/>
                </a:cubicBezTo>
                <a:lnTo>
                  <a:pt x="209819" y="1258887"/>
                </a:lnTo>
                <a:cubicBezTo>
                  <a:pt x="93939" y="1258887"/>
                  <a:pt x="0" y="1164948"/>
                  <a:pt x="0" y="1049068"/>
                </a:cubicBezTo>
                <a:lnTo>
                  <a:pt x="0" y="209819"/>
                </a:lnTo>
                <a:close/>
              </a:path>
            </a:pathLst>
          </a:custGeom>
          <a:solidFill>
            <a:schemeClr val="tx1"/>
          </a:solidFill>
          <a:ln w="63500">
            <a:solidFill>
              <a:srgbClr val="FFFF00"/>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29094" tIns="229094" rIns="229094" bIns="229094" numCol="1" spcCol="1270" anchor="ctr" anchorCtr="0">
            <a:noAutofit/>
          </a:bodyPr>
          <a:lstStyle/>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endParaRPr lang="en-US" b="1" dirty="0">
              <a:solidFill>
                <a:srgbClr val="002060"/>
              </a:solidFill>
            </a:endParaRP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DEFENDING</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TO </a:t>
            </a:r>
          </a:p>
          <a:p>
            <a:pPr lvl="0" algn="ctr" defTabSz="1955800">
              <a:lnSpc>
                <a:spcPct val="90000"/>
              </a:lnSpc>
              <a:spcBef>
                <a:spcPct val="0"/>
              </a:spcBef>
              <a:spcAft>
                <a:spcPct val="35000"/>
              </a:spcAft>
            </a:pPr>
            <a:r>
              <a:rPr lang="en-US" sz="1200" b="1" dirty="0">
                <a:solidFill>
                  <a:srgbClr val="FFFF00"/>
                </a:solidFill>
                <a:latin typeface="Arial Rounded MT Bold" panose="020F0704030504030204" pitchFamily="34" charset="77"/>
              </a:rPr>
              <a:t>ATTACKING</a:t>
            </a:r>
          </a:p>
          <a:p>
            <a:pPr marL="0" lvl="0" indent="0" algn="ctr" defTabSz="1955800">
              <a:lnSpc>
                <a:spcPct val="90000"/>
              </a:lnSpc>
              <a:spcBef>
                <a:spcPct val="0"/>
              </a:spcBef>
              <a:spcAft>
                <a:spcPct val="35000"/>
              </a:spcAft>
              <a:buNone/>
            </a:pPr>
            <a:endParaRPr lang="en-US" sz="4400" kern="1200" dirty="0"/>
          </a:p>
        </p:txBody>
      </p:sp>
      <p:sp>
        <p:nvSpPr>
          <p:cNvPr id="9" name="Freeform 8">
            <a:extLst>
              <a:ext uri="{FF2B5EF4-FFF2-40B4-BE49-F238E27FC236}">
                <a16:creationId xmlns:a16="http://schemas.microsoft.com/office/drawing/2014/main" id="{5BA4E909-D69F-6A4F-BB77-738334B6CA70}"/>
              </a:ext>
            </a:extLst>
          </p:cNvPr>
          <p:cNvSpPr/>
          <p:nvPr/>
        </p:nvSpPr>
        <p:spPr>
          <a:xfrm>
            <a:off x="3709684" y="1369202"/>
            <a:ext cx="3594837" cy="3151979"/>
          </a:xfrm>
          <a:custGeom>
            <a:avLst/>
            <a:gdLst/>
            <a:ahLst/>
            <a:cxnLst/>
            <a:rect l="0" t="0" r="0" b="0"/>
            <a:pathLst>
              <a:path>
                <a:moveTo>
                  <a:pt x="215594" y="1157570"/>
                </a:moveTo>
                <a:arcTo wR="2079657" hR="2079657" stAng="12379199" swAng="1633569"/>
              </a:path>
            </a:pathLst>
          </a:custGeom>
          <a:noFill/>
          <a:ln w="76200">
            <a:solidFill>
              <a:srgbClr val="C41F33"/>
            </a:solidFill>
            <a:tailEnd type="arrow"/>
          </a:ln>
        </p:spPr>
        <p:style>
          <a:lnRef idx="1">
            <a:scrgbClr r="0" g="0" b="0"/>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3" name="Freeform 12">
            <a:extLst>
              <a:ext uri="{FF2B5EF4-FFF2-40B4-BE49-F238E27FC236}">
                <a16:creationId xmlns:a16="http://schemas.microsoft.com/office/drawing/2014/main" id="{CDD01203-5275-4C44-947D-D912DCA08580}"/>
              </a:ext>
            </a:extLst>
          </p:cNvPr>
          <p:cNvSpPr/>
          <p:nvPr/>
        </p:nvSpPr>
        <p:spPr>
          <a:xfrm rot="6029228">
            <a:off x="4584847" y="1369203"/>
            <a:ext cx="3594837" cy="3151979"/>
          </a:xfrm>
          <a:custGeom>
            <a:avLst/>
            <a:gdLst/>
            <a:ahLst/>
            <a:cxnLst/>
            <a:rect l="0" t="0" r="0" b="0"/>
            <a:pathLst>
              <a:path>
                <a:moveTo>
                  <a:pt x="3943720" y="3001743"/>
                </a:moveTo>
                <a:arcTo wR="2079657" hR="2079657" stAng="1579199" swAng="1633569"/>
              </a:path>
            </a:pathLst>
          </a:custGeom>
          <a:noFill/>
          <a:ln w="76200">
            <a:solidFill>
              <a:srgbClr val="C41F33"/>
            </a:solidFill>
            <a:tailEnd type="arrow"/>
          </a:ln>
        </p:spPr>
        <p:style>
          <a:lnRef idx="1">
            <a:schemeClr val="accent4">
              <a:hueOff val="0"/>
              <a:satOff val="0"/>
              <a:lumOff val="0"/>
              <a:alphaOff val="0"/>
            </a:schemeClr>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4" name="TextBox 13">
            <a:extLst>
              <a:ext uri="{FF2B5EF4-FFF2-40B4-BE49-F238E27FC236}">
                <a16:creationId xmlns:a16="http://schemas.microsoft.com/office/drawing/2014/main" id="{05A5BE09-5C42-7C41-9A3C-27D9C10772FB}"/>
              </a:ext>
            </a:extLst>
          </p:cNvPr>
          <p:cNvSpPr txBox="1"/>
          <p:nvPr/>
        </p:nvSpPr>
        <p:spPr>
          <a:xfrm>
            <a:off x="4696495" y="2382368"/>
            <a:ext cx="2007195" cy="1384995"/>
          </a:xfrm>
          <a:prstGeom prst="rect">
            <a:avLst/>
          </a:prstGeom>
          <a:noFill/>
        </p:spPr>
        <p:txBody>
          <a:bodyPr wrap="square" rtlCol="0">
            <a:spAutoFit/>
          </a:bodyPr>
          <a:lstStyle/>
          <a:p>
            <a:pPr algn="ctr"/>
            <a:r>
              <a:rPr lang="en-US" sz="1400" b="1" dirty="0">
                <a:solidFill>
                  <a:schemeClr val="bg1"/>
                </a:solidFill>
              </a:rPr>
              <a:t>Proactive and objective ball possession utilizing our positional play principles to create space and attack the opponent’s goal.</a:t>
            </a:r>
          </a:p>
        </p:txBody>
      </p:sp>
      <p:sp>
        <p:nvSpPr>
          <p:cNvPr id="15" name="TextBox 14">
            <a:extLst>
              <a:ext uri="{FF2B5EF4-FFF2-40B4-BE49-F238E27FC236}">
                <a16:creationId xmlns:a16="http://schemas.microsoft.com/office/drawing/2014/main" id="{CFDB8510-1202-4940-A5E8-353DC6A70217}"/>
              </a:ext>
            </a:extLst>
          </p:cNvPr>
          <p:cNvSpPr txBox="1"/>
          <p:nvPr/>
        </p:nvSpPr>
        <p:spPr>
          <a:xfrm>
            <a:off x="9008191" y="2914233"/>
            <a:ext cx="3102514" cy="954107"/>
          </a:xfrm>
          <a:prstGeom prst="rect">
            <a:avLst/>
          </a:prstGeom>
          <a:noFill/>
        </p:spPr>
        <p:txBody>
          <a:bodyPr wrap="square" rtlCol="0">
            <a:spAutoFit/>
          </a:bodyPr>
          <a:lstStyle/>
          <a:p>
            <a:pPr algn="ctr"/>
            <a:r>
              <a:rPr lang="en-US" sz="1400" b="1" dirty="0">
                <a:solidFill>
                  <a:schemeClr val="bg1"/>
                </a:solidFill>
              </a:rPr>
              <a:t>When losing possession, we seek to react quickly, in an organized manner, immediately to recover the ball or protect our goal.</a:t>
            </a:r>
          </a:p>
        </p:txBody>
      </p:sp>
      <p:sp>
        <p:nvSpPr>
          <p:cNvPr id="16" name="TextBox 15">
            <a:extLst>
              <a:ext uri="{FF2B5EF4-FFF2-40B4-BE49-F238E27FC236}">
                <a16:creationId xmlns:a16="http://schemas.microsoft.com/office/drawing/2014/main" id="{3B472DFE-DC8B-3347-A0B3-D0AE4DC838F7}"/>
              </a:ext>
            </a:extLst>
          </p:cNvPr>
          <p:cNvSpPr txBox="1"/>
          <p:nvPr/>
        </p:nvSpPr>
        <p:spPr>
          <a:xfrm>
            <a:off x="4202007" y="5532948"/>
            <a:ext cx="3102514" cy="1384995"/>
          </a:xfrm>
          <a:prstGeom prst="rect">
            <a:avLst/>
          </a:prstGeom>
          <a:noFill/>
        </p:spPr>
        <p:txBody>
          <a:bodyPr wrap="square" rtlCol="0">
            <a:spAutoFit/>
          </a:bodyPr>
          <a:lstStyle/>
          <a:p>
            <a:pPr algn="ctr"/>
            <a:r>
              <a:rPr lang="en-US" sz="1400" b="1" dirty="0">
                <a:solidFill>
                  <a:schemeClr val="bg1"/>
                </a:solidFill>
              </a:rPr>
              <a:t>Defensive organization seeking to gain ball possession high up the field utilizing a mid or high compact block structure. If we can’t, we will look to force opponent to pre-established trapping zones</a:t>
            </a:r>
            <a:r>
              <a:rPr lang="en-US" sz="1100" dirty="0">
                <a:solidFill>
                  <a:schemeClr val="bg1"/>
                </a:solidFill>
              </a:rPr>
              <a:t>. </a:t>
            </a:r>
          </a:p>
        </p:txBody>
      </p:sp>
      <p:sp>
        <p:nvSpPr>
          <p:cNvPr id="17" name="TextBox 16">
            <a:extLst>
              <a:ext uri="{FF2B5EF4-FFF2-40B4-BE49-F238E27FC236}">
                <a16:creationId xmlns:a16="http://schemas.microsoft.com/office/drawing/2014/main" id="{73CE1D46-4368-5D4D-A6E0-06343FCE0D03}"/>
              </a:ext>
            </a:extLst>
          </p:cNvPr>
          <p:cNvSpPr txBox="1"/>
          <p:nvPr/>
        </p:nvSpPr>
        <p:spPr>
          <a:xfrm>
            <a:off x="133549" y="2870716"/>
            <a:ext cx="2597933" cy="1169551"/>
          </a:xfrm>
          <a:prstGeom prst="rect">
            <a:avLst/>
          </a:prstGeom>
          <a:noFill/>
        </p:spPr>
        <p:txBody>
          <a:bodyPr wrap="square" rtlCol="0">
            <a:spAutoFit/>
          </a:bodyPr>
          <a:lstStyle/>
          <a:p>
            <a:pPr algn="ctr"/>
            <a:r>
              <a:rPr lang="en-US" sz="1400" b="1" dirty="0">
                <a:solidFill>
                  <a:schemeClr val="bg1"/>
                </a:solidFill>
              </a:rPr>
              <a:t>Immediate reaction to vertically attack opponent if space is available or keep the ball as we restructure our attacking organization.</a:t>
            </a:r>
          </a:p>
        </p:txBody>
      </p:sp>
    </p:spTree>
    <p:extLst>
      <p:ext uri="{BB962C8B-B14F-4D97-AF65-F5344CB8AC3E}">
        <p14:creationId xmlns:p14="http://schemas.microsoft.com/office/powerpoint/2010/main" val="138542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fill="hold"/>
                                        <p:tgtEl>
                                          <p:spTgt spid="15"/>
                                        </p:tgtEl>
                                        <p:attrNameLst>
                                          <p:attrName>ppt_x</p:attrName>
                                        </p:attrNameLst>
                                      </p:cBhvr>
                                      <p:tavLst>
                                        <p:tav tm="0">
                                          <p:val>
                                            <p:strVal val="#ppt_x"/>
                                          </p:val>
                                        </p:tav>
                                        <p:tav tm="100000">
                                          <p:val>
                                            <p:strVal val="#ppt_x"/>
                                          </p:val>
                                        </p:tav>
                                      </p:tavLst>
                                    </p:anim>
                                    <p:anim calcmode="lin" valueType="num">
                                      <p:cBhvr additive="base">
                                        <p:cTn id="3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additive="base">
                                        <p:cTn id="39" dur="500" fill="hold"/>
                                        <p:tgtEl>
                                          <p:spTgt spid="7"/>
                                        </p:tgtEl>
                                        <p:attrNameLst>
                                          <p:attrName>ppt_x</p:attrName>
                                        </p:attrNameLst>
                                      </p:cBhvr>
                                      <p:tavLst>
                                        <p:tav tm="0">
                                          <p:val>
                                            <p:strVal val="#ppt_x"/>
                                          </p:val>
                                        </p:tav>
                                        <p:tav tm="100000">
                                          <p:val>
                                            <p:strVal val="#ppt_x"/>
                                          </p:val>
                                        </p:tav>
                                      </p:tavLst>
                                    </p:anim>
                                    <p:anim calcmode="lin" valueType="num">
                                      <p:cBhvr additive="base">
                                        <p:cTn id="4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ppt_x"/>
                                          </p:val>
                                        </p:tav>
                                        <p:tav tm="100000">
                                          <p:val>
                                            <p:strVal val="#ppt_x"/>
                                          </p:val>
                                        </p:tav>
                                      </p:tavLst>
                                    </p:anim>
                                    <p:anim calcmode="lin" valueType="num">
                                      <p:cBhvr additive="base">
                                        <p:cTn id="46" dur="500" fill="hold"/>
                                        <p:tgtEl>
                                          <p:spTgt spid="1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ppt_x"/>
                                          </p:val>
                                        </p:tav>
                                        <p:tav tm="100000">
                                          <p:val>
                                            <p:strVal val="#ppt_x"/>
                                          </p:val>
                                        </p:tav>
                                      </p:tavLst>
                                    </p:anim>
                                    <p:anim calcmode="lin" valueType="num">
                                      <p:cBhvr additive="base">
                                        <p:cTn id="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9"/>
                                        </p:tgtEl>
                                        <p:attrNameLst>
                                          <p:attrName>style.visibility</p:attrName>
                                        </p:attrNameLst>
                                      </p:cBhvr>
                                      <p:to>
                                        <p:strVal val="visible"/>
                                      </p:to>
                                    </p:set>
                                    <p:anim calcmode="lin" valueType="num">
                                      <p:cBhvr additive="base">
                                        <p:cTn id="65" dur="500" fill="hold"/>
                                        <p:tgtEl>
                                          <p:spTgt spid="9"/>
                                        </p:tgtEl>
                                        <p:attrNameLst>
                                          <p:attrName>ppt_x</p:attrName>
                                        </p:attrNameLst>
                                      </p:cBhvr>
                                      <p:tavLst>
                                        <p:tav tm="0">
                                          <p:val>
                                            <p:strVal val="#ppt_x"/>
                                          </p:val>
                                        </p:tav>
                                        <p:tav tm="100000">
                                          <p:val>
                                            <p:strVal val="#ppt_x"/>
                                          </p:val>
                                        </p:tav>
                                      </p:tavLst>
                                    </p:anim>
                                    <p:anim calcmode="lin" valueType="num">
                                      <p:cBhvr additive="base">
                                        <p:cTn id="6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3" grpId="0" animBg="1"/>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22"/>
          <p:cNvSpPr txBox="1">
            <a:spLocks/>
          </p:cNvSpPr>
          <p:nvPr/>
        </p:nvSpPr>
        <p:spPr>
          <a:xfrm>
            <a:off x="1038365" y="4911436"/>
            <a:ext cx="10137058" cy="1077218"/>
          </a:xfrm>
          <a:prstGeom prst="rect">
            <a:avLst/>
          </a:prstGeom>
        </p:spPr>
        <p:txBody>
          <a:bodyPr wrap="square" anchor="t" anchorCtr="0">
            <a:spAutoFit/>
          </a:bodyPr>
          <a:lstStyle>
            <a:lvl1pPr marL="0">
              <a:defRPr>
                <a:uFillTx/>
                <a:latin typeface="+mn-lt"/>
                <a:ea typeface="+mn-ea"/>
                <a:cs typeface="+mn-cs"/>
              </a:defRPr>
            </a:lvl1pPr>
            <a:lvl2pPr marL="457200">
              <a:defRPr>
                <a:uFillTx/>
                <a:latin typeface="+mn-lt"/>
                <a:ea typeface="+mn-ea"/>
                <a:cs typeface="+mn-cs"/>
              </a:defRPr>
            </a:lvl2pPr>
            <a:lvl3pPr marL="914400">
              <a:defRPr>
                <a:uFillTx/>
                <a:latin typeface="+mn-lt"/>
                <a:ea typeface="+mn-ea"/>
                <a:cs typeface="+mn-cs"/>
              </a:defRPr>
            </a:lvl3pPr>
            <a:lvl4pPr marL="1371600">
              <a:defRPr>
                <a:uFillTx/>
                <a:latin typeface="+mn-lt"/>
                <a:ea typeface="+mn-ea"/>
                <a:cs typeface="+mn-cs"/>
              </a:defRPr>
            </a:lvl4pPr>
            <a:lvl5pPr marL="1828800">
              <a:defRPr>
                <a:uFillTx/>
                <a:latin typeface="+mn-lt"/>
                <a:ea typeface="+mn-ea"/>
                <a:cs typeface="+mn-cs"/>
              </a:defRPr>
            </a:lvl5pPr>
            <a:lvl6pPr marL="2286000">
              <a:defRPr>
                <a:uFillTx/>
                <a:latin typeface="+mn-lt"/>
                <a:ea typeface="+mn-ea"/>
                <a:cs typeface="+mn-cs"/>
              </a:defRPr>
            </a:lvl6pPr>
            <a:lvl7pPr marL="2743200">
              <a:defRPr>
                <a:uFillTx/>
                <a:latin typeface="+mn-lt"/>
                <a:ea typeface="+mn-ea"/>
                <a:cs typeface="+mn-cs"/>
              </a:defRPr>
            </a:lvl7pPr>
            <a:lvl8pPr marL="3200400">
              <a:defRPr>
                <a:uFillTx/>
                <a:latin typeface="+mn-lt"/>
                <a:ea typeface="+mn-ea"/>
                <a:cs typeface="+mn-cs"/>
              </a:defRPr>
            </a:lvl8pPr>
            <a:lvl9pPr marL="3657600">
              <a:defRPr>
                <a:uFillTx/>
                <a:latin typeface="+mn-lt"/>
                <a:ea typeface="+mn-ea"/>
                <a:cs typeface="+mn-cs"/>
              </a:defRPr>
            </a:lvl9pPr>
          </a:lstStyle>
          <a:p>
            <a:pPr algn="ctr"/>
            <a:r>
              <a:rPr lang="en-US" sz="3200" b="1" kern="0" dirty="0">
                <a:solidFill>
                  <a:srgbClr val="FFFF00"/>
                </a:solidFill>
              </a:rPr>
              <a:t>Player Behaviors and Team Tactical Principles based on stages of development U-13 through U-19 age groups</a:t>
            </a:r>
          </a:p>
        </p:txBody>
      </p:sp>
      <p:pic>
        <p:nvPicPr>
          <p:cNvPr id="5" name="Picture 4">
            <a:extLst>
              <a:ext uri="{FF2B5EF4-FFF2-40B4-BE49-F238E27FC236}">
                <a16:creationId xmlns:a16="http://schemas.microsoft.com/office/drawing/2014/main" id="{5778CF5E-C93F-6941-ACC9-CCE9721EA6F9}"/>
              </a:ext>
            </a:extLst>
          </p:cNvPr>
          <p:cNvPicPr>
            <a:picLocks noChangeAspect="1"/>
          </p:cNvPicPr>
          <p:nvPr/>
        </p:nvPicPr>
        <p:blipFill>
          <a:blip r:embed="rId2"/>
          <a:stretch>
            <a:fillRect/>
          </a:stretch>
        </p:blipFill>
        <p:spPr>
          <a:xfrm>
            <a:off x="3614341" y="237459"/>
            <a:ext cx="4517421" cy="4517421"/>
          </a:xfrm>
          <a:prstGeom prst="rect">
            <a:avLst/>
          </a:prstGeom>
        </p:spPr>
      </p:pic>
    </p:spTree>
    <p:extLst>
      <p:ext uri="{BB962C8B-B14F-4D97-AF65-F5344CB8AC3E}">
        <p14:creationId xmlns:p14="http://schemas.microsoft.com/office/powerpoint/2010/main" val="2304367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alphaModFix/>
          </a:blip>
          <a:srcRect t="1675" b="17138"/>
          <a:stretch/>
        </p:blipFill>
        <p:spPr>
          <a:xfrm>
            <a:off x="-16530" y="-15766"/>
            <a:ext cx="12192000" cy="6873766"/>
          </a:xfrm>
          <a:prstGeom prst="rect">
            <a:avLst/>
          </a:prstGeom>
          <a:solidFill>
            <a:schemeClr val="accent5"/>
          </a:solidFill>
          <a:effectLst>
            <a:glow>
              <a:schemeClr val="accent1"/>
            </a:glow>
            <a:outerShdw dist="50800" sx="1000" sy="1000" algn="ctr" rotWithShape="0">
              <a:srgbClr val="000000"/>
            </a:outerShdw>
            <a:reflection endPos="0" dir="5400000" sy="-100000" algn="bl" rotWithShape="0"/>
          </a:effectLst>
        </p:spPr>
      </p:pic>
      <p:sp>
        <p:nvSpPr>
          <p:cNvPr id="3" name="TextBox 2"/>
          <p:cNvSpPr txBox="1">
            <a:spLocks/>
          </p:cNvSpPr>
          <p:nvPr/>
        </p:nvSpPr>
        <p:spPr>
          <a:xfrm>
            <a:off x="280598" y="256444"/>
            <a:ext cx="10279118" cy="914400"/>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noAutofit/>
          </a:bodyPr>
          <a:lstStyle/>
          <a:p>
            <a:pPr defTabSz="412750" hangingPunct="0">
              <a:spcBef>
                <a:spcPts val="2600"/>
              </a:spcBef>
            </a:pPr>
            <a:br>
              <a:rPr lang="en-US" sz="4800" b="1" dirty="0">
                <a:solidFill>
                  <a:srgbClr val="CB9B2B"/>
                </a:solidFill>
                <a:latin typeface="USSF 90 Min Display Medium" panose="020B0703030202060203" pitchFamily="34" charset="77"/>
                <a:sym typeface="USSF 90 Min Display Light"/>
              </a:rPr>
            </a:br>
            <a:r>
              <a:rPr lang="en-US" sz="4800" b="1" dirty="0">
                <a:solidFill>
                  <a:srgbClr val="CB9B2B"/>
                </a:solidFill>
                <a:latin typeface="USSF 90 Min Display Medium" panose="020B0703030202060203" pitchFamily="34" charset="77"/>
                <a:sym typeface="USSF 90 Min Display Light"/>
              </a:rPr>
              <a:t>PLAYER DEVELOPMENT STAGES</a:t>
            </a:r>
            <a:br>
              <a:rPr lang="en-US" sz="4800" b="1" dirty="0">
                <a:solidFill>
                  <a:srgbClr val="FFFF00"/>
                </a:solidFill>
                <a:latin typeface="USSF 90 Min Display Medium" panose="020B0703030202060203" pitchFamily="34" charset="77"/>
                <a:sym typeface="USSF 90 Min Display Light"/>
              </a:rPr>
            </a:br>
            <a:endParaRPr lang="en-US" b="1" dirty="0">
              <a:solidFill>
                <a:srgbClr val="FFFF00"/>
              </a:solidFill>
              <a:latin typeface="USSF 90 Min Display Medium" panose="020B0703030202060203" pitchFamily="34" charset="77"/>
              <a:sym typeface="USSF 90 Min Display Light"/>
            </a:endParaRPr>
          </a:p>
          <a:p>
            <a:pPr defTabSz="412750" hangingPunct="0">
              <a:spcBef>
                <a:spcPts val="2600"/>
              </a:spcBef>
            </a:pPr>
            <a:endParaRPr lang="en-US" sz="4800" b="1" dirty="0">
              <a:solidFill>
                <a:srgbClr val="FFFF00"/>
              </a:solidFill>
              <a:latin typeface="USSF 90 Min Display Medium" panose="020B0703030202060203" pitchFamily="34" charset="77"/>
              <a:sym typeface="USSF 90 Min Display Light"/>
            </a:endParaRPr>
          </a:p>
        </p:txBody>
      </p:sp>
      <p:cxnSp>
        <p:nvCxnSpPr>
          <p:cNvPr id="6" name="Straight Connector 5"/>
          <p:cNvCxnSpPr>
            <a:cxnSpLocks/>
          </p:cNvCxnSpPr>
          <p:nvPr/>
        </p:nvCxnSpPr>
        <p:spPr>
          <a:xfrm flipV="1">
            <a:off x="202130" y="1572697"/>
            <a:ext cx="11319310" cy="4594222"/>
          </a:xfrm>
          <a:prstGeom prst="line">
            <a:avLst/>
          </a:prstGeom>
          <a:noFill/>
          <a:ln w="57150" cap="flat">
            <a:solidFill>
              <a:schemeClr val="bg1"/>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13" name="TextBox 12"/>
          <p:cNvSpPr txBox="1">
            <a:spLocks/>
          </p:cNvSpPr>
          <p:nvPr/>
        </p:nvSpPr>
        <p:spPr>
          <a:xfrm>
            <a:off x="9835787" y="1100651"/>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U19</a:t>
            </a:r>
            <a:endParaRPr lang="en-US" sz="3000" b="1" dirty="0">
              <a:solidFill>
                <a:schemeClr val="bg1"/>
              </a:solidFill>
              <a:sym typeface="USSF 90 Min Display Light"/>
            </a:endParaRPr>
          </a:p>
        </p:txBody>
      </p:sp>
      <p:sp>
        <p:nvSpPr>
          <p:cNvPr id="14" name="TextBox 13"/>
          <p:cNvSpPr txBox="1">
            <a:spLocks/>
          </p:cNvSpPr>
          <p:nvPr/>
        </p:nvSpPr>
        <p:spPr>
          <a:xfrm>
            <a:off x="8727513" y="1547178"/>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U18</a:t>
            </a:r>
            <a:endParaRPr lang="en-US" sz="3000" b="1" dirty="0">
              <a:solidFill>
                <a:schemeClr val="bg1"/>
              </a:solidFill>
              <a:sym typeface="USSF 90 Min Display Light"/>
            </a:endParaRPr>
          </a:p>
        </p:txBody>
      </p:sp>
      <p:sp>
        <p:nvSpPr>
          <p:cNvPr id="15" name="TextBox 14"/>
          <p:cNvSpPr txBox="1">
            <a:spLocks/>
          </p:cNvSpPr>
          <p:nvPr/>
        </p:nvSpPr>
        <p:spPr>
          <a:xfrm>
            <a:off x="7586206" y="2090471"/>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U17</a:t>
            </a:r>
            <a:endParaRPr lang="en-US" sz="3000" b="1" dirty="0">
              <a:solidFill>
                <a:schemeClr val="bg1"/>
              </a:solidFill>
              <a:sym typeface="USSF 90 Min Display Light"/>
            </a:endParaRPr>
          </a:p>
        </p:txBody>
      </p:sp>
      <p:sp>
        <p:nvSpPr>
          <p:cNvPr id="16" name="TextBox 15"/>
          <p:cNvSpPr txBox="1">
            <a:spLocks/>
          </p:cNvSpPr>
          <p:nvPr/>
        </p:nvSpPr>
        <p:spPr>
          <a:xfrm>
            <a:off x="6293794" y="2573882"/>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U16</a:t>
            </a:r>
            <a:endParaRPr lang="en-US" sz="3000" b="1" dirty="0">
              <a:solidFill>
                <a:schemeClr val="bg1"/>
              </a:solidFill>
              <a:sym typeface="USSF 90 Min Display Light"/>
            </a:endParaRPr>
          </a:p>
        </p:txBody>
      </p:sp>
      <p:sp>
        <p:nvSpPr>
          <p:cNvPr id="17" name="TextBox 16"/>
          <p:cNvSpPr txBox="1">
            <a:spLocks/>
          </p:cNvSpPr>
          <p:nvPr/>
        </p:nvSpPr>
        <p:spPr>
          <a:xfrm>
            <a:off x="4897218" y="3079465"/>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U15</a:t>
            </a:r>
            <a:endParaRPr lang="en-US" sz="3000" b="1" dirty="0">
              <a:solidFill>
                <a:schemeClr val="bg1"/>
              </a:solidFill>
              <a:sym typeface="USSF 90 Min Display Light"/>
            </a:endParaRPr>
          </a:p>
        </p:txBody>
      </p:sp>
      <p:sp>
        <p:nvSpPr>
          <p:cNvPr id="18" name="TextBox 17"/>
          <p:cNvSpPr txBox="1">
            <a:spLocks/>
          </p:cNvSpPr>
          <p:nvPr/>
        </p:nvSpPr>
        <p:spPr>
          <a:xfrm>
            <a:off x="3668610" y="3572527"/>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U14</a:t>
            </a:r>
            <a:endParaRPr lang="en-US" sz="3000" b="1" dirty="0">
              <a:solidFill>
                <a:srgbClr val="FFFF00"/>
              </a:solidFill>
              <a:sym typeface="USSF 90 Min Display Light"/>
            </a:endParaRPr>
          </a:p>
        </p:txBody>
      </p:sp>
      <p:sp>
        <p:nvSpPr>
          <p:cNvPr id="19" name="TextBox 18"/>
          <p:cNvSpPr txBox="1">
            <a:spLocks/>
          </p:cNvSpPr>
          <p:nvPr/>
        </p:nvSpPr>
        <p:spPr>
          <a:xfrm>
            <a:off x="2241176" y="4115286"/>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U13</a:t>
            </a:r>
            <a:endParaRPr lang="en-US" sz="3000" b="1" dirty="0">
              <a:solidFill>
                <a:srgbClr val="FFFF00"/>
              </a:solidFill>
              <a:sym typeface="USSF 90 Min Display Light"/>
            </a:endParaRPr>
          </a:p>
        </p:txBody>
      </p:sp>
      <p:cxnSp>
        <p:nvCxnSpPr>
          <p:cNvPr id="28" name="Straight Connector 27"/>
          <p:cNvCxnSpPr/>
          <p:nvPr/>
        </p:nvCxnSpPr>
        <p:spPr>
          <a:xfrm rot="-60000" flipH="1">
            <a:off x="2551263" y="4624240"/>
            <a:ext cx="1499616" cy="585216"/>
          </a:xfrm>
          <a:prstGeom prst="line">
            <a:avLst/>
          </a:prstGeom>
          <a:noFill/>
          <a:ln w="57150" cap="flat">
            <a:solidFill>
              <a:srgbClr val="FFFF00"/>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34" name="Rectangle 33"/>
          <p:cNvSpPr>
            <a:spLocks/>
          </p:cNvSpPr>
          <p:nvPr/>
        </p:nvSpPr>
        <p:spPr>
          <a:xfrm>
            <a:off x="8100140" y="2922771"/>
            <a:ext cx="2724480"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U17-U19 EXECUTE THE KEY QUALITIES SUCCESSFULLY IN ORDER TO WIN THE GAME </a:t>
            </a:r>
          </a:p>
        </p:txBody>
      </p:sp>
      <p:sp>
        <p:nvSpPr>
          <p:cNvPr id="39" name="Rectangle 38"/>
          <p:cNvSpPr>
            <a:spLocks/>
          </p:cNvSpPr>
          <p:nvPr/>
        </p:nvSpPr>
        <p:spPr>
          <a:xfrm>
            <a:off x="5509734" y="3935757"/>
            <a:ext cx="228033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U-15 &amp; U-16 EXECUTE THE KEY QUALITIES SUCCESSFULLY </a:t>
            </a:r>
          </a:p>
        </p:txBody>
      </p:sp>
      <p:sp>
        <p:nvSpPr>
          <p:cNvPr id="43" name="Rectangle 42"/>
          <p:cNvSpPr>
            <a:spLocks/>
          </p:cNvSpPr>
          <p:nvPr/>
        </p:nvSpPr>
        <p:spPr>
          <a:xfrm>
            <a:off x="3052397" y="4988042"/>
            <a:ext cx="1867583" cy="830997"/>
          </a:xfrm>
          <a:prstGeom prst="rect">
            <a:avLst/>
          </a:prstGeom>
        </p:spPr>
        <p:txBody>
          <a:bodyPr wrap="square">
            <a:spAutoFit/>
          </a:bodyPr>
          <a:lstStyle/>
          <a:p>
            <a:r>
              <a:rPr lang="en-US" sz="1600" b="1" dirty="0">
                <a:solidFill>
                  <a:srgbClr val="FFFF00"/>
                </a:solidFill>
                <a:latin typeface="USSF 90 Min Display Medium" panose="020B0703030202060203" pitchFamily="34" charset="77"/>
              </a:rPr>
              <a:t>U-13 &amp; U-14 DEVELOP THE KEY QUALITIES</a:t>
            </a:r>
          </a:p>
        </p:txBody>
      </p:sp>
      <p:sp>
        <p:nvSpPr>
          <p:cNvPr id="46" name="TextBox 45"/>
          <p:cNvSpPr txBox="1">
            <a:spLocks/>
          </p:cNvSpPr>
          <p:nvPr/>
        </p:nvSpPr>
        <p:spPr>
          <a:xfrm>
            <a:off x="960192" y="4695856"/>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U12</a:t>
            </a:r>
            <a:endParaRPr lang="en-US" sz="3000" b="1" dirty="0">
              <a:solidFill>
                <a:schemeClr val="bg1"/>
              </a:solidFill>
              <a:sym typeface="USSF 90 Min Display Light"/>
            </a:endParaRPr>
          </a:p>
        </p:txBody>
      </p:sp>
      <p:sp>
        <p:nvSpPr>
          <p:cNvPr id="4" name="Rectangle 3"/>
          <p:cNvSpPr>
            <a:spLocks/>
          </p:cNvSpPr>
          <p:nvPr/>
        </p:nvSpPr>
        <p:spPr>
          <a:xfrm>
            <a:off x="254089" y="3947520"/>
            <a:ext cx="1606465" cy="1169551"/>
          </a:xfrm>
          <a:prstGeom prst="rect">
            <a:avLst/>
          </a:prstGeom>
        </p:spPr>
        <p:txBody>
          <a:bodyPr wrap="square">
            <a:spAutoFit/>
          </a:bodyPr>
          <a:lstStyle/>
          <a:p>
            <a:r>
              <a:rPr lang="en-US" sz="1000" b="1" dirty="0">
                <a:solidFill>
                  <a:schemeClr val="bg1"/>
                </a:solidFill>
              </a:rPr>
              <a:t>Development of the individual qualities of a player in a team environment (not based on position. Continuous development of fundamentals)</a:t>
            </a:r>
          </a:p>
        </p:txBody>
      </p:sp>
      <p:sp>
        <p:nvSpPr>
          <p:cNvPr id="7" name="Rectangle 6"/>
          <p:cNvSpPr>
            <a:spLocks/>
          </p:cNvSpPr>
          <p:nvPr/>
        </p:nvSpPr>
        <p:spPr>
          <a:xfrm>
            <a:off x="1952769" y="1895773"/>
            <a:ext cx="2397172" cy="1815882"/>
          </a:xfrm>
          <a:prstGeom prst="rect">
            <a:avLst/>
          </a:prstGeom>
          <a:solidFill>
            <a:srgbClr val="FFFF00">
              <a:alpha val="89000"/>
            </a:srgbClr>
          </a:solidFill>
        </p:spPr>
        <p:txBody>
          <a:bodyPr wrap="square">
            <a:spAutoFit/>
          </a:bodyPr>
          <a:lstStyle/>
          <a:p>
            <a:pPr marL="171450" indent="-171450">
              <a:buFont typeface="Arial" panose="020B0604020202020204" pitchFamily="34" charset="0"/>
              <a:buChar char="•"/>
            </a:pPr>
            <a:r>
              <a:rPr lang="en-US" sz="1400" dirty="0"/>
              <a:t>Development of the individual qualities of a player in a team concept (e.g. roles and tasks of players)</a:t>
            </a:r>
          </a:p>
          <a:p>
            <a:pPr marL="171450" indent="-171450">
              <a:buFont typeface="Arial" panose="020B0604020202020204" pitchFamily="34" charset="0"/>
              <a:buChar char="•"/>
            </a:pPr>
            <a:r>
              <a:rPr lang="en-US" sz="1400" dirty="0"/>
              <a:t>11v11 Introduction</a:t>
            </a:r>
          </a:p>
          <a:p>
            <a:pPr marL="171450" indent="-171450">
              <a:buFont typeface="Arial" panose="020B0604020202020204" pitchFamily="34" charset="0"/>
              <a:buChar char="•"/>
            </a:pPr>
            <a:r>
              <a:rPr lang="en-US" sz="1400" dirty="0"/>
              <a:t>Intro to Club’s Game Model &amp; Principles</a:t>
            </a:r>
          </a:p>
        </p:txBody>
      </p:sp>
      <p:sp>
        <p:nvSpPr>
          <p:cNvPr id="29" name="Rectangle 28"/>
          <p:cNvSpPr>
            <a:spLocks/>
          </p:cNvSpPr>
          <p:nvPr/>
        </p:nvSpPr>
        <p:spPr>
          <a:xfrm>
            <a:off x="4659990" y="2451960"/>
            <a:ext cx="2373457" cy="553998"/>
          </a:xfrm>
          <a:prstGeom prst="rect">
            <a:avLst/>
          </a:prstGeom>
        </p:spPr>
        <p:txBody>
          <a:bodyPr wrap="square">
            <a:spAutoFit/>
          </a:bodyPr>
          <a:lstStyle/>
          <a:p>
            <a:pPr>
              <a:spcAft>
                <a:spcPts val="300"/>
              </a:spcAft>
            </a:pPr>
            <a:r>
              <a:rPr lang="en-US" sz="1000" dirty="0">
                <a:solidFill>
                  <a:schemeClr val="bg1"/>
                </a:solidFill>
              </a:rPr>
              <a:t>Development of the specific qualities of a player in their position to maximize their contribution to the result of the game</a:t>
            </a:r>
          </a:p>
        </p:txBody>
      </p:sp>
      <p:sp>
        <p:nvSpPr>
          <p:cNvPr id="30" name="Rectangle 29"/>
          <p:cNvSpPr>
            <a:spLocks/>
          </p:cNvSpPr>
          <p:nvPr/>
        </p:nvSpPr>
        <p:spPr>
          <a:xfrm>
            <a:off x="7214450" y="1326766"/>
            <a:ext cx="2260533" cy="553998"/>
          </a:xfrm>
          <a:prstGeom prst="rect">
            <a:avLst/>
          </a:prstGeom>
        </p:spPr>
        <p:txBody>
          <a:bodyPr wrap="square">
            <a:spAutoFit/>
          </a:bodyPr>
          <a:lstStyle/>
          <a:p>
            <a:pPr>
              <a:spcAft>
                <a:spcPts val="300"/>
              </a:spcAft>
            </a:pPr>
            <a:r>
              <a:rPr lang="en-US" sz="1000" dirty="0">
                <a:solidFill>
                  <a:schemeClr val="bg1"/>
                </a:solidFill>
              </a:rPr>
              <a:t>Development of the specific qualities of a player to be the  best player in their position to win the game</a:t>
            </a:r>
          </a:p>
        </p:txBody>
      </p:sp>
      <p:sp>
        <p:nvSpPr>
          <p:cNvPr id="64" name="Rectangle 63"/>
          <p:cNvSpPr>
            <a:spLocks/>
          </p:cNvSpPr>
          <p:nvPr/>
        </p:nvSpPr>
        <p:spPr>
          <a:xfrm>
            <a:off x="228467" y="3652836"/>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1)</a:t>
            </a:r>
            <a:endParaRPr lang="en-US" sz="900" dirty="0">
              <a:solidFill>
                <a:srgbClr val="CB9B2C"/>
              </a:solidFill>
            </a:endParaRPr>
          </a:p>
        </p:txBody>
      </p:sp>
      <p:sp>
        <p:nvSpPr>
          <p:cNvPr id="66" name="Rectangle 65"/>
          <p:cNvSpPr>
            <a:spLocks/>
          </p:cNvSpPr>
          <p:nvPr/>
        </p:nvSpPr>
        <p:spPr>
          <a:xfrm>
            <a:off x="1918385" y="1608490"/>
            <a:ext cx="603050"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a:t>
            </a:r>
            <a:r>
              <a:rPr lang="en-US" sz="900" b="1" dirty="0">
                <a:solidFill>
                  <a:srgbClr val="FFFF00"/>
                </a:solidFill>
                <a:latin typeface="USSF 90 Min Display Medium" panose="020B0703030202060203" pitchFamily="34" charset="77"/>
              </a:rPr>
              <a:t>ZONE 2)</a:t>
            </a:r>
            <a:endParaRPr lang="en-US" sz="900" dirty="0">
              <a:solidFill>
                <a:srgbClr val="FFFF00"/>
              </a:solidFill>
            </a:endParaRPr>
          </a:p>
        </p:txBody>
      </p:sp>
      <p:sp>
        <p:nvSpPr>
          <p:cNvPr id="72" name="Oval 71"/>
          <p:cNvSpPr>
            <a:spLocks/>
          </p:cNvSpPr>
          <p:nvPr/>
        </p:nvSpPr>
        <p:spPr>
          <a:xfrm>
            <a:off x="3888694" y="4421523"/>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3" name="Oval 72"/>
          <p:cNvSpPr>
            <a:spLocks/>
          </p:cNvSpPr>
          <p:nvPr/>
        </p:nvSpPr>
        <p:spPr>
          <a:xfrm>
            <a:off x="5121948" y="3928543"/>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4" name="Oval 73"/>
          <p:cNvSpPr>
            <a:spLocks/>
          </p:cNvSpPr>
          <p:nvPr/>
        </p:nvSpPr>
        <p:spPr>
          <a:xfrm>
            <a:off x="6470645" y="3382727"/>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5" name="Oval 74"/>
          <p:cNvSpPr>
            <a:spLocks/>
          </p:cNvSpPr>
          <p:nvPr/>
        </p:nvSpPr>
        <p:spPr>
          <a:xfrm>
            <a:off x="10045794" y="1927586"/>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6" name="Oval 75"/>
          <p:cNvSpPr>
            <a:spLocks/>
          </p:cNvSpPr>
          <p:nvPr/>
        </p:nvSpPr>
        <p:spPr>
          <a:xfrm>
            <a:off x="8930674" y="2398743"/>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7" name="Oval 76"/>
          <p:cNvSpPr>
            <a:spLocks/>
          </p:cNvSpPr>
          <p:nvPr/>
        </p:nvSpPr>
        <p:spPr>
          <a:xfrm>
            <a:off x="7755278" y="2882497"/>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9" name="Oval 78"/>
          <p:cNvSpPr>
            <a:spLocks/>
          </p:cNvSpPr>
          <p:nvPr/>
        </p:nvSpPr>
        <p:spPr>
          <a:xfrm>
            <a:off x="2484896" y="4994561"/>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00"/>
              </a:solidFill>
              <a:sym typeface="Helvetica Light"/>
            </a:endParaRPr>
          </a:p>
        </p:txBody>
      </p:sp>
      <p:sp>
        <p:nvSpPr>
          <p:cNvPr id="80" name="Oval 79"/>
          <p:cNvSpPr>
            <a:spLocks/>
          </p:cNvSpPr>
          <p:nvPr/>
        </p:nvSpPr>
        <p:spPr>
          <a:xfrm>
            <a:off x="1143565" y="5530753"/>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cxnSp>
        <p:nvCxnSpPr>
          <p:cNvPr id="82" name="Straight Connector 81"/>
          <p:cNvCxnSpPr/>
          <p:nvPr/>
        </p:nvCxnSpPr>
        <p:spPr>
          <a:xfrm>
            <a:off x="4601425" y="2022469"/>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83" name="Rectangle 82"/>
          <p:cNvSpPr>
            <a:spLocks/>
          </p:cNvSpPr>
          <p:nvPr/>
        </p:nvSpPr>
        <p:spPr>
          <a:xfrm>
            <a:off x="4647067" y="2129158"/>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sp>
        <p:nvSpPr>
          <p:cNvPr id="84" name="Rectangle 83"/>
          <p:cNvSpPr>
            <a:spLocks/>
          </p:cNvSpPr>
          <p:nvPr/>
        </p:nvSpPr>
        <p:spPr>
          <a:xfrm>
            <a:off x="7207108" y="993928"/>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cxnSp>
        <p:nvCxnSpPr>
          <p:cNvPr id="91" name="Straight Connector 90"/>
          <p:cNvCxnSpPr/>
          <p:nvPr/>
        </p:nvCxnSpPr>
        <p:spPr>
          <a:xfrm>
            <a:off x="1918385" y="3142829"/>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cxnSp>
        <p:nvCxnSpPr>
          <p:cNvPr id="92" name="Straight Connector 91"/>
          <p:cNvCxnSpPr/>
          <p:nvPr/>
        </p:nvCxnSpPr>
        <p:spPr>
          <a:xfrm>
            <a:off x="7120995" y="1026467"/>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95" name="Oval 94"/>
          <p:cNvSpPr>
            <a:spLocks/>
          </p:cNvSpPr>
          <p:nvPr/>
        </p:nvSpPr>
        <p:spPr>
          <a:xfrm>
            <a:off x="368428" y="5827670"/>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97" name="TextBox 96"/>
          <p:cNvSpPr txBox="1">
            <a:spLocks/>
          </p:cNvSpPr>
          <p:nvPr/>
        </p:nvSpPr>
        <p:spPr>
          <a:xfrm>
            <a:off x="249144" y="4980129"/>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U9</a:t>
            </a:r>
            <a:endParaRPr lang="en-US" sz="3000" b="1" dirty="0">
              <a:solidFill>
                <a:schemeClr val="bg1"/>
              </a:solidFill>
              <a:sym typeface="USSF 90 Min Display Light"/>
            </a:endParaRPr>
          </a:p>
        </p:txBody>
      </p:sp>
      <p:sp>
        <p:nvSpPr>
          <p:cNvPr id="47" name="Rectangle 46"/>
          <p:cNvSpPr>
            <a:spLocks/>
          </p:cNvSpPr>
          <p:nvPr/>
        </p:nvSpPr>
        <p:spPr>
          <a:xfrm>
            <a:off x="843333" y="5917516"/>
            <a:ext cx="203444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U-12 INTRODUCTION TO THE KEY QUALITIES </a:t>
            </a:r>
          </a:p>
        </p:txBody>
      </p:sp>
      <p:pic>
        <p:nvPicPr>
          <p:cNvPr id="49" name="Picture 48">
            <a:extLst>
              <a:ext uri="{FF2B5EF4-FFF2-40B4-BE49-F238E27FC236}">
                <a16:creationId xmlns:a16="http://schemas.microsoft.com/office/drawing/2014/main" id="{6259949F-992D-7044-95E1-8315D8AB4B1F}"/>
              </a:ext>
            </a:extLst>
          </p:cNvPr>
          <p:cNvPicPr>
            <a:picLocks noChangeAspect="1"/>
          </p:cNvPicPr>
          <p:nvPr/>
        </p:nvPicPr>
        <p:blipFill>
          <a:blip r:embed="rId3"/>
          <a:stretch>
            <a:fillRect/>
          </a:stretch>
        </p:blipFill>
        <p:spPr>
          <a:xfrm>
            <a:off x="7586206" y="4813492"/>
            <a:ext cx="2067933" cy="2067933"/>
          </a:xfrm>
          <a:prstGeom prst="rect">
            <a:avLst/>
          </a:prstGeom>
        </p:spPr>
      </p:pic>
    </p:spTree>
    <p:extLst>
      <p:ext uri="{BB962C8B-B14F-4D97-AF65-F5344CB8AC3E}">
        <p14:creationId xmlns:p14="http://schemas.microsoft.com/office/powerpoint/2010/main" val="37844385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Shape 238"/>
          <p:cNvSpPr>
            <a:spLocks noGrp="1"/>
          </p:cNvSpPr>
          <p:nvPr>
            <p:ph type="body" sz="quarter" idx="4294967295"/>
          </p:nvPr>
        </p:nvSpPr>
        <p:spPr>
          <a:xfrm>
            <a:off x="2893937" y="76213"/>
            <a:ext cx="6404125" cy="480131"/>
          </a:xfrm>
          <a:prstGeom prst="rect">
            <a:avLst/>
          </a:prstGeom>
        </p:spPr>
        <p:txBody>
          <a:bodyPr wrap="none">
            <a:spAutoFit/>
          </a:bodyPr>
          <a:lstStyle/>
          <a:p>
            <a:pPr marL="0" indent="0">
              <a:buNone/>
            </a:pPr>
            <a:r>
              <a:rPr lang="en-US" sz="2800" b="1" dirty="0">
                <a:solidFill>
                  <a:srgbClr val="FFFF00"/>
                </a:solidFill>
              </a:rPr>
              <a:t>U-13 &amp; U-14 DEVELOP THE KEY QUALITIES</a:t>
            </a:r>
            <a:endParaRPr sz="2800" b="1" dirty="0">
              <a:solidFill>
                <a:srgbClr val="FFFF00"/>
              </a:solidFill>
            </a:endParaRPr>
          </a:p>
        </p:txBody>
      </p:sp>
      <p:sp>
        <p:nvSpPr>
          <p:cNvPr id="4" name="TextBox 3"/>
          <p:cNvSpPr txBox="1">
            <a:spLocks/>
          </p:cNvSpPr>
          <p:nvPr/>
        </p:nvSpPr>
        <p:spPr>
          <a:xfrm>
            <a:off x="1461249" y="556344"/>
            <a:ext cx="9641807"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individual qualities of a player in a team concept (e.g. roles and tasks of players)</a:t>
            </a:r>
          </a:p>
        </p:txBody>
      </p:sp>
      <p:graphicFrame>
        <p:nvGraphicFramePr>
          <p:cNvPr id="7" name="Table 6">
            <a:extLst>
              <a:ext uri="{FF2B5EF4-FFF2-40B4-BE49-F238E27FC236}">
                <a16:creationId xmlns:a16="http://schemas.microsoft.com/office/drawing/2014/main" id="{468963CB-21FE-DC46-A1D2-103E548E53D3}"/>
              </a:ext>
            </a:extLst>
          </p:cNvPr>
          <p:cNvGraphicFramePr>
            <a:graphicFrameLocks noGrp="1"/>
          </p:cNvGraphicFramePr>
          <p:nvPr>
            <p:extLst>
              <p:ext uri="{D42A27DB-BD31-4B8C-83A1-F6EECF244321}">
                <p14:modId xmlns:p14="http://schemas.microsoft.com/office/powerpoint/2010/main" val="272381136"/>
              </p:ext>
            </p:extLst>
          </p:nvPr>
        </p:nvGraphicFramePr>
        <p:xfrm>
          <a:off x="2366010" y="1127082"/>
          <a:ext cx="7475220" cy="5351505"/>
        </p:xfrm>
        <a:graphic>
          <a:graphicData uri="http://schemas.openxmlformats.org/drawingml/2006/table">
            <a:tbl>
              <a:tblPr firstRow="1" bandRow="1">
                <a:solidFill>
                  <a:srgbClr val="FFFF00"/>
                </a:solidFill>
              </a:tblPr>
              <a:tblGrid>
                <a:gridCol w="7475220">
                  <a:extLst>
                    <a:ext uri="{9D8B030D-6E8A-4147-A177-3AD203B41FA5}">
                      <a16:colId xmlns:a16="http://schemas.microsoft.com/office/drawing/2014/main" val="20000"/>
                    </a:ext>
                  </a:extLst>
                </a:gridCol>
              </a:tblGrid>
              <a:tr h="42898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r>
                        <a:rPr lang="en-US" sz="2000" b="1" i="0" dirty="0">
                          <a:solidFill>
                            <a:schemeClr val="tx1"/>
                          </a:solidFill>
                          <a:uFillTx/>
                          <a:latin typeface="Arial" panose="020B0604020202020204" pitchFamily="34" charset="0"/>
                          <a:cs typeface="Arial" panose="020B0604020202020204" pitchFamily="34" charset="0"/>
                        </a:rPr>
                        <a:t>U-13 &amp; U-14 player behaviors to look for</a:t>
                      </a:r>
                    </a:p>
                  </a:txBody>
                  <a:tcPr marL="45720" marR="45720" marT="22860" marB="2286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00">
                        <a:alpha val="75000"/>
                      </a:srgbClr>
                    </a:solidFill>
                  </a:tcPr>
                </a:tc>
                <a:extLst>
                  <a:ext uri="{0D108BD9-81ED-4DB2-BD59-A6C34878D82A}">
                    <a16:rowId xmlns:a16="http://schemas.microsoft.com/office/drawing/2014/main" val="10000"/>
                  </a:ext>
                </a:extLst>
              </a:tr>
              <a:tr h="485616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Game understanding &amp; Decision Making</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Understands all the phases of the game relative to our style of play and makes quick decisions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Applies our principles of play to scenarios in the game</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Initiative</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Proactive in situations, looks for new ideas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Attacks opponents (1v1, dribble/movement to drag opponents out of position)</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Focus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Plays to win every game</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Is brave and competes in every moment</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Optimal Technical</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Technically proficient to be successful in all situations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Proficient in 1v1 to create attacking prowess</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Optimal Physical</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Protects the ball with body and correct improvement</a:t>
                      </a:r>
                    </a:p>
                    <a:p>
                      <a:pPr marL="0" indent="0" algn="l">
                        <a:buFont typeface="Arial" panose="020B0604020202020204" pitchFamily="34" charset="0"/>
                        <a:buNone/>
                      </a:pPr>
                      <a:r>
                        <a:rPr lang="en-US" sz="1600" b="1" i="0" dirty="0">
                          <a:solidFill>
                            <a:schemeClr val="tx1"/>
                          </a:solidFill>
                          <a:uFillTx/>
                          <a:latin typeface="Calibri" panose="020F0502020204030204" pitchFamily="34" charset="0"/>
                          <a:cs typeface="Calibri" panose="020F0502020204030204" pitchFamily="34" charset="0"/>
                        </a:rPr>
                        <a:t>Responsible (On &amp; Off Field)</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Is involved and engaged throughout every game, training session, and exercise</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Accountable for actions</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Handles (un)expected challenges and problems with flexibility and accountability</a:t>
                      </a:r>
                    </a:p>
                    <a:p>
                      <a:pPr marL="342900" indent="-342900" algn="l">
                        <a:buFont typeface="Arial" panose="020B0604020202020204" pitchFamily="34" charset="0"/>
                        <a:buChar char="•"/>
                      </a:pPr>
                      <a:r>
                        <a:rPr lang="en-US" sz="1600" i="0" dirty="0">
                          <a:solidFill>
                            <a:schemeClr val="tx1"/>
                          </a:solidFill>
                          <a:uFillTx/>
                          <a:latin typeface="Calibri" panose="020F0502020204030204" pitchFamily="34" charset="0"/>
                          <a:cs typeface="Calibri" panose="020F0502020204030204" pitchFamily="34" charset="0"/>
                        </a:rPr>
                        <a:t>Develops own goals to reach their personal learning objectives</a:t>
                      </a:r>
                    </a:p>
                  </a:txBody>
                  <a:tcPr marL="45720" marR="45720" marT="22860" marB="22860" anchor="ct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00">
                        <a:alpha val="75000"/>
                      </a:srgbClr>
                    </a:solidFill>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6F4E6100-A841-BD41-8109-269C1C46538A}"/>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92769244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Shape 238"/>
          <p:cNvSpPr>
            <a:spLocks noGrp="1"/>
          </p:cNvSpPr>
          <p:nvPr>
            <p:ph type="body" sz="quarter" idx="4294967295"/>
          </p:nvPr>
        </p:nvSpPr>
        <p:spPr>
          <a:xfrm>
            <a:off x="2707688" y="79638"/>
            <a:ext cx="6485878" cy="480131"/>
          </a:xfrm>
          <a:prstGeom prst="rect">
            <a:avLst/>
          </a:prstGeom>
        </p:spPr>
        <p:txBody>
          <a:bodyPr wrap="none">
            <a:spAutoFit/>
          </a:bodyPr>
          <a:lstStyle/>
          <a:p>
            <a:pPr marL="0" indent="0" algn="ctr">
              <a:buNone/>
            </a:pPr>
            <a:r>
              <a:rPr lang="en-US" sz="2800" b="1" dirty="0">
                <a:solidFill>
                  <a:srgbClr val="FFFF00"/>
                </a:solidFill>
              </a:rPr>
              <a:t>U-13 &amp; U-14 DEVELOP THE KEY QUALITIES </a:t>
            </a:r>
            <a:endParaRPr sz="2800" b="1" dirty="0">
              <a:solidFill>
                <a:srgbClr val="FFFF00"/>
              </a:solidFill>
            </a:endParaRPr>
          </a:p>
        </p:txBody>
      </p:sp>
      <p:sp>
        <p:nvSpPr>
          <p:cNvPr id="4" name="TextBox 3"/>
          <p:cNvSpPr txBox="1">
            <a:spLocks/>
          </p:cNvSpPr>
          <p:nvPr/>
        </p:nvSpPr>
        <p:spPr>
          <a:xfrm>
            <a:off x="1389468" y="598677"/>
            <a:ext cx="9641807"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individual qualities of a player in a team concept (e.g. roles and tasks of players)</a:t>
            </a:r>
          </a:p>
        </p:txBody>
      </p:sp>
      <p:graphicFrame>
        <p:nvGraphicFramePr>
          <p:cNvPr id="6" name="Table 5">
            <a:extLst>
              <a:ext uri="{FF2B5EF4-FFF2-40B4-BE49-F238E27FC236}">
                <a16:creationId xmlns:a16="http://schemas.microsoft.com/office/drawing/2014/main" id="{D84BC821-B208-E947-B373-EE996B0825B9}"/>
              </a:ext>
            </a:extLst>
          </p:cNvPr>
          <p:cNvGraphicFramePr>
            <a:graphicFrameLocks noGrp="1"/>
          </p:cNvGraphicFramePr>
          <p:nvPr>
            <p:extLst>
              <p:ext uri="{D42A27DB-BD31-4B8C-83A1-F6EECF244321}">
                <p14:modId xmlns:p14="http://schemas.microsoft.com/office/powerpoint/2010/main" val="121948807"/>
              </p:ext>
            </p:extLst>
          </p:nvPr>
        </p:nvGraphicFramePr>
        <p:xfrm>
          <a:off x="502920" y="1326181"/>
          <a:ext cx="11178541" cy="5095429"/>
        </p:xfrm>
        <a:graphic>
          <a:graphicData uri="http://schemas.openxmlformats.org/drawingml/2006/table">
            <a:tbl>
              <a:tblPr firstRow="1" bandRow="1">
                <a:tableStyleId>{5940675A-B579-460E-94D1-54222C63F5DA}</a:tableStyleId>
              </a:tblPr>
              <a:tblGrid>
                <a:gridCol w="1327681">
                  <a:extLst>
                    <a:ext uri="{9D8B030D-6E8A-4147-A177-3AD203B41FA5}">
                      <a16:colId xmlns:a16="http://schemas.microsoft.com/office/drawing/2014/main" val="3283453846"/>
                    </a:ext>
                  </a:extLst>
                </a:gridCol>
                <a:gridCol w="5468820">
                  <a:extLst>
                    <a:ext uri="{9D8B030D-6E8A-4147-A177-3AD203B41FA5}">
                      <a16:colId xmlns:a16="http://schemas.microsoft.com/office/drawing/2014/main" val="20001"/>
                    </a:ext>
                  </a:extLst>
                </a:gridCol>
                <a:gridCol w="4382040">
                  <a:extLst>
                    <a:ext uri="{9D8B030D-6E8A-4147-A177-3AD203B41FA5}">
                      <a16:colId xmlns:a16="http://schemas.microsoft.com/office/drawing/2014/main" val="1726671638"/>
                    </a:ext>
                  </a:extLst>
                </a:gridCol>
              </a:tblGrid>
              <a:tr h="459072">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U-13 &amp; U-14 Player</a:t>
                      </a:r>
                    </a:p>
                  </a:txBody>
                  <a:tcPr marL="45720" marR="45720" marT="22860" marB="22860" anchor="ctr">
                    <a:solidFill>
                      <a:srgbClr val="FFFF00"/>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53709">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ATTACKING</a:t>
                      </a:r>
                    </a:p>
                  </a:txBody>
                  <a:tcPr marL="45720" marR="45720" marT="22860" marB="22860" anchor="ctr">
                    <a:solidFill>
                      <a:srgbClr val="FFFF00"/>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DEFENDING</a:t>
                      </a:r>
                    </a:p>
                  </a:txBody>
                  <a:tcPr marL="45720" marR="45720" marT="22860" marB="22860" anchor="ctr">
                    <a:solidFill>
                      <a:srgbClr val="FFFF00"/>
                    </a:solidFill>
                  </a:tcPr>
                </a:tc>
                <a:extLst>
                  <a:ext uri="{0D108BD9-81ED-4DB2-BD59-A6C34878D82A}">
                    <a16:rowId xmlns:a16="http://schemas.microsoft.com/office/drawing/2014/main" val="1230058897"/>
                  </a:ext>
                </a:extLst>
              </a:tr>
              <a:tr h="239219">
                <a:tc rowSpan="8">
                  <a:txBody>
                    <a:bodyPr/>
                    <a:lstStyle/>
                    <a:p>
                      <a:pPr marL="0" indent="0" algn="l">
                        <a:buFontTx/>
                        <a:buNone/>
                      </a:pPr>
                      <a:r>
                        <a:rPr lang="en-US" sz="1400" b="1" dirty="0">
                          <a:solidFill>
                            <a:schemeClr val="tx1"/>
                          </a:solidFill>
                          <a:uFillTx/>
                          <a:latin typeface="Calibri" panose="020F0502020204030204" pitchFamily="34" charset="0"/>
                          <a:cs typeface="Calibri" panose="020F0502020204030204" pitchFamily="34" charset="0"/>
                        </a:rPr>
                        <a:t>Attacking</a:t>
                      </a:r>
                      <a:r>
                        <a:rPr lang="en-US" sz="1400" b="1" baseline="0" dirty="0">
                          <a:solidFill>
                            <a:schemeClr val="tx1"/>
                          </a:solidFill>
                          <a:uFillTx/>
                          <a:latin typeface="Calibri" panose="020F0502020204030204" pitchFamily="34" charset="0"/>
                          <a:cs typeface="Calibri" panose="020F0502020204030204" pitchFamily="34" charset="0"/>
                        </a:rPr>
                        <a:t> 1/3</a:t>
                      </a:r>
                      <a:endParaRPr lang="en-US" sz="1400" b="1" dirty="0">
                        <a:solidFill>
                          <a:schemeClr val="tx1"/>
                        </a:solidFill>
                        <a:uFillTx/>
                        <a:latin typeface="Calibri" panose="020F0502020204030204" pitchFamily="34" charset="0"/>
                        <a:cs typeface="Calibri" panose="020F0502020204030204" pitchFamily="34" charset="0"/>
                      </a:endParaRPr>
                    </a:p>
                  </a:txBody>
                  <a:tcPr marL="45720" marR="45720" marT="22860" marB="22860" anchor="ctr">
                    <a:lnB w="5715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Different types of runs to get behind/between last line of defenders </a:t>
                      </a:r>
                    </a:p>
                  </a:txBody>
                  <a:tcPr marL="9525" marR="9525" marT="9525" marB="0" anchor="ctr">
                    <a:solidFill>
                      <a:srgbClr val="FFFF00"/>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Mix of zonal and man to man </a:t>
                      </a:r>
                    </a:p>
                  </a:txBody>
                  <a:tcPr marL="9525" marR="9525" marT="9525" marB="0" anchor="ctr">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59805">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key players where they can succeed</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554897439"/>
                  </a:ext>
                </a:extLst>
              </a:tr>
              <a:tr h="179414">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Pressing: Recognize the moment to make play predictable </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554257852"/>
                  </a:ext>
                </a:extLst>
              </a:tr>
              <a:tr h="11961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space to combine and become a passing option</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037426855"/>
                  </a:ext>
                </a:extLst>
              </a:tr>
              <a:tr h="95049">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693074393"/>
                  </a:ext>
                </a:extLst>
              </a:tr>
              <a:tr h="179414">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 numbers in the box</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437741686"/>
                  </a:ext>
                </a:extLst>
              </a:tr>
              <a:tr h="38964">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limit the space between lines and units </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609305602"/>
                  </a:ext>
                </a:extLst>
              </a:tr>
              <a:tr h="239219">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 away from defender =  creating space</a:t>
                      </a:r>
                    </a:p>
                  </a:txBody>
                  <a:tcPr marL="9525" marR="9525" marT="9525" marB="0" anchor="ctr">
                    <a:lnB w="57150" cap="flat" cmpd="sng" algn="ctr">
                      <a:solidFill>
                        <a:schemeClr val="tx1"/>
                      </a:solidFill>
                      <a:prstDash val="solid"/>
                      <a:round/>
                      <a:headEnd type="none" w="med" len="med"/>
                      <a:tailEnd type="none" w="med" len="med"/>
                    </a:lnB>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2460914874"/>
                  </a:ext>
                </a:extLst>
              </a:tr>
              <a:tr h="214659">
                <a:tc rowSpan="8">
                  <a:txBody>
                    <a:bodyPr/>
                    <a:lstStyle/>
                    <a:p>
                      <a:pPr marL="0" indent="0" algn="l">
                        <a:buFontTx/>
                        <a:buNone/>
                      </a:pPr>
                      <a:r>
                        <a:rPr lang="en-US" sz="1400" b="1" i="0" dirty="0">
                          <a:solidFill>
                            <a:schemeClr val="tx1"/>
                          </a:solidFill>
                          <a:uFillTx/>
                          <a:latin typeface="Calibri" panose="020F0502020204030204" pitchFamily="34" charset="0"/>
                          <a:cs typeface="Calibri" panose="020F0502020204030204" pitchFamily="34" charset="0"/>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Movement of players to create numbers up</a:t>
                      </a:r>
                    </a:p>
                  </a:txBody>
                  <a:tcPr marL="9525" marR="9525" marT="9525" marB="0" anchor="ctr">
                    <a:lnT w="57150" cap="flat" cmpd="sng" algn="ctr">
                      <a:solidFill>
                        <a:schemeClr val="tx1"/>
                      </a:solidFill>
                      <a:prstDash val="solid"/>
                      <a:round/>
                      <a:headEnd type="none" w="med" len="med"/>
                      <a:tailEnd type="none" w="med" len="med"/>
                    </a:lnT>
                    <a:solidFill>
                      <a:srgbClr val="FFFF00"/>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Keep the ball in front of us, force play wide</a:t>
                      </a:r>
                    </a:p>
                  </a:txBody>
                  <a:tcPr marL="9525" marR="9525" marT="9525" marB="0" anchor="ct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104672">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Full backs and wingers occupying different channels</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157069119"/>
                  </a:ext>
                </a:extLst>
              </a:tr>
              <a:tr h="109986">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 in your zone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243468157"/>
                  </a:ext>
                </a:extLst>
              </a:tr>
              <a:tr h="209346">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space to combine and become a passing option</a:t>
                      </a:r>
                    </a:p>
                  </a:txBody>
                  <a:tcPr marL="9525" marR="9525" marT="9525" marB="0" anchor="ctr">
                    <a:solidFill>
                      <a:srgbClr val="FFFF00"/>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879113547"/>
                  </a:ext>
                </a:extLst>
              </a:tr>
              <a:tr h="38964">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communicate player movement </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02883910"/>
                  </a:ext>
                </a:extLst>
              </a:tr>
              <a:tr h="314018">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numbers up on one side to find teammate on the other side in  open space or 1v1</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848393572"/>
                  </a:ext>
                </a:extLst>
              </a:tr>
              <a:tr h="104672">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limit the space between lines and units</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120704979"/>
                  </a:ext>
                </a:extLst>
              </a:tr>
              <a:tr h="214659">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 away from defender =  creating space</a:t>
                      </a:r>
                    </a:p>
                  </a:txBody>
                  <a:tcPr marL="9525" marR="9525" marT="9525" marB="0" anchor="ctr">
                    <a:lnB w="57150" cap="flat" cmpd="sng" algn="ctr">
                      <a:solidFill>
                        <a:schemeClr val="tx1"/>
                      </a:solidFill>
                      <a:prstDash val="solid"/>
                      <a:round/>
                      <a:headEnd type="none" w="med" len="med"/>
                      <a:tailEnd type="none" w="med" len="med"/>
                    </a:lnB>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1956949814"/>
                  </a:ext>
                </a:extLst>
              </a:tr>
              <a:tr h="270318">
                <a:tc rowSpan="8">
                  <a:txBody>
                    <a:bodyPr/>
                    <a:lstStyle/>
                    <a:p>
                      <a:pPr marL="0" indent="0" algn="l">
                        <a:buFontTx/>
                        <a:buNone/>
                      </a:pPr>
                      <a:r>
                        <a:rPr lang="en-US" sz="1400" b="1" dirty="0">
                          <a:solidFill>
                            <a:schemeClr val="tx1"/>
                          </a:solidFill>
                          <a:uFillTx/>
                          <a:latin typeface="Calibri" panose="020F0502020204030204" pitchFamily="34" charset="0"/>
                          <a:cs typeface="Calibri" panose="020F0502020204030204" pitchFamily="34" charset="0"/>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numbers up to move the ball forward</a:t>
                      </a:r>
                    </a:p>
                  </a:txBody>
                  <a:tcPr marL="9525" marR="9525" marT="9525" marB="0" anchor="ctr">
                    <a:lnT w="57150" cap="flat" cmpd="sng" algn="ctr">
                      <a:solidFill>
                        <a:schemeClr val="tx1"/>
                      </a:solidFill>
                      <a:prstDash val="solid"/>
                      <a:round/>
                      <a:headEnd type="none" w="med" len="med"/>
                      <a:tailEnd type="none" w="med" len="med"/>
                    </a:lnT>
                    <a:solidFill>
                      <a:srgbClr val="FFFF00"/>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 compact and stay compact – don’t allow passes through you</a:t>
                      </a:r>
                    </a:p>
                  </a:txBody>
                  <a:tcPr marL="9525" marR="9525" marT="9525" marB="0" anchor="ctr">
                    <a:lnT w="57150" cap="flat" cmpd="sng" algn="ctr">
                      <a:solidFill>
                        <a:schemeClr val="tx1"/>
                      </a:solidFill>
                      <a:prstDash val="solid"/>
                      <a:round/>
                      <a:headEnd type="none" w="med" len="med"/>
                      <a:tailEnd type="none" w="med" len="med"/>
                    </a:lnT>
                    <a:solidFill>
                      <a:srgbClr val="FFFF00"/>
                    </a:solidFill>
                  </a:tcPr>
                </a:tc>
                <a:extLst>
                  <a:ext uri="{0D108BD9-81ED-4DB2-BD59-A6C34878D82A}">
                    <a16:rowId xmlns:a16="http://schemas.microsoft.com/office/drawing/2014/main" val="10003"/>
                  </a:ext>
                </a:extLst>
              </a:tr>
              <a:tr h="6758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Beat the first defender by passing or dribbling </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202739">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solidFill>
                      <a:srgbClr val="FFFF00"/>
                    </a:solidFill>
                  </a:tcPr>
                </a:tc>
                <a:extLst>
                  <a:ext uri="{0D108BD9-81ED-4DB2-BD59-A6C34878D82A}">
                    <a16:rowId xmlns:a16="http://schemas.microsoft.com/office/drawing/2014/main" val="1813802091"/>
                  </a:ext>
                </a:extLst>
              </a:tr>
              <a:tr h="135159">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diagonal passing lanes to support teammate </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135159">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solidFill>
                      <a:srgbClr val="FFFF00"/>
                    </a:solidFill>
                  </a:tcPr>
                </a:tc>
                <a:extLst>
                  <a:ext uri="{0D108BD9-81ED-4DB2-BD59-A6C34878D82A}">
                    <a16:rowId xmlns:a16="http://schemas.microsoft.com/office/drawing/2014/main" val="2170579382"/>
                  </a:ext>
                </a:extLst>
              </a:tr>
              <a:tr h="202739">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ctr">
                    <a:solidFill>
                      <a:srgbClr val="FFFF00"/>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38964">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Inside the box man mark, outside the box mark space</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1781218299"/>
                  </a:ext>
                </a:extLst>
              </a:tr>
              <a:tr h="27031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Occupy 5 vertical lanes with 5 defenders </a:t>
                      </a:r>
                    </a:p>
                  </a:txBody>
                  <a:tcPr marL="9525" marR="9525" marT="9525" marB="0" anchor="ctr">
                    <a:solidFill>
                      <a:srgbClr val="FFFF00"/>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7" name="Picture 6">
            <a:extLst>
              <a:ext uri="{FF2B5EF4-FFF2-40B4-BE49-F238E27FC236}">
                <a16:creationId xmlns:a16="http://schemas.microsoft.com/office/drawing/2014/main" id="{7D41C063-FC9A-C441-8591-465717990030}"/>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7232738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980B564-34F3-9940-B0C7-761DC23EC2D9}"/>
              </a:ext>
            </a:extLst>
          </p:cNvPr>
          <p:cNvGraphicFramePr>
            <a:graphicFrameLocks noGrp="1"/>
          </p:cNvGraphicFramePr>
          <p:nvPr>
            <p:extLst>
              <p:ext uri="{D42A27DB-BD31-4B8C-83A1-F6EECF244321}">
                <p14:modId xmlns:p14="http://schemas.microsoft.com/office/powerpoint/2010/main" val="1624165340"/>
              </p:ext>
            </p:extLst>
          </p:nvPr>
        </p:nvGraphicFramePr>
        <p:xfrm>
          <a:off x="661597" y="1116108"/>
          <a:ext cx="10812779" cy="5158478"/>
        </p:xfrm>
        <a:graphic>
          <a:graphicData uri="http://schemas.openxmlformats.org/drawingml/2006/table">
            <a:tbl>
              <a:tblPr firstRow="1" bandRow="1">
                <a:solidFill>
                  <a:srgbClr val="FFFF00"/>
                </a:solidFill>
                <a:tableStyleId>{5940675A-B579-460E-94D1-54222C63F5DA}</a:tableStyleId>
              </a:tblPr>
              <a:tblGrid>
                <a:gridCol w="1271392">
                  <a:extLst>
                    <a:ext uri="{9D8B030D-6E8A-4147-A177-3AD203B41FA5}">
                      <a16:colId xmlns:a16="http://schemas.microsoft.com/office/drawing/2014/main" val="3283453846"/>
                    </a:ext>
                  </a:extLst>
                </a:gridCol>
                <a:gridCol w="5717812">
                  <a:extLst>
                    <a:ext uri="{9D8B030D-6E8A-4147-A177-3AD203B41FA5}">
                      <a16:colId xmlns:a16="http://schemas.microsoft.com/office/drawing/2014/main" val="20001"/>
                    </a:ext>
                  </a:extLst>
                </a:gridCol>
                <a:gridCol w="3823575">
                  <a:extLst>
                    <a:ext uri="{9D8B030D-6E8A-4147-A177-3AD203B41FA5}">
                      <a16:colId xmlns:a16="http://schemas.microsoft.com/office/drawing/2014/main" val="1726671638"/>
                    </a:ext>
                  </a:extLst>
                </a:gridCol>
              </a:tblGrid>
              <a:tr h="447671">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U-13 &amp; U-14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42441">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A&gt;D</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D&gt;A</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33278">
                <a:tc rowSpan="6">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solidFill>
                      <a:srgbClr val="FFFF00">
                        <a:alpha val="75000"/>
                      </a:srgbClr>
                    </a:solidFill>
                  </a:tcPr>
                </a:tc>
                <a:tc rowSpan="3">
                  <a:txBody>
                    <a:bodyPr/>
                    <a:lstStyle/>
                    <a:p>
                      <a:pPr algn="ctr" fontAlgn="b"/>
                      <a:r>
                        <a:rPr lang="en-US" sz="1400" b="0" i="0" u="none" strike="noStrike" dirty="0">
                          <a:solidFill>
                            <a:srgbClr val="000000"/>
                          </a:solidFill>
                          <a:effectLst/>
                          <a:latin typeface="Calibri" panose="020F0502020204030204" pitchFamily="34" charset="0"/>
                        </a:rPr>
                        <a:t>Play the highest player on the field if possible</a:t>
                      </a:r>
                    </a:p>
                  </a:txBody>
                  <a:tcPr marL="9525" marR="9525" marT="9525" marB="0" anchor="ctr">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1"/>
                  </a:ext>
                </a:extLst>
              </a:tr>
              <a:tr h="23327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compact/organized</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554897439"/>
                  </a:ext>
                </a:extLst>
              </a:tr>
              <a:tr h="23327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548635790"/>
                  </a:ext>
                </a:extLst>
              </a:tr>
              <a:tr h="23327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back</a:t>
                      </a:r>
                    </a:p>
                  </a:txBody>
                  <a:tcPr marL="9525" marR="9525" marT="9525" marB="0" anchor="ctr">
                    <a:solidFill>
                      <a:srgbClr val="FFFF00">
                        <a:alpha val="75000"/>
                      </a:srgbClr>
                    </a:solidFill>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Dribble towards the goal and shoot on target </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4037426855"/>
                  </a:ext>
                </a:extLst>
              </a:tr>
              <a:tr h="23327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drop deep and get organized/compact</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437741686"/>
                  </a:ext>
                </a:extLst>
              </a:tr>
              <a:tr h="23327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No pressure on the ball, drop/delay </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2460914874"/>
                  </a:ext>
                </a:extLst>
              </a:tr>
              <a:tr h="209328">
                <a:tc rowSpan="6">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3">
                  <a:txBody>
                    <a:bodyPr/>
                    <a:lstStyle/>
                    <a:p>
                      <a:pPr algn="ctr" fontAlgn="b"/>
                      <a:r>
                        <a:rPr lang="en-US" sz="14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2"/>
                  </a:ext>
                </a:extLst>
              </a:tr>
              <a:tr h="20932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4157069119"/>
                  </a:ext>
                </a:extLst>
              </a:tr>
              <a:tr h="104664">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879113547"/>
                  </a:ext>
                </a:extLst>
              </a:tr>
              <a:tr h="104663">
                <a:tc vMerge="1">
                  <a:txBody>
                    <a:bodyPr/>
                    <a:lstStyle/>
                    <a:p>
                      <a:endParaRPr lang="en-US"/>
                    </a:p>
                  </a:txBody>
                  <a:tcPr/>
                </a:tc>
                <a:tc vMerge="1">
                  <a:txBody>
                    <a:bodyPr/>
                    <a:lstStyle/>
                    <a:p>
                      <a:endParaRPr lang="en-US"/>
                    </a:p>
                  </a:txBody>
                  <a:tcPr/>
                </a:tc>
                <a:tc rowSpan="3">
                  <a:txBody>
                    <a:bodyPr/>
                    <a:lstStyle/>
                    <a:p>
                      <a:pPr algn="ctr" fontAlgn="b"/>
                      <a:r>
                        <a:rPr lang="en-US" sz="1400" b="0" i="0" u="none" strike="noStrike" dirty="0">
                          <a:solidFill>
                            <a:srgbClr val="000000"/>
                          </a:solidFill>
                          <a:effectLst/>
                          <a:latin typeface="Calibri" panose="020F0502020204030204" pitchFamily="34" charset="0"/>
                        </a:rPr>
                        <a:t>Pass backwards if you can not go forward</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2153952664"/>
                  </a:ext>
                </a:extLst>
              </a:tr>
              <a:tr h="20932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848393572"/>
                  </a:ext>
                </a:extLst>
              </a:tr>
              <a:tr h="20932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1956949814"/>
                  </a:ext>
                </a:extLst>
              </a:tr>
              <a:tr h="263605">
                <a:tc rowSpan="7">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4">
                  <a:txBody>
                    <a:bodyPr/>
                    <a:lstStyle/>
                    <a:p>
                      <a:pPr algn="ctr" fontAlgn="b"/>
                      <a:r>
                        <a:rPr lang="en-US" sz="14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3"/>
                  </a:ext>
                </a:extLst>
              </a:tr>
              <a:tr h="263605">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348815382"/>
                  </a:ext>
                </a:extLst>
              </a:tr>
              <a:tr h="263606">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582550781"/>
                  </a:ext>
                </a:extLst>
              </a:tr>
              <a:tr h="72345">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358535128"/>
                  </a:ext>
                </a:extLst>
              </a:tr>
              <a:tr h="191261">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Pass backwards if you can not go forward</a:t>
                      </a:r>
                    </a:p>
                  </a:txBody>
                  <a:tcPr marL="9525" marR="9525" marT="9525" marB="0" anchor="ctr">
                    <a:solidFill>
                      <a:srgbClr val="FFFF00">
                        <a:alpha val="75000"/>
                      </a:srgbClr>
                    </a:solidFill>
                  </a:tcPr>
                </a:tc>
                <a:extLst>
                  <a:ext uri="{0D108BD9-81ED-4DB2-BD59-A6C34878D82A}">
                    <a16:rowId xmlns:a16="http://schemas.microsoft.com/office/drawing/2014/main" val="4235396648"/>
                  </a:ext>
                </a:extLst>
              </a:tr>
              <a:tr h="263606">
                <a:tc vMerge="1">
                  <a:txBody>
                    <a:bodyPr/>
                    <a:lstStyle/>
                    <a:p>
                      <a:endParaRPr lang="en-US"/>
                    </a:p>
                  </a:txBody>
                  <a:tcPr/>
                </a:tc>
                <a:tc>
                  <a:txBody>
                    <a:bodyPr/>
                    <a:lstStyle/>
                    <a:p>
                      <a:pPr marL="0" indent="0" algn="ctr" rtl="0" fontAlgn="base">
                        <a:spcBef>
                          <a:spcPts val="0"/>
                        </a:spcBef>
                        <a:spcAft>
                          <a:spcPts val="0"/>
                        </a:spcAft>
                        <a:buFontTx/>
                        <a:buNone/>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(Defensive) Zonal defending, man to man within the box</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616524127"/>
                  </a:ext>
                </a:extLst>
              </a:tr>
              <a:tr h="408293">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or no pressure, drop deep (edge of the D lowest point of confrontation) and get organized/compact.</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7" name="Picture 6">
            <a:extLst>
              <a:ext uri="{FF2B5EF4-FFF2-40B4-BE49-F238E27FC236}">
                <a16:creationId xmlns:a16="http://schemas.microsoft.com/office/drawing/2014/main" id="{15415573-D497-784A-B10C-008D60A76EBD}"/>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DCCFD146-EC4A-AF4E-B885-BEDD4AC0EDC9}"/>
              </a:ext>
            </a:extLst>
          </p:cNvPr>
          <p:cNvSpPr txBox="1">
            <a:spLocks/>
          </p:cNvSpPr>
          <p:nvPr/>
        </p:nvSpPr>
        <p:spPr>
          <a:xfrm>
            <a:off x="2707688" y="79638"/>
            <a:ext cx="6485878" cy="480131"/>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a:solidFill>
                  <a:srgbClr val="FFFF00"/>
                </a:solidFill>
              </a:rPr>
              <a:t>U-13 &amp; U-14 DEVELOP THE KEY QUALITIES </a:t>
            </a:r>
            <a:endParaRPr lang="en-US" b="1" dirty="0">
              <a:solidFill>
                <a:srgbClr val="FFFF00"/>
              </a:solidFill>
            </a:endParaRPr>
          </a:p>
        </p:txBody>
      </p:sp>
      <p:sp>
        <p:nvSpPr>
          <p:cNvPr id="9" name="TextBox 8">
            <a:extLst>
              <a:ext uri="{FF2B5EF4-FFF2-40B4-BE49-F238E27FC236}">
                <a16:creationId xmlns:a16="http://schemas.microsoft.com/office/drawing/2014/main" id="{39460DC6-E9FD-9849-BD81-33AFDC850999}"/>
              </a:ext>
            </a:extLst>
          </p:cNvPr>
          <p:cNvSpPr txBox="1">
            <a:spLocks/>
          </p:cNvSpPr>
          <p:nvPr/>
        </p:nvSpPr>
        <p:spPr>
          <a:xfrm>
            <a:off x="1389468" y="598677"/>
            <a:ext cx="9641807"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individual qualities of a player in a team concept (e.g. roles and tasks of players)</a:t>
            </a:r>
          </a:p>
        </p:txBody>
      </p:sp>
    </p:spTree>
    <p:extLst>
      <p:ext uri="{BB962C8B-B14F-4D97-AF65-F5344CB8AC3E}">
        <p14:creationId xmlns:p14="http://schemas.microsoft.com/office/powerpoint/2010/main" val="82367835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675" b="17138"/>
          <a:stretch/>
        </p:blipFill>
        <p:spPr>
          <a:xfrm>
            <a:off x="0" y="0"/>
            <a:ext cx="12192000" cy="6873766"/>
          </a:xfrm>
          <a:prstGeom prst="rect">
            <a:avLst/>
          </a:prstGeom>
          <a:solidFill>
            <a:schemeClr val="accent5"/>
          </a:solidFill>
        </p:spPr>
      </p:pic>
      <p:cxnSp>
        <p:nvCxnSpPr>
          <p:cNvPr id="6" name="Straight Connector 5"/>
          <p:cNvCxnSpPr>
            <a:cxnSpLocks/>
          </p:cNvCxnSpPr>
          <p:nvPr/>
        </p:nvCxnSpPr>
        <p:spPr>
          <a:xfrm flipV="1">
            <a:off x="173661" y="1351718"/>
            <a:ext cx="11704320" cy="4752006"/>
          </a:xfrm>
          <a:prstGeom prst="line">
            <a:avLst/>
          </a:prstGeom>
          <a:noFill/>
          <a:ln w="57150" cap="flat">
            <a:solidFill>
              <a:schemeClr val="bg1"/>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13" name="TextBox 12"/>
          <p:cNvSpPr txBox="1">
            <a:spLocks/>
          </p:cNvSpPr>
          <p:nvPr/>
        </p:nvSpPr>
        <p:spPr>
          <a:xfrm>
            <a:off x="9807318" y="1037456"/>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U19</a:t>
            </a:r>
            <a:endParaRPr lang="en-US" sz="3000" b="1" dirty="0">
              <a:solidFill>
                <a:schemeClr val="bg1"/>
              </a:solidFill>
              <a:sym typeface="USSF 90 Min Display Light"/>
            </a:endParaRPr>
          </a:p>
        </p:txBody>
      </p:sp>
      <p:sp>
        <p:nvSpPr>
          <p:cNvPr id="14" name="TextBox 13"/>
          <p:cNvSpPr txBox="1">
            <a:spLocks/>
          </p:cNvSpPr>
          <p:nvPr/>
        </p:nvSpPr>
        <p:spPr>
          <a:xfrm>
            <a:off x="8699044" y="1483983"/>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U18</a:t>
            </a:r>
            <a:endParaRPr lang="en-US" sz="3000" b="1" dirty="0">
              <a:solidFill>
                <a:schemeClr val="bg1"/>
              </a:solidFill>
              <a:sym typeface="USSF 90 Min Display Light"/>
            </a:endParaRPr>
          </a:p>
        </p:txBody>
      </p:sp>
      <p:sp>
        <p:nvSpPr>
          <p:cNvPr id="15" name="TextBox 14"/>
          <p:cNvSpPr txBox="1">
            <a:spLocks/>
          </p:cNvSpPr>
          <p:nvPr/>
        </p:nvSpPr>
        <p:spPr>
          <a:xfrm>
            <a:off x="7557737" y="2027276"/>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U17</a:t>
            </a:r>
            <a:endParaRPr lang="en-US" sz="3000" b="1" dirty="0">
              <a:solidFill>
                <a:schemeClr val="bg1"/>
              </a:solidFill>
              <a:sym typeface="USSF 90 Min Display Light"/>
            </a:endParaRPr>
          </a:p>
        </p:txBody>
      </p:sp>
      <p:sp>
        <p:nvSpPr>
          <p:cNvPr id="16" name="TextBox 15"/>
          <p:cNvSpPr txBox="1">
            <a:spLocks/>
          </p:cNvSpPr>
          <p:nvPr/>
        </p:nvSpPr>
        <p:spPr>
          <a:xfrm>
            <a:off x="6265325" y="2510687"/>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U16</a:t>
            </a:r>
            <a:endParaRPr lang="en-US" sz="3000" b="1" dirty="0">
              <a:solidFill>
                <a:srgbClr val="FFFF00"/>
              </a:solidFill>
              <a:sym typeface="USSF 90 Min Display Light"/>
            </a:endParaRPr>
          </a:p>
        </p:txBody>
      </p:sp>
      <p:sp>
        <p:nvSpPr>
          <p:cNvPr id="17" name="TextBox 16"/>
          <p:cNvSpPr txBox="1">
            <a:spLocks/>
          </p:cNvSpPr>
          <p:nvPr/>
        </p:nvSpPr>
        <p:spPr>
          <a:xfrm>
            <a:off x="4868749" y="3016270"/>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U15</a:t>
            </a:r>
            <a:endParaRPr lang="en-US" sz="3000" b="1" dirty="0">
              <a:solidFill>
                <a:srgbClr val="FFFF00"/>
              </a:solidFill>
              <a:sym typeface="USSF 90 Min Display Light"/>
            </a:endParaRPr>
          </a:p>
        </p:txBody>
      </p:sp>
      <p:sp>
        <p:nvSpPr>
          <p:cNvPr id="18" name="TextBox 17"/>
          <p:cNvSpPr txBox="1">
            <a:spLocks/>
          </p:cNvSpPr>
          <p:nvPr/>
        </p:nvSpPr>
        <p:spPr>
          <a:xfrm>
            <a:off x="3640141" y="3509332"/>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U14</a:t>
            </a:r>
            <a:endParaRPr lang="en-US" sz="3000" b="1" dirty="0">
              <a:solidFill>
                <a:schemeClr val="bg1"/>
              </a:solidFill>
              <a:sym typeface="USSF 90 Min Display Light"/>
            </a:endParaRPr>
          </a:p>
        </p:txBody>
      </p:sp>
      <p:sp>
        <p:nvSpPr>
          <p:cNvPr id="19" name="TextBox 18"/>
          <p:cNvSpPr txBox="1">
            <a:spLocks/>
          </p:cNvSpPr>
          <p:nvPr/>
        </p:nvSpPr>
        <p:spPr>
          <a:xfrm>
            <a:off x="2212707" y="4052091"/>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U13</a:t>
            </a:r>
            <a:endParaRPr lang="en-US" sz="3000" b="1" dirty="0">
              <a:solidFill>
                <a:schemeClr val="bg1"/>
              </a:solidFill>
              <a:sym typeface="USSF 90 Min Display Light"/>
            </a:endParaRPr>
          </a:p>
        </p:txBody>
      </p:sp>
      <p:cxnSp>
        <p:nvCxnSpPr>
          <p:cNvPr id="28" name="Straight Connector 27"/>
          <p:cNvCxnSpPr/>
          <p:nvPr/>
        </p:nvCxnSpPr>
        <p:spPr>
          <a:xfrm rot="540000" flipH="1">
            <a:off x="5224238" y="3406715"/>
            <a:ext cx="1280160" cy="779962"/>
          </a:xfrm>
          <a:prstGeom prst="line">
            <a:avLst/>
          </a:prstGeom>
          <a:noFill/>
          <a:ln w="57150" cap="flat">
            <a:solidFill>
              <a:srgbClr val="FFFF00"/>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34" name="Rectangle 33"/>
          <p:cNvSpPr>
            <a:spLocks/>
          </p:cNvSpPr>
          <p:nvPr/>
        </p:nvSpPr>
        <p:spPr>
          <a:xfrm>
            <a:off x="8071671" y="2859576"/>
            <a:ext cx="2724480"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U17-U19 EXECUTE THE KEY QUALITIES SUCCESSFULLY IN ORDER TO WIN THE GAME </a:t>
            </a:r>
          </a:p>
        </p:txBody>
      </p:sp>
      <p:sp>
        <p:nvSpPr>
          <p:cNvPr id="39" name="Rectangle 38"/>
          <p:cNvSpPr>
            <a:spLocks/>
          </p:cNvSpPr>
          <p:nvPr/>
        </p:nvSpPr>
        <p:spPr>
          <a:xfrm>
            <a:off x="5481265" y="3872562"/>
            <a:ext cx="2280331" cy="830997"/>
          </a:xfrm>
          <a:prstGeom prst="rect">
            <a:avLst/>
          </a:prstGeom>
        </p:spPr>
        <p:txBody>
          <a:bodyPr wrap="square">
            <a:spAutoFit/>
          </a:bodyPr>
          <a:lstStyle/>
          <a:p>
            <a:r>
              <a:rPr lang="en-US" sz="1600" b="1" dirty="0">
                <a:solidFill>
                  <a:srgbClr val="FFFF00"/>
                </a:solidFill>
                <a:latin typeface="USSF 90 Min Display Medium" panose="020B0703030202060203" pitchFamily="34" charset="77"/>
              </a:rPr>
              <a:t>U-15 &amp; U-16 EXECUTE THE KEY QUALITIES SUCCESSFULLY </a:t>
            </a:r>
          </a:p>
        </p:txBody>
      </p:sp>
      <p:sp>
        <p:nvSpPr>
          <p:cNvPr id="43" name="Rectangle 42"/>
          <p:cNvSpPr>
            <a:spLocks/>
          </p:cNvSpPr>
          <p:nvPr/>
        </p:nvSpPr>
        <p:spPr>
          <a:xfrm>
            <a:off x="3023928" y="4924847"/>
            <a:ext cx="1867583"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U-13 &amp; U-14 DEVELOP THE KEY QUALITIES</a:t>
            </a:r>
          </a:p>
        </p:txBody>
      </p:sp>
      <p:sp>
        <p:nvSpPr>
          <p:cNvPr id="46" name="TextBox 45"/>
          <p:cNvSpPr txBox="1">
            <a:spLocks/>
          </p:cNvSpPr>
          <p:nvPr/>
        </p:nvSpPr>
        <p:spPr>
          <a:xfrm>
            <a:off x="931723" y="4632661"/>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U12</a:t>
            </a:r>
            <a:endParaRPr lang="en-US" sz="3000" b="1" dirty="0">
              <a:solidFill>
                <a:schemeClr val="bg1"/>
              </a:solidFill>
              <a:sym typeface="USSF 90 Min Display Light"/>
            </a:endParaRPr>
          </a:p>
        </p:txBody>
      </p:sp>
      <p:sp>
        <p:nvSpPr>
          <p:cNvPr id="4" name="Rectangle 3"/>
          <p:cNvSpPr>
            <a:spLocks/>
          </p:cNvSpPr>
          <p:nvPr/>
        </p:nvSpPr>
        <p:spPr>
          <a:xfrm>
            <a:off x="225620" y="3884325"/>
            <a:ext cx="1606465" cy="1169551"/>
          </a:xfrm>
          <a:prstGeom prst="rect">
            <a:avLst/>
          </a:prstGeom>
        </p:spPr>
        <p:txBody>
          <a:bodyPr wrap="square">
            <a:spAutoFit/>
          </a:bodyPr>
          <a:lstStyle/>
          <a:p>
            <a:r>
              <a:rPr lang="en-US" sz="1000" b="1" dirty="0">
                <a:solidFill>
                  <a:schemeClr val="bg1"/>
                </a:solidFill>
              </a:rPr>
              <a:t>Development of the individual qualities of a player in a team environment (not based on position. Continuous development of fundamentals)</a:t>
            </a:r>
          </a:p>
        </p:txBody>
      </p:sp>
      <p:sp>
        <p:nvSpPr>
          <p:cNvPr id="7" name="Rectangle 6"/>
          <p:cNvSpPr>
            <a:spLocks/>
          </p:cNvSpPr>
          <p:nvPr/>
        </p:nvSpPr>
        <p:spPr>
          <a:xfrm>
            <a:off x="1999152" y="3412443"/>
            <a:ext cx="2397172" cy="553998"/>
          </a:xfrm>
          <a:prstGeom prst="rect">
            <a:avLst/>
          </a:prstGeom>
          <a:noFill/>
        </p:spPr>
        <p:txBody>
          <a:bodyPr wrap="square">
            <a:spAutoFit/>
          </a:bodyPr>
          <a:lstStyle/>
          <a:p>
            <a:r>
              <a:rPr lang="en-US" sz="1000" dirty="0">
                <a:solidFill>
                  <a:schemeClr val="bg1"/>
                </a:solidFill>
              </a:rPr>
              <a:t>Development of the individual qualities of a player in a team concept (e.g. roles and tasks of players</a:t>
            </a:r>
          </a:p>
        </p:txBody>
      </p:sp>
      <p:sp>
        <p:nvSpPr>
          <p:cNvPr id="29" name="Rectangle 28"/>
          <p:cNvSpPr>
            <a:spLocks/>
          </p:cNvSpPr>
          <p:nvPr/>
        </p:nvSpPr>
        <p:spPr>
          <a:xfrm>
            <a:off x="4572926" y="1103205"/>
            <a:ext cx="2426879" cy="1638910"/>
          </a:xfrm>
          <a:prstGeom prst="rect">
            <a:avLst/>
          </a:prstGeom>
          <a:solidFill>
            <a:srgbClr val="FFFF00"/>
          </a:solidFill>
        </p:spPr>
        <p:txBody>
          <a:bodyPr wrap="square">
            <a:spAutoFit/>
          </a:bodyPr>
          <a:lstStyle/>
          <a:p>
            <a:pPr marL="285750" indent="-285750">
              <a:spcAft>
                <a:spcPts val="300"/>
              </a:spcAft>
              <a:buFont typeface="Arial" panose="020B0604020202020204" pitchFamily="34" charset="0"/>
              <a:buChar char="•"/>
            </a:pPr>
            <a:r>
              <a:rPr lang="en-US" sz="1400" dirty="0"/>
              <a:t>Development of the specific qualities of a player in their position Development &amp; Performance </a:t>
            </a:r>
          </a:p>
          <a:p>
            <a:pPr marL="285750" indent="-285750">
              <a:spcAft>
                <a:spcPts val="300"/>
              </a:spcAft>
              <a:buFont typeface="Arial" panose="020B0604020202020204" pitchFamily="34" charset="0"/>
              <a:buChar char="•"/>
            </a:pPr>
            <a:r>
              <a:rPr lang="en-US" sz="1400" dirty="0"/>
              <a:t>Execute Club’s Game Model &amp; Principles</a:t>
            </a:r>
          </a:p>
        </p:txBody>
      </p:sp>
      <p:sp>
        <p:nvSpPr>
          <p:cNvPr id="30" name="Rectangle 29"/>
          <p:cNvSpPr>
            <a:spLocks/>
          </p:cNvSpPr>
          <p:nvPr/>
        </p:nvSpPr>
        <p:spPr>
          <a:xfrm>
            <a:off x="7185981" y="1263571"/>
            <a:ext cx="2260533" cy="553998"/>
          </a:xfrm>
          <a:prstGeom prst="rect">
            <a:avLst/>
          </a:prstGeom>
        </p:spPr>
        <p:txBody>
          <a:bodyPr wrap="square">
            <a:spAutoFit/>
          </a:bodyPr>
          <a:lstStyle/>
          <a:p>
            <a:pPr>
              <a:spcAft>
                <a:spcPts val="300"/>
              </a:spcAft>
            </a:pPr>
            <a:r>
              <a:rPr lang="en-US" sz="1000" dirty="0">
                <a:solidFill>
                  <a:schemeClr val="bg1"/>
                </a:solidFill>
              </a:rPr>
              <a:t>Development of the specific qualities of a player to be the  best player in their position to win the game</a:t>
            </a:r>
          </a:p>
        </p:txBody>
      </p:sp>
      <p:sp>
        <p:nvSpPr>
          <p:cNvPr id="64" name="Rectangle 63"/>
          <p:cNvSpPr>
            <a:spLocks/>
          </p:cNvSpPr>
          <p:nvPr/>
        </p:nvSpPr>
        <p:spPr>
          <a:xfrm>
            <a:off x="199998" y="3589641"/>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1)</a:t>
            </a:r>
            <a:endParaRPr lang="en-US" sz="900" dirty="0">
              <a:solidFill>
                <a:srgbClr val="CB9B2C"/>
              </a:solidFill>
            </a:endParaRPr>
          </a:p>
        </p:txBody>
      </p:sp>
      <p:sp>
        <p:nvSpPr>
          <p:cNvPr id="66" name="Rectangle 65"/>
          <p:cNvSpPr>
            <a:spLocks/>
          </p:cNvSpPr>
          <p:nvPr/>
        </p:nvSpPr>
        <p:spPr>
          <a:xfrm>
            <a:off x="2007588" y="3189738"/>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sp>
        <p:nvSpPr>
          <p:cNvPr id="72" name="Oval 71"/>
          <p:cNvSpPr>
            <a:spLocks/>
          </p:cNvSpPr>
          <p:nvPr/>
        </p:nvSpPr>
        <p:spPr>
          <a:xfrm>
            <a:off x="3860225" y="4358328"/>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3" name="Oval 72"/>
          <p:cNvSpPr>
            <a:spLocks/>
          </p:cNvSpPr>
          <p:nvPr/>
        </p:nvSpPr>
        <p:spPr>
          <a:xfrm>
            <a:off x="5093479" y="3865348"/>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4" name="Oval 73"/>
          <p:cNvSpPr>
            <a:spLocks/>
          </p:cNvSpPr>
          <p:nvPr/>
        </p:nvSpPr>
        <p:spPr>
          <a:xfrm>
            <a:off x="6442176" y="3319532"/>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5" name="Oval 74"/>
          <p:cNvSpPr>
            <a:spLocks/>
          </p:cNvSpPr>
          <p:nvPr/>
        </p:nvSpPr>
        <p:spPr>
          <a:xfrm>
            <a:off x="10017325" y="1864391"/>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6" name="Oval 75"/>
          <p:cNvSpPr>
            <a:spLocks/>
          </p:cNvSpPr>
          <p:nvPr/>
        </p:nvSpPr>
        <p:spPr>
          <a:xfrm>
            <a:off x="8902205" y="2335548"/>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7" name="Oval 76"/>
          <p:cNvSpPr>
            <a:spLocks/>
          </p:cNvSpPr>
          <p:nvPr/>
        </p:nvSpPr>
        <p:spPr>
          <a:xfrm>
            <a:off x="7726809" y="2819302"/>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9" name="Oval 78"/>
          <p:cNvSpPr>
            <a:spLocks/>
          </p:cNvSpPr>
          <p:nvPr/>
        </p:nvSpPr>
        <p:spPr>
          <a:xfrm>
            <a:off x="2456427" y="4931366"/>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CB9B2C"/>
              </a:solidFill>
              <a:sym typeface="Helvetica Light"/>
            </a:endParaRPr>
          </a:p>
        </p:txBody>
      </p:sp>
      <p:sp>
        <p:nvSpPr>
          <p:cNvPr id="80" name="Oval 79"/>
          <p:cNvSpPr>
            <a:spLocks/>
          </p:cNvSpPr>
          <p:nvPr/>
        </p:nvSpPr>
        <p:spPr>
          <a:xfrm>
            <a:off x="1115096" y="5467558"/>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cxnSp>
        <p:nvCxnSpPr>
          <p:cNvPr id="82" name="Straight Connector 81"/>
          <p:cNvCxnSpPr/>
          <p:nvPr/>
        </p:nvCxnSpPr>
        <p:spPr>
          <a:xfrm>
            <a:off x="4572956" y="1959274"/>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83" name="Rectangle 82"/>
          <p:cNvSpPr>
            <a:spLocks/>
          </p:cNvSpPr>
          <p:nvPr/>
        </p:nvSpPr>
        <p:spPr>
          <a:xfrm>
            <a:off x="4604729" y="706563"/>
            <a:ext cx="603050"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a:t>
            </a:r>
            <a:r>
              <a:rPr lang="en-US" sz="900" b="1" dirty="0">
                <a:solidFill>
                  <a:srgbClr val="FFFF00"/>
                </a:solidFill>
                <a:latin typeface="USSF 90 Min Display Medium" panose="020B0703030202060203" pitchFamily="34" charset="77"/>
              </a:rPr>
              <a:t>ZONE 2)</a:t>
            </a:r>
            <a:endParaRPr lang="en-US" sz="900" dirty="0">
              <a:solidFill>
                <a:srgbClr val="FFFF00"/>
              </a:solidFill>
            </a:endParaRPr>
          </a:p>
        </p:txBody>
      </p:sp>
      <p:sp>
        <p:nvSpPr>
          <p:cNvPr id="84" name="Rectangle 83"/>
          <p:cNvSpPr>
            <a:spLocks/>
          </p:cNvSpPr>
          <p:nvPr/>
        </p:nvSpPr>
        <p:spPr>
          <a:xfrm>
            <a:off x="7004978" y="1051680"/>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cxnSp>
        <p:nvCxnSpPr>
          <p:cNvPr id="91" name="Straight Connector 90"/>
          <p:cNvCxnSpPr/>
          <p:nvPr/>
        </p:nvCxnSpPr>
        <p:spPr>
          <a:xfrm>
            <a:off x="1889916" y="3079634"/>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cxnSp>
        <p:nvCxnSpPr>
          <p:cNvPr id="92" name="Straight Connector 91"/>
          <p:cNvCxnSpPr/>
          <p:nvPr/>
        </p:nvCxnSpPr>
        <p:spPr>
          <a:xfrm>
            <a:off x="7092526" y="963272"/>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95" name="Oval 94"/>
          <p:cNvSpPr>
            <a:spLocks/>
          </p:cNvSpPr>
          <p:nvPr/>
        </p:nvSpPr>
        <p:spPr>
          <a:xfrm>
            <a:off x="339959" y="5764475"/>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97" name="TextBox 96"/>
          <p:cNvSpPr txBox="1">
            <a:spLocks/>
          </p:cNvSpPr>
          <p:nvPr/>
        </p:nvSpPr>
        <p:spPr>
          <a:xfrm>
            <a:off x="220675" y="4916934"/>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U9</a:t>
            </a:r>
            <a:endParaRPr lang="en-US" sz="3000" b="1" dirty="0">
              <a:solidFill>
                <a:schemeClr val="bg1"/>
              </a:solidFill>
              <a:sym typeface="USSF 90 Min Display Light"/>
            </a:endParaRPr>
          </a:p>
        </p:txBody>
      </p:sp>
      <p:sp>
        <p:nvSpPr>
          <p:cNvPr id="47" name="Rectangle 46"/>
          <p:cNvSpPr>
            <a:spLocks/>
          </p:cNvSpPr>
          <p:nvPr/>
        </p:nvSpPr>
        <p:spPr>
          <a:xfrm>
            <a:off x="641203" y="5975268"/>
            <a:ext cx="203444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U-12 INTRODUCTION TO THE KEY QUALITIES </a:t>
            </a:r>
          </a:p>
        </p:txBody>
      </p:sp>
      <p:pic>
        <p:nvPicPr>
          <p:cNvPr id="50" name="Picture 49">
            <a:extLst>
              <a:ext uri="{FF2B5EF4-FFF2-40B4-BE49-F238E27FC236}">
                <a16:creationId xmlns:a16="http://schemas.microsoft.com/office/drawing/2014/main" id="{4348E5C8-D181-5F48-B6D9-B26191300EEE}"/>
              </a:ext>
            </a:extLst>
          </p:cNvPr>
          <p:cNvPicPr>
            <a:picLocks noChangeAspect="1"/>
          </p:cNvPicPr>
          <p:nvPr/>
        </p:nvPicPr>
        <p:blipFill>
          <a:blip r:embed="rId3"/>
          <a:stretch>
            <a:fillRect/>
          </a:stretch>
        </p:blipFill>
        <p:spPr>
          <a:xfrm>
            <a:off x="7630657" y="4783611"/>
            <a:ext cx="2096402" cy="2096402"/>
          </a:xfrm>
          <a:prstGeom prst="rect">
            <a:avLst/>
          </a:prstGeom>
        </p:spPr>
      </p:pic>
      <p:sp>
        <p:nvSpPr>
          <p:cNvPr id="51" name="TextBox 50">
            <a:extLst>
              <a:ext uri="{FF2B5EF4-FFF2-40B4-BE49-F238E27FC236}">
                <a16:creationId xmlns:a16="http://schemas.microsoft.com/office/drawing/2014/main" id="{E0C364CE-BC62-704E-998D-65E465302031}"/>
              </a:ext>
            </a:extLst>
          </p:cNvPr>
          <p:cNvSpPr txBox="1">
            <a:spLocks/>
          </p:cNvSpPr>
          <p:nvPr/>
        </p:nvSpPr>
        <p:spPr>
          <a:xfrm>
            <a:off x="148001" y="-395810"/>
            <a:ext cx="10279118" cy="914400"/>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noAutofit/>
          </a:bodyPr>
          <a:lstStyle/>
          <a:p>
            <a:pPr defTabSz="412750" hangingPunct="0">
              <a:spcBef>
                <a:spcPts val="2600"/>
              </a:spcBef>
            </a:pPr>
            <a:br>
              <a:rPr lang="en-US" sz="4800" b="1" dirty="0">
                <a:solidFill>
                  <a:schemeClr val="accent5"/>
                </a:solidFill>
                <a:latin typeface="USSF 90 Min Display Medium" panose="020B0703030202060203" pitchFamily="34" charset="77"/>
                <a:sym typeface="USSF 90 Min Display Light"/>
              </a:rPr>
            </a:br>
            <a:r>
              <a:rPr lang="en-US" sz="4800" b="1" dirty="0">
                <a:solidFill>
                  <a:srgbClr val="CB9B2C"/>
                </a:solidFill>
                <a:latin typeface="USSF 90 Min Display Medium" panose="020B0703030202060203" pitchFamily="34" charset="77"/>
                <a:sym typeface="USSF 90 Min Display Light"/>
              </a:rPr>
              <a:t>PLAYER DEVELOPMENT STAGES</a:t>
            </a:r>
            <a:br>
              <a:rPr lang="en-US" sz="4800" b="1" dirty="0">
                <a:solidFill>
                  <a:schemeClr val="accent5"/>
                </a:solidFill>
                <a:latin typeface="USSF 90 Min Display Medium" panose="020B0703030202060203" pitchFamily="34" charset="77"/>
                <a:sym typeface="USSF 90 Min Display Light"/>
              </a:rPr>
            </a:br>
            <a:endParaRPr lang="en-US" b="1" dirty="0">
              <a:solidFill>
                <a:schemeClr val="bg1"/>
              </a:solidFill>
              <a:latin typeface="USSF 90 Min Display Medium" panose="020B0703030202060203" pitchFamily="34" charset="77"/>
              <a:sym typeface="USSF 90 Min Display Light"/>
            </a:endParaRPr>
          </a:p>
        </p:txBody>
      </p:sp>
    </p:spTree>
    <p:extLst>
      <p:ext uri="{BB962C8B-B14F-4D97-AF65-F5344CB8AC3E}">
        <p14:creationId xmlns:p14="http://schemas.microsoft.com/office/powerpoint/2010/main" val="420755035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Shape 238"/>
          <p:cNvSpPr>
            <a:spLocks noGrp="1"/>
          </p:cNvSpPr>
          <p:nvPr>
            <p:ph type="body" sz="quarter" idx="4294967295"/>
          </p:nvPr>
        </p:nvSpPr>
        <p:spPr>
          <a:xfrm>
            <a:off x="2079812" y="35859"/>
            <a:ext cx="8572796" cy="480131"/>
          </a:xfrm>
          <a:prstGeom prst="rect">
            <a:avLst/>
          </a:prstGeom>
        </p:spPr>
        <p:txBody>
          <a:bodyPr wrap="none">
            <a:spAutoFit/>
          </a:bodyPr>
          <a:lstStyle/>
          <a:p>
            <a:pPr marL="0" indent="0">
              <a:buNone/>
            </a:pPr>
            <a:r>
              <a:rPr lang="en-US" b="1" dirty="0">
                <a:solidFill>
                  <a:srgbClr val="FFFF00"/>
                </a:solidFill>
              </a:rPr>
              <a:t>U-15 &amp; U-16 EXECUTE THE KEY QUALITIES SUCCESSFULLY</a:t>
            </a:r>
          </a:p>
        </p:txBody>
      </p:sp>
      <p:graphicFrame>
        <p:nvGraphicFramePr>
          <p:cNvPr id="3" name="Table 2"/>
          <p:cNvGraphicFramePr>
            <a:graphicFrameLocks noGrp="1"/>
          </p:cNvGraphicFramePr>
          <p:nvPr>
            <p:extLst>
              <p:ext uri="{D42A27DB-BD31-4B8C-83A1-F6EECF244321}">
                <p14:modId xmlns:p14="http://schemas.microsoft.com/office/powerpoint/2010/main" val="689217196"/>
              </p:ext>
            </p:extLst>
          </p:nvPr>
        </p:nvGraphicFramePr>
        <p:xfrm>
          <a:off x="1668780" y="1167261"/>
          <a:ext cx="8606790" cy="5296614"/>
        </p:xfrm>
        <a:graphic>
          <a:graphicData uri="http://schemas.openxmlformats.org/drawingml/2006/table">
            <a:tbl>
              <a:tblPr firstRow="1" bandRow="1">
                <a:solidFill>
                  <a:srgbClr val="FFFF00"/>
                </a:solidFill>
                <a:tableStyleId>{5940675A-B579-460E-94D1-54222C63F5DA}</a:tableStyleId>
              </a:tblPr>
              <a:tblGrid>
                <a:gridCol w="4303395">
                  <a:extLst>
                    <a:ext uri="{9D8B030D-6E8A-4147-A177-3AD203B41FA5}">
                      <a16:colId xmlns:a16="http://schemas.microsoft.com/office/drawing/2014/main" val="20000"/>
                    </a:ext>
                  </a:extLst>
                </a:gridCol>
                <a:gridCol w="4303395">
                  <a:extLst>
                    <a:ext uri="{9D8B030D-6E8A-4147-A177-3AD203B41FA5}">
                      <a16:colId xmlns:a16="http://schemas.microsoft.com/office/drawing/2014/main" val="2062730094"/>
                    </a:ext>
                  </a:extLst>
                </a:gridCol>
              </a:tblGrid>
              <a:tr h="389334">
                <a:tc gridSpan="2">
                  <a:txBody>
                    <a:bodyPr/>
                    <a:lstStyle/>
                    <a:p>
                      <a:pPr algn="ctr"/>
                      <a:r>
                        <a:rPr lang="en-US" sz="2000" b="1" i="0" dirty="0">
                          <a:solidFill>
                            <a:schemeClr val="tx1"/>
                          </a:solidFill>
                          <a:uFillTx/>
                          <a:latin typeface="Arial" panose="020B0604020202020204" pitchFamily="34" charset="0"/>
                          <a:cs typeface="Arial" panose="020B0604020202020204" pitchFamily="34" charset="0"/>
                        </a:rPr>
                        <a:t>U-15 &amp; U-16 player behaviors to look for</a:t>
                      </a:r>
                    </a:p>
                  </a:txBody>
                  <a:tcPr marL="45720" marR="45720" marT="0" marB="0" anchor="ctr">
                    <a:solidFill>
                      <a:srgbClr val="FFFF00">
                        <a:alpha val="75000"/>
                      </a:srgbClr>
                    </a:solidFill>
                  </a:tcPr>
                </a:tc>
                <a:tc hMerge="1">
                  <a:txBody>
                    <a:bodyPr/>
                    <a:lstStyle/>
                    <a:p>
                      <a:endParaRPr lang="en-US"/>
                    </a:p>
                  </a:txBody>
                  <a:tcPr/>
                </a:tc>
                <a:extLst>
                  <a:ext uri="{0D108BD9-81ED-4DB2-BD59-A6C34878D82A}">
                    <a16:rowId xmlns:a16="http://schemas.microsoft.com/office/drawing/2014/main" val="10000"/>
                  </a:ext>
                </a:extLst>
              </a:tr>
              <a:tr h="4880064">
                <a:tc>
                  <a:txBody>
                    <a:bodyPr/>
                    <a:lstStyle/>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Game understanding &amp; Decision Making</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Understands all the phases of the game relative to our style of play and makes quick decisions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Applies our principles of play to scenarios in the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Coordinates actions with teammates, opponents, and positions within the field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the best player at their position based on the style of play of the team</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Initiative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Proactive in situations, looks for new ideas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Attacks opponents (1v1, dribble/movement to drag opponents out of position)</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Thinks ahead</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Focus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Plays to win every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brave and competes in every moment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Recovers quickly from an adverse moment</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Optimal Technical</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Technically proficient to be successful in all situations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Proficient in 1v1 to create attacking prowess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Technical skills to create attacking moments under pressure	</a:t>
                      </a:r>
                    </a:p>
                  </a:txBody>
                  <a:tcPr marL="45720" marR="45720" marT="0" marB="0" anchor="ctr">
                    <a:solidFill>
                      <a:srgbClr val="FFFF00">
                        <a:alpha val="75000"/>
                      </a:srgbClr>
                    </a:solidFill>
                  </a:tcPr>
                </a:tc>
                <a:tc>
                  <a:txBody>
                    <a:bodyPr/>
                    <a:lstStyle/>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Optimal Physical</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Protects the ball with body and correct improvement</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Has the physical fitness to execute tasks at the highest level for every game</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Responsible (On &amp; Off Field)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involved and engaged throughout every game, training session, and exercise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Accountable for actions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Handles (un)expected challenges and problems with flexibility and accountability</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Develops own goals to reach their personal learning objectives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Analyzes game &amp; training performance in relation to positional requirements in the system of play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Creates their own PDP…Personal Development Plan</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dependable and reliable (leadership) </a:t>
                      </a:r>
                    </a:p>
                  </a:txBody>
                  <a:tcPr marL="45720" marR="45720" marT="0" marB="0" anchor="ctr">
                    <a:solidFill>
                      <a:srgbClr val="FFFF00">
                        <a:alpha val="75000"/>
                      </a:srgbClr>
                    </a:solidFill>
                  </a:tcPr>
                </a:tc>
                <a:extLst>
                  <a:ext uri="{0D108BD9-81ED-4DB2-BD59-A6C34878D82A}">
                    <a16:rowId xmlns:a16="http://schemas.microsoft.com/office/drawing/2014/main" val="10001"/>
                  </a:ext>
                </a:extLst>
              </a:tr>
            </a:tbl>
          </a:graphicData>
        </a:graphic>
      </p:graphicFrame>
      <p:sp>
        <p:nvSpPr>
          <p:cNvPr id="4" name="TextBox 3"/>
          <p:cNvSpPr txBox="1">
            <a:spLocks/>
          </p:cNvSpPr>
          <p:nvPr/>
        </p:nvSpPr>
        <p:spPr>
          <a:xfrm>
            <a:off x="228073" y="515990"/>
            <a:ext cx="11552378"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spAutoFit/>
          </a:bodyPr>
          <a:lstStyle/>
          <a:p>
            <a:pPr>
              <a:spcAft>
                <a:spcPts val="300"/>
              </a:spcAft>
            </a:pPr>
            <a:r>
              <a:rPr lang="en-US" b="1" dirty="0">
                <a:solidFill>
                  <a:schemeClr val="bg1"/>
                </a:solidFill>
              </a:rPr>
              <a:t>Development of the specific qualities of a player in their position to maximize their contribution to the result of the game</a:t>
            </a:r>
          </a:p>
        </p:txBody>
      </p:sp>
      <p:pic>
        <p:nvPicPr>
          <p:cNvPr id="6" name="Picture 5">
            <a:extLst>
              <a:ext uri="{FF2B5EF4-FFF2-40B4-BE49-F238E27FC236}">
                <a16:creationId xmlns:a16="http://schemas.microsoft.com/office/drawing/2014/main" id="{BEEE47E1-20E7-ED45-9257-E90AB13709A2}"/>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4209704168"/>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7125A48B-4E32-C745-A31C-5DCB547FF38D}"/>
              </a:ext>
            </a:extLst>
          </p:cNvPr>
          <p:cNvGraphicFramePr>
            <a:graphicFrameLocks noGrp="1"/>
          </p:cNvGraphicFramePr>
          <p:nvPr>
            <p:extLst>
              <p:ext uri="{D42A27DB-BD31-4B8C-83A1-F6EECF244321}">
                <p14:modId xmlns:p14="http://schemas.microsoft.com/office/powerpoint/2010/main" val="1142652084"/>
              </p:ext>
            </p:extLst>
          </p:nvPr>
        </p:nvGraphicFramePr>
        <p:xfrm>
          <a:off x="380702" y="996121"/>
          <a:ext cx="11247120" cy="5604284"/>
        </p:xfrm>
        <a:graphic>
          <a:graphicData uri="http://schemas.openxmlformats.org/drawingml/2006/table">
            <a:tbl>
              <a:tblPr firstRow="1" bandRow="1">
                <a:solidFill>
                  <a:srgbClr val="FFFF00"/>
                </a:solidFill>
                <a:tableStyleId>{5940675A-B579-460E-94D1-54222C63F5DA}</a:tableStyleId>
              </a:tblPr>
              <a:tblGrid>
                <a:gridCol w="1188720">
                  <a:extLst>
                    <a:ext uri="{9D8B030D-6E8A-4147-A177-3AD203B41FA5}">
                      <a16:colId xmlns:a16="http://schemas.microsoft.com/office/drawing/2014/main" val="3283453846"/>
                    </a:ext>
                  </a:extLst>
                </a:gridCol>
                <a:gridCol w="4754880">
                  <a:extLst>
                    <a:ext uri="{9D8B030D-6E8A-4147-A177-3AD203B41FA5}">
                      <a16:colId xmlns:a16="http://schemas.microsoft.com/office/drawing/2014/main" val="20001"/>
                    </a:ext>
                  </a:extLst>
                </a:gridCol>
                <a:gridCol w="5303520">
                  <a:extLst>
                    <a:ext uri="{9D8B030D-6E8A-4147-A177-3AD203B41FA5}">
                      <a16:colId xmlns:a16="http://schemas.microsoft.com/office/drawing/2014/main" val="1726671638"/>
                    </a:ext>
                  </a:extLst>
                </a:gridCol>
              </a:tblGrid>
              <a:tr h="473563">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U-15 &amp; U-16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73563">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400" b="1" dirty="0">
                          <a:solidFill>
                            <a:schemeClr val="tx1"/>
                          </a:solidFill>
                          <a:uFillTx/>
                          <a:latin typeface="Arial" panose="020B0604020202020204" pitchFamily="34" charset="0"/>
                          <a:cs typeface="Arial" panose="020B0604020202020204" pitchFamily="34" charset="0"/>
                        </a:rPr>
                        <a:t>ATTACKING</a:t>
                      </a:r>
                    </a:p>
                  </a:txBody>
                  <a:tcPr marL="45720" marR="45720" marT="22860" marB="22860" anchor="ctr">
                    <a:solidFill>
                      <a:srgbClr val="FFFF00">
                        <a:alpha val="75000"/>
                      </a:srgbClr>
                    </a:solidFill>
                  </a:tcPr>
                </a:tc>
                <a:tc>
                  <a:txBody>
                    <a:bodyPr/>
                    <a:lstStyle/>
                    <a:p>
                      <a:pPr algn="ctr"/>
                      <a:r>
                        <a:rPr lang="en-US" sz="1400" b="1" dirty="0">
                          <a:solidFill>
                            <a:schemeClr val="tx1"/>
                          </a:solidFill>
                          <a:uFillTx/>
                          <a:latin typeface="Arial" panose="020B0604020202020204" pitchFamily="34" charset="0"/>
                          <a:cs typeface="Arial" panose="020B0604020202020204" pitchFamily="34" charset="0"/>
                        </a:rPr>
                        <a:t>DEFENDING</a:t>
                      </a: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59941">
                <a:tc rowSpan="8">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Vary the type of runs to get behind/between last line of defenders </a:t>
                      </a:r>
                    </a:p>
                  </a:txBody>
                  <a:tcPr marL="9525" marR="9525" marT="9525" marB="0" anchor="ctr">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5-7 yards and Horizontal Compactness 3-5 yards</a:t>
                      </a:r>
                    </a:p>
                  </a:txBody>
                  <a:tcPr marL="9525" marR="9525" marT="9525" marB="0" anchor="ctr">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1"/>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key players where they can succeed)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554897439"/>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3068519403"/>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Utilize space and triangulate to create passing options</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037426855"/>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3640480910"/>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 numbers in the box</a:t>
                      </a:r>
                    </a:p>
                  </a:txBody>
                  <a:tcPr marL="9525" marR="9525" marT="9525" marB="0" anchor="ctr">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437741686"/>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 box man&gt;zone, outside the box zone&gt;man</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361776736"/>
                  </a:ext>
                </a:extLst>
              </a:tr>
              <a:tr h="259941">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2460914874"/>
                  </a:ext>
                </a:extLst>
              </a:tr>
              <a:tr h="259941">
                <a:tc rowSpan="8">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Movement of players to create numbers up</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Keep the ball in front of us, force play wide</a:t>
                      </a:r>
                    </a:p>
                  </a:txBody>
                  <a:tcPr marL="9525" marR="9525" marT="9525" marB="0" anchor="ct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2"/>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Wide Players occupying different channels (full backs/wingers)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157069119"/>
                  </a:ext>
                </a:extLst>
              </a:tr>
              <a:tr h="136410">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 in your zone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3974972257"/>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Utilize space and triangulate to create passing options</a:t>
                      </a:r>
                    </a:p>
                  </a:txBody>
                  <a:tcPr marL="9525" marR="9525" marT="9525" marB="0" anchor="ctr">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879113547"/>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2676734412"/>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#s up one side to exploit opposite side isolation (1v1, open space)</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848393572"/>
                  </a:ext>
                </a:extLst>
              </a:tr>
              <a:tr h="136410">
                <a:tc vMerge="1">
                  <a:txBody>
                    <a:bodyPr/>
                    <a:lstStyle/>
                    <a:p>
                      <a:endParaRPr lang="en-US"/>
                    </a:p>
                  </a:txBody>
                  <a:tcPr/>
                </a:tc>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8-10 yards and Horizontal Compactness 5-7 yards</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3904950504"/>
                  </a:ext>
                </a:extLst>
              </a:tr>
              <a:tr h="259941">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1956949814"/>
                  </a:ext>
                </a:extLst>
              </a:tr>
              <a:tr h="259941">
                <a:tc rowSpan="8">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numbers up to advance ball forward</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5-7 yards and Horizontal Compactness 3-5 yards</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3"/>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Break first line of defenders on the dribble or pass</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solidFill>
                      <a:srgbClr val="FFFF00">
                        <a:alpha val="75000"/>
                      </a:srgbClr>
                    </a:solidFill>
                  </a:tcPr>
                </a:tc>
                <a:extLst>
                  <a:ext uri="{0D108BD9-81ED-4DB2-BD59-A6C34878D82A}">
                    <a16:rowId xmlns:a16="http://schemas.microsoft.com/office/drawing/2014/main" val="1736515483"/>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diagonal passing lanes - break lines of pressure with diagonal pass</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solidFill>
                      <a:srgbClr val="FFFF00">
                        <a:alpha val="75000"/>
                      </a:srgbClr>
                    </a:solidFill>
                  </a:tcPr>
                </a:tc>
                <a:extLst>
                  <a:ext uri="{0D108BD9-81ED-4DB2-BD59-A6C34878D82A}">
                    <a16:rowId xmlns:a16="http://schemas.microsoft.com/office/drawing/2014/main" val="3315814651"/>
                  </a:ext>
                </a:extLst>
              </a:tr>
              <a:tr h="12354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Getting unmarked, creating space</a:t>
                      </a:r>
                    </a:p>
                  </a:txBody>
                  <a:tcPr marL="9525" marR="9525" marT="9525" marB="0" anchor="ctr">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136410">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 box man&gt;zone, outside the box zone&gt;man</a:t>
                      </a:r>
                    </a:p>
                  </a:txBody>
                  <a:tcPr marL="9525" marR="9525" marT="9525" marB="0" anchor="ctr">
                    <a:solidFill>
                      <a:srgbClr val="FFFF00">
                        <a:alpha val="75000"/>
                      </a:srgbClr>
                    </a:solidFill>
                  </a:tcPr>
                </a:tc>
                <a:extLst>
                  <a:ext uri="{0D108BD9-81ED-4DB2-BD59-A6C34878D82A}">
                    <a16:rowId xmlns:a16="http://schemas.microsoft.com/office/drawing/2014/main" val="1080254446"/>
                  </a:ext>
                </a:extLst>
              </a:tr>
              <a:tr h="259941">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Occupy 5 vertical lanes with 5 defenders (Appropriate spacing of back 5)</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6" name="Picture 5">
            <a:extLst>
              <a:ext uri="{FF2B5EF4-FFF2-40B4-BE49-F238E27FC236}">
                <a16:creationId xmlns:a16="http://schemas.microsoft.com/office/drawing/2014/main" id="{35F1B598-2B11-4C44-B29E-9EA3F4F0FD26}"/>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C1BC73CE-4EA2-B14E-8EA3-0AA520BEF685}"/>
              </a:ext>
            </a:extLst>
          </p:cNvPr>
          <p:cNvSpPr txBox="1">
            <a:spLocks/>
          </p:cNvSpPr>
          <p:nvPr/>
        </p:nvSpPr>
        <p:spPr>
          <a:xfrm>
            <a:off x="2079812" y="35859"/>
            <a:ext cx="8572796" cy="480131"/>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solidFill>
                  <a:srgbClr val="FFFF00"/>
                </a:solidFill>
              </a:rPr>
              <a:t>U-15 &amp; U-16 EXECUTE THE KEY QUALITIES SUCCESSFULLY</a:t>
            </a:r>
            <a:endParaRPr lang="en-US" b="1" dirty="0">
              <a:solidFill>
                <a:srgbClr val="FFFF00"/>
              </a:solidFill>
            </a:endParaRPr>
          </a:p>
        </p:txBody>
      </p:sp>
      <p:sp>
        <p:nvSpPr>
          <p:cNvPr id="9" name="TextBox 8">
            <a:extLst>
              <a:ext uri="{FF2B5EF4-FFF2-40B4-BE49-F238E27FC236}">
                <a16:creationId xmlns:a16="http://schemas.microsoft.com/office/drawing/2014/main" id="{8258B117-CC8E-6647-A808-C90BDFC4ECC2}"/>
              </a:ext>
            </a:extLst>
          </p:cNvPr>
          <p:cNvSpPr txBox="1">
            <a:spLocks/>
          </p:cNvSpPr>
          <p:nvPr/>
        </p:nvSpPr>
        <p:spPr>
          <a:xfrm>
            <a:off x="228073" y="515990"/>
            <a:ext cx="11552378"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spAutoFit/>
          </a:bodyPr>
          <a:lstStyle/>
          <a:p>
            <a:pPr>
              <a:spcAft>
                <a:spcPts val="300"/>
              </a:spcAft>
            </a:pPr>
            <a:r>
              <a:rPr lang="en-US" b="1" dirty="0">
                <a:solidFill>
                  <a:schemeClr val="bg1"/>
                </a:solidFill>
              </a:rPr>
              <a:t>Development of the specific qualities of a player in their position to maximize their contribution to the result of the game</a:t>
            </a:r>
          </a:p>
        </p:txBody>
      </p:sp>
    </p:spTree>
    <p:extLst>
      <p:ext uri="{BB962C8B-B14F-4D97-AF65-F5344CB8AC3E}">
        <p14:creationId xmlns:p14="http://schemas.microsoft.com/office/powerpoint/2010/main" val="182642170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FA07F6C-1745-CC40-9665-8F085B459BE3}"/>
              </a:ext>
            </a:extLst>
          </p:cNvPr>
          <p:cNvGraphicFramePr>
            <a:graphicFrameLocks noGrp="1"/>
          </p:cNvGraphicFramePr>
          <p:nvPr>
            <p:extLst>
              <p:ext uri="{D42A27DB-BD31-4B8C-83A1-F6EECF244321}">
                <p14:modId xmlns:p14="http://schemas.microsoft.com/office/powerpoint/2010/main" val="2025112111"/>
              </p:ext>
            </p:extLst>
          </p:nvPr>
        </p:nvGraphicFramePr>
        <p:xfrm>
          <a:off x="685800" y="1104678"/>
          <a:ext cx="10788577" cy="5296128"/>
        </p:xfrm>
        <a:graphic>
          <a:graphicData uri="http://schemas.openxmlformats.org/drawingml/2006/table">
            <a:tbl>
              <a:tblPr firstRow="1" bandRow="1">
                <a:solidFill>
                  <a:srgbClr val="FFFF00"/>
                </a:solidFill>
                <a:tableStyleId>{5940675A-B579-460E-94D1-54222C63F5DA}</a:tableStyleId>
              </a:tblPr>
              <a:tblGrid>
                <a:gridCol w="1257148">
                  <a:extLst>
                    <a:ext uri="{9D8B030D-6E8A-4147-A177-3AD203B41FA5}">
                      <a16:colId xmlns:a16="http://schemas.microsoft.com/office/drawing/2014/main" val="3283453846"/>
                    </a:ext>
                  </a:extLst>
                </a:gridCol>
                <a:gridCol w="5653751">
                  <a:extLst>
                    <a:ext uri="{9D8B030D-6E8A-4147-A177-3AD203B41FA5}">
                      <a16:colId xmlns:a16="http://schemas.microsoft.com/office/drawing/2014/main" val="20001"/>
                    </a:ext>
                  </a:extLst>
                </a:gridCol>
                <a:gridCol w="3877678">
                  <a:extLst>
                    <a:ext uri="{9D8B030D-6E8A-4147-A177-3AD203B41FA5}">
                      <a16:colId xmlns:a16="http://schemas.microsoft.com/office/drawing/2014/main" val="1726671638"/>
                    </a:ext>
                  </a:extLst>
                </a:gridCol>
              </a:tblGrid>
              <a:tr h="468308">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U-15 &amp; U-16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62837">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A&gt;D</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D&gt;A</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44032">
                <a:tc rowSpan="6">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solidFill>
                      <a:srgbClr val="FFFF00">
                        <a:alpha val="75000"/>
                      </a:srgbClr>
                    </a:solidFill>
                  </a:tcPr>
                </a:tc>
                <a:tc rowSpan="3">
                  <a:txBody>
                    <a:bodyPr/>
                    <a:lstStyle/>
                    <a:p>
                      <a:pPr algn="ctr" fontAlgn="b"/>
                      <a:r>
                        <a:rPr lang="en-US" sz="1200" b="0" i="0" u="none" strike="noStrike" dirty="0">
                          <a:solidFill>
                            <a:srgbClr val="000000"/>
                          </a:solidFill>
                          <a:effectLst/>
                          <a:latin typeface="Calibri" panose="020F0502020204030204" pitchFamily="34" charset="0"/>
                        </a:rPr>
                        <a:t>Play the most goal dangerous pass immediately </a:t>
                      </a:r>
                    </a:p>
                  </a:txBody>
                  <a:tcPr marL="9525" marR="9525" marT="9525" marB="0" anchor="ctr">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1"/>
                  </a:ext>
                </a:extLst>
              </a:tr>
              <a:tr h="244032">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Numbers behind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825900724"/>
                  </a:ext>
                </a:extLst>
              </a:tr>
              <a:tr h="244032">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554897439"/>
                  </a:ext>
                </a:extLst>
              </a:tr>
              <a:tr h="244032">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Force play back</a:t>
                      </a:r>
                    </a:p>
                  </a:txBody>
                  <a:tcPr marL="9525" marR="9525" marT="9525" marB="0" anchor="ctr">
                    <a:solidFill>
                      <a:srgbClr val="FFFF00">
                        <a:alpha val="75000"/>
                      </a:srgbClr>
                    </a:solidFill>
                  </a:tcPr>
                </a:tc>
                <a:tc rowSpan="3">
                  <a:txBody>
                    <a:bodyPr/>
                    <a:lstStyle/>
                    <a:p>
                      <a:pPr algn="ctr" fontAlgn="b"/>
                      <a:r>
                        <a:rPr lang="en-US" sz="1200" b="0" i="0" u="none" strike="noStrike" dirty="0">
                          <a:solidFill>
                            <a:srgbClr val="000000"/>
                          </a:solidFill>
                          <a:effectLst/>
                          <a:latin typeface="Calibri" panose="020F0502020204030204" pitchFamily="34" charset="0"/>
                        </a:rPr>
                        <a:t>Dribble toward goal and shoot on target </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4037426855"/>
                  </a:ext>
                </a:extLst>
              </a:tr>
              <a:tr h="244032">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drop deep and get organized/compact</a:t>
                      </a:r>
                    </a:p>
                  </a:txBody>
                  <a:tcPr marL="9525" marR="9525" marT="9525" marB="0" anchor="ctr">
                    <a:solidFill>
                      <a:srgbClr val="FFFF00">
                        <a:alpha val="75000"/>
                      </a:srgbClr>
                    </a:solidFill>
                  </a:tcPr>
                </a:tc>
                <a:tc vMerge="1">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437741686"/>
                  </a:ext>
                </a:extLst>
              </a:tr>
              <a:tr h="244032">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No pressure on the ball, drop/delay </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2460914874"/>
                  </a:ext>
                </a:extLst>
              </a:tr>
              <a:tr h="218978">
                <a:tc rowSpan="6">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3">
                  <a:txBody>
                    <a:bodyPr/>
                    <a:lstStyle/>
                    <a:p>
                      <a:pPr algn="ctr" fontAlgn="b"/>
                      <a:r>
                        <a:rPr lang="en-US" sz="12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0002"/>
                  </a:ext>
                </a:extLst>
              </a:tr>
              <a:tr h="218978">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Numbers behind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4157069119"/>
                  </a:ext>
                </a:extLst>
              </a:tr>
              <a:tr h="109489">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879113547"/>
                  </a:ext>
                </a:extLst>
              </a:tr>
              <a:tr h="109488">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Keep the ball if you can’t play forward</a:t>
                      </a:r>
                    </a:p>
                  </a:txBody>
                  <a:tcPr marL="9525" marR="9525" marT="9525" marB="0" anchor="ctr">
                    <a:lnT w="1270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4147422712"/>
                  </a:ext>
                </a:extLst>
              </a:tr>
              <a:tr h="218978">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848393572"/>
                  </a:ext>
                </a:extLst>
              </a:tr>
              <a:tr h="21897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lnB w="57150" cap="flat" cmpd="sng" algn="ctr">
                      <a:solidFill>
                        <a:schemeClr val="tx1"/>
                      </a:solidFill>
                      <a:prstDash val="solid"/>
                      <a:round/>
                      <a:headEnd type="none" w="med" len="med"/>
                      <a:tailEnd type="none" w="med" len="med"/>
                    </a:lnB>
                    <a:solidFill>
                      <a:srgbClr val="CB9B2C">
                        <a:alpha val="75000"/>
                      </a:srgbClr>
                    </a:solidFill>
                  </a:tcPr>
                </a:tc>
                <a:extLst>
                  <a:ext uri="{0D108BD9-81ED-4DB2-BD59-A6C34878D82A}">
                    <a16:rowId xmlns:a16="http://schemas.microsoft.com/office/drawing/2014/main" val="1956949814"/>
                  </a:ext>
                </a:extLst>
              </a:tr>
              <a:tr h="275757">
                <a:tc rowSpan="7">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Pressure the ball immediately </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4">
                  <a:txBody>
                    <a:bodyPr/>
                    <a:lstStyle/>
                    <a:p>
                      <a:pPr algn="ctr" fontAlgn="b"/>
                      <a:r>
                        <a:rPr lang="en-US" sz="12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3"/>
                  </a:ext>
                </a:extLst>
              </a:tr>
              <a:tr h="275757">
                <a:tc vMerge="1">
                  <a:txBody>
                    <a:bodyPr/>
                    <a:lstStyle/>
                    <a:p>
                      <a:endParaRPr lang="en-US"/>
                    </a:p>
                  </a:txBody>
                  <a:tcPr/>
                </a:tc>
                <a:tc>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 </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137707015"/>
                  </a:ext>
                </a:extLst>
              </a:tr>
              <a:tr h="275758">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75680">
                <a:tc vMerge="1">
                  <a:txBody>
                    <a:bodyPr/>
                    <a:lstStyle/>
                    <a:p>
                      <a:endParaRPr lang="en-US"/>
                    </a:p>
                  </a:txBody>
                  <a:tcPr/>
                </a:tc>
                <a:tc rowSpan="2">
                  <a:txBody>
                    <a:bodyPr/>
                    <a:lstStyle/>
                    <a:p>
                      <a:pPr algn="ctr" fontAlgn="b"/>
                      <a:r>
                        <a:rPr lang="en-US" sz="12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200078">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Keep the ball if you can’t play forward</a:t>
                      </a:r>
                    </a:p>
                  </a:txBody>
                  <a:tcPr marL="9525" marR="9525" marT="9525" marB="0" anchor="ctr">
                    <a:solidFill>
                      <a:srgbClr val="FFFF00">
                        <a:alpha val="75000"/>
                      </a:srgbClr>
                    </a:solidFill>
                  </a:tcPr>
                </a:tc>
                <a:extLst>
                  <a:ext uri="{0D108BD9-81ED-4DB2-BD59-A6C34878D82A}">
                    <a16:rowId xmlns:a16="http://schemas.microsoft.com/office/drawing/2014/main" val="4085504854"/>
                  </a:ext>
                </a:extLst>
              </a:tr>
              <a:tr h="275758">
                <a:tc vMerge="1">
                  <a:txBody>
                    <a:bodyPr/>
                    <a:lstStyle/>
                    <a:p>
                      <a:endParaRPr lang="en-US"/>
                    </a:p>
                  </a:txBody>
                  <a:tcPr/>
                </a:tc>
                <a:tc>
                  <a:txBody>
                    <a:bodyPr/>
                    <a:lstStyle/>
                    <a:p>
                      <a:pPr marL="0" indent="0" algn="ctr" rtl="0" fontAlgn="base">
                        <a:spcBef>
                          <a:spcPts val="0"/>
                        </a:spcBef>
                        <a:spcAft>
                          <a:spcPts val="0"/>
                        </a:spcAft>
                        <a:buFontTx/>
                        <a:buNone/>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(Defensive) Zonal defending, man to man within the box</a:t>
                      </a:r>
                    </a:p>
                  </a:txBody>
                  <a:tcPr marL="9525" marR="9525" marT="9525" marB="0" anchor="ctr">
                    <a:solidFill>
                      <a:srgbClr val="FFFF00">
                        <a:alpha val="75000"/>
                      </a:srgbClr>
                    </a:solidFill>
                  </a:tcPr>
                </a:tc>
                <a:tc vMerge="1">
                  <a:txBody>
                    <a:bodyPr/>
                    <a:lstStyle/>
                    <a:p>
                      <a:pPr algn="l" fontAlgn="b"/>
                      <a:endParaRPr lang="en-US" sz="900" b="0" i="0" u="none" strike="noStrike">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42711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or no pressure, drop deep (edge of the D lowest point of confrontation) and get organized/compact.</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6" name="Picture 5">
            <a:extLst>
              <a:ext uri="{FF2B5EF4-FFF2-40B4-BE49-F238E27FC236}">
                <a16:creationId xmlns:a16="http://schemas.microsoft.com/office/drawing/2014/main" id="{9D349EBF-645D-8F47-9667-3610460A6635}"/>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F7FEEC61-B29E-1347-939C-36F16985AE52}"/>
              </a:ext>
            </a:extLst>
          </p:cNvPr>
          <p:cNvSpPr txBox="1">
            <a:spLocks/>
          </p:cNvSpPr>
          <p:nvPr/>
        </p:nvSpPr>
        <p:spPr>
          <a:xfrm>
            <a:off x="2079812" y="35859"/>
            <a:ext cx="8572796" cy="480131"/>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solidFill>
                  <a:srgbClr val="FFFF00"/>
                </a:solidFill>
              </a:rPr>
              <a:t>U-15 &amp; U-16 EXECUTE THE KEY QUALITIES SUCCESSFULLY</a:t>
            </a:r>
            <a:endParaRPr lang="en-US" b="1" dirty="0">
              <a:solidFill>
                <a:srgbClr val="FFFF00"/>
              </a:solidFill>
            </a:endParaRPr>
          </a:p>
        </p:txBody>
      </p:sp>
      <p:sp>
        <p:nvSpPr>
          <p:cNvPr id="9" name="TextBox 8">
            <a:extLst>
              <a:ext uri="{FF2B5EF4-FFF2-40B4-BE49-F238E27FC236}">
                <a16:creationId xmlns:a16="http://schemas.microsoft.com/office/drawing/2014/main" id="{167F7D7C-ABF3-524A-BFB9-3AEFEBF70433}"/>
              </a:ext>
            </a:extLst>
          </p:cNvPr>
          <p:cNvSpPr txBox="1">
            <a:spLocks/>
          </p:cNvSpPr>
          <p:nvPr/>
        </p:nvSpPr>
        <p:spPr>
          <a:xfrm>
            <a:off x="228073" y="515990"/>
            <a:ext cx="11552378"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spAutoFit/>
          </a:bodyPr>
          <a:lstStyle/>
          <a:p>
            <a:pPr>
              <a:spcAft>
                <a:spcPts val="300"/>
              </a:spcAft>
            </a:pPr>
            <a:r>
              <a:rPr lang="en-US" b="1" dirty="0">
                <a:solidFill>
                  <a:schemeClr val="bg1"/>
                </a:solidFill>
              </a:rPr>
              <a:t>Development of the specific qualities of a player in their position to maximize their contribution to the result of the game</a:t>
            </a:r>
          </a:p>
        </p:txBody>
      </p:sp>
    </p:spTree>
    <p:extLst>
      <p:ext uri="{BB962C8B-B14F-4D97-AF65-F5344CB8AC3E}">
        <p14:creationId xmlns:p14="http://schemas.microsoft.com/office/powerpoint/2010/main" val="2454725390"/>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675" b="17138"/>
          <a:stretch/>
        </p:blipFill>
        <p:spPr>
          <a:xfrm>
            <a:off x="-16530" y="-15766"/>
            <a:ext cx="12192000" cy="6873766"/>
          </a:xfrm>
          <a:prstGeom prst="rect">
            <a:avLst/>
          </a:prstGeom>
          <a:solidFill>
            <a:schemeClr val="accent5"/>
          </a:solidFill>
          <a:ln>
            <a:solidFill>
              <a:srgbClr val="FFFF00"/>
            </a:solidFill>
          </a:ln>
        </p:spPr>
      </p:pic>
      <p:cxnSp>
        <p:nvCxnSpPr>
          <p:cNvPr id="6" name="Straight Connector 5"/>
          <p:cNvCxnSpPr>
            <a:cxnSpLocks/>
          </p:cNvCxnSpPr>
          <p:nvPr/>
        </p:nvCxnSpPr>
        <p:spPr>
          <a:xfrm flipV="1">
            <a:off x="234895" y="1190911"/>
            <a:ext cx="11719682" cy="4796236"/>
          </a:xfrm>
          <a:prstGeom prst="line">
            <a:avLst/>
          </a:prstGeom>
          <a:noFill/>
          <a:ln w="57150" cap="flat">
            <a:solidFill>
              <a:schemeClr val="bg1"/>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13" name="TextBox 12"/>
          <p:cNvSpPr txBox="1">
            <a:spLocks/>
          </p:cNvSpPr>
          <p:nvPr/>
        </p:nvSpPr>
        <p:spPr>
          <a:xfrm>
            <a:off x="9868552" y="920879"/>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U19</a:t>
            </a:r>
            <a:endParaRPr lang="en-US" sz="3000" b="1" dirty="0">
              <a:solidFill>
                <a:srgbClr val="FFFF00"/>
              </a:solidFill>
              <a:sym typeface="USSF 90 Min Display Light"/>
            </a:endParaRPr>
          </a:p>
        </p:txBody>
      </p:sp>
      <p:sp>
        <p:nvSpPr>
          <p:cNvPr id="14" name="TextBox 13"/>
          <p:cNvSpPr txBox="1">
            <a:spLocks/>
          </p:cNvSpPr>
          <p:nvPr/>
        </p:nvSpPr>
        <p:spPr>
          <a:xfrm>
            <a:off x="8760278" y="1320320"/>
            <a:ext cx="823946" cy="866893"/>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U18</a:t>
            </a:r>
            <a:endParaRPr lang="en-US" sz="3000" b="1" dirty="0">
              <a:solidFill>
                <a:srgbClr val="FFFF00"/>
              </a:solidFill>
              <a:sym typeface="USSF 90 Min Display Light"/>
            </a:endParaRPr>
          </a:p>
        </p:txBody>
      </p:sp>
      <p:sp>
        <p:nvSpPr>
          <p:cNvPr id="15" name="TextBox 14"/>
          <p:cNvSpPr txBox="1">
            <a:spLocks/>
          </p:cNvSpPr>
          <p:nvPr/>
        </p:nvSpPr>
        <p:spPr>
          <a:xfrm>
            <a:off x="7618971" y="1910699"/>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FFFF00"/>
                </a:solidFill>
              </a:rPr>
              <a:t>U17</a:t>
            </a:r>
            <a:endParaRPr lang="en-US" sz="3000" b="1" dirty="0">
              <a:solidFill>
                <a:srgbClr val="FFFF00"/>
              </a:solidFill>
              <a:sym typeface="USSF 90 Min Display Light"/>
            </a:endParaRPr>
          </a:p>
        </p:txBody>
      </p:sp>
      <p:sp>
        <p:nvSpPr>
          <p:cNvPr id="16" name="TextBox 15"/>
          <p:cNvSpPr txBox="1">
            <a:spLocks/>
          </p:cNvSpPr>
          <p:nvPr/>
        </p:nvSpPr>
        <p:spPr>
          <a:xfrm>
            <a:off x="6326559" y="2394110"/>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U16</a:t>
            </a:r>
            <a:endParaRPr lang="en-US" sz="3000" b="1" dirty="0">
              <a:solidFill>
                <a:schemeClr val="bg1"/>
              </a:solidFill>
              <a:sym typeface="USSF 90 Min Display Light"/>
            </a:endParaRPr>
          </a:p>
        </p:txBody>
      </p:sp>
      <p:sp>
        <p:nvSpPr>
          <p:cNvPr id="17" name="TextBox 16"/>
          <p:cNvSpPr txBox="1">
            <a:spLocks/>
          </p:cNvSpPr>
          <p:nvPr/>
        </p:nvSpPr>
        <p:spPr>
          <a:xfrm>
            <a:off x="4929983" y="2899693"/>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U15</a:t>
            </a:r>
            <a:endParaRPr lang="en-US" sz="3000" b="1" dirty="0">
              <a:solidFill>
                <a:schemeClr val="bg1"/>
              </a:solidFill>
              <a:sym typeface="USSF 90 Min Display Light"/>
            </a:endParaRPr>
          </a:p>
        </p:txBody>
      </p:sp>
      <p:sp>
        <p:nvSpPr>
          <p:cNvPr id="18" name="TextBox 17"/>
          <p:cNvSpPr txBox="1">
            <a:spLocks/>
          </p:cNvSpPr>
          <p:nvPr/>
        </p:nvSpPr>
        <p:spPr>
          <a:xfrm>
            <a:off x="3701375" y="3392755"/>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CB9B2C"/>
                </a:solidFill>
              </a:rPr>
              <a:t>U14</a:t>
            </a:r>
            <a:endParaRPr lang="en-US" sz="3000" b="1" dirty="0">
              <a:solidFill>
                <a:srgbClr val="CB9B2C"/>
              </a:solidFill>
              <a:sym typeface="USSF 90 Min Display Light"/>
            </a:endParaRPr>
          </a:p>
        </p:txBody>
      </p:sp>
      <p:sp>
        <p:nvSpPr>
          <p:cNvPr id="19" name="TextBox 18"/>
          <p:cNvSpPr txBox="1">
            <a:spLocks/>
          </p:cNvSpPr>
          <p:nvPr/>
        </p:nvSpPr>
        <p:spPr>
          <a:xfrm>
            <a:off x="2273941" y="3935514"/>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rgbClr val="CB9B2C"/>
                </a:solidFill>
              </a:rPr>
              <a:t>U13</a:t>
            </a:r>
            <a:endParaRPr lang="en-US" sz="3000" b="1" dirty="0">
              <a:solidFill>
                <a:srgbClr val="CB9B2C"/>
              </a:solidFill>
              <a:sym typeface="USSF 90 Min Display Light"/>
            </a:endParaRPr>
          </a:p>
        </p:txBody>
      </p:sp>
      <p:cxnSp>
        <p:nvCxnSpPr>
          <p:cNvPr id="28" name="Straight Connector 27"/>
          <p:cNvCxnSpPr>
            <a:cxnSpLocks/>
          </p:cNvCxnSpPr>
          <p:nvPr/>
        </p:nvCxnSpPr>
        <p:spPr>
          <a:xfrm flipH="1">
            <a:off x="7865498" y="2326183"/>
            <a:ext cx="1386412" cy="570098"/>
          </a:xfrm>
          <a:prstGeom prst="line">
            <a:avLst/>
          </a:prstGeom>
          <a:noFill/>
          <a:ln w="57150" cap="flat">
            <a:solidFill>
              <a:srgbClr val="CB9B2C"/>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34" name="Rectangle 33"/>
          <p:cNvSpPr>
            <a:spLocks/>
          </p:cNvSpPr>
          <p:nvPr/>
        </p:nvSpPr>
        <p:spPr>
          <a:xfrm>
            <a:off x="8034735" y="507515"/>
            <a:ext cx="2724480" cy="830997"/>
          </a:xfrm>
          <a:prstGeom prst="rect">
            <a:avLst/>
          </a:prstGeom>
          <a:ln w="53975">
            <a:solidFill>
              <a:srgbClr val="FFFF00"/>
            </a:solidFill>
          </a:ln>
        </p:spPr>
        <p:txBody>
          <a:bodyPr wrap="square">
            <a:spAutoFit/>
          </a:bodyPr>
          <a:lstStyle/>
          <a:p>
            <a:r>
              <a:rPr lang="en-US" sz="1600" b="1" dirty="0">
                <a:latin typeface="USSF 90 Min Display Medium" panose="020B0703030202060203" pitchFamily="34" charset="77"/>
              </a:rPr>
              <a:t>U17-U19 EXECUTE THE KEY QUALITIES SUCCESSFULLY IN ORDER TO WIN THE GAME </a:t>
            </a:r>
          </a:p>
        </p:txBody>
      </p:sp>
      <p:sp>
        <p:nvSpPr>
          <p:cNvPr id="39" name="Rectangle 38"/>
          <p:cNvSpPr>
            <a:spLocks/>
          </p:cNvSpPr>
          <p:nvPr/>
        </p:nvSpPr>
        <p:spPr>
          <a:xfrm>
            <a:off x="5542499" y="3755985"/>
            <a:ext cx="228033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U-15 &amp; U-16 EXECUTE THE KEY QUALITIES SUCCESSFULLY </a:t>
            </a:r>
          </a:p>
        </p:txBody>
      </p:sp>
      <p:sp>
        <p:nvSpPr>
          <p:cNvPr id="43" name="Rectangle 42"/>
          <p:cNvSpPr>
            <a:spLocks/>
          </p:cNvSpPr>
          <p:nvPr/>
        </p:nvSpPr>
        <p:spPr>
          <a:xfrm>
            <a:off x="3085162" y="4808270"/>
            <a:ext cx="1867583"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U-13 &amp; U-14 DEVELOP THE KEY QUALITIES</a:t>
            </a:r>
          </a:p>
        </p:txBody>
      </p:sp>
      <p:sp>
        <p:nvSpPr>
          <p:cNvPr id="46" name="TextBox 45"/>
          <p:cNvSpPr txBox="1">
            <a:spLocks/>
          </p:cNvSpPr>
          <p:nvPr/>
        </p:nvSpPr>
        <p:spPr>
          <a:xfrm>
            <a:off x="992957" y="4516084"/>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U12</a:t>
            </a:r>
            <a:endParaRPr lang="en-US" sz="3000" b="1" dirty="0">
              <a:solidFill>
                <a:schemeClr val="bg1"/>
              </a:solidFill>
              <a:sym typeface="USSF 90 Min Display Light"/>
            </a:endParaRPr>
          </a:p>
        </p:txBody>
      </p:sp>
      <p:sp>
        <p:nvSpPr>
          <p:cNvPr id="4" name="Rectangle 3"/>
          <p:cNvSpPr>
            <a:spLocks/>
          </p:cNvSpPr>
          <p:nvPr/>
        </p:nvSpPr>
        <p:spPr>
          <a:xfrm>
            <a:off x="286854" y="3767748"/>
            <a:ext cx="1606465" cy="1169551"/>
          </a:xfrm>
          <a:prstGeom prst="rect">
            <a:avLst/>
          </a:prstGeom>
        </p:spPr>
        <p:txBody>
          <a:bodyPr wrap="square">
            <a:spAutoFit/>
          </a:bodyPr>
          <a:lstStyle/>
          <a:p>
            <a:r>
              <a:rPr lang="en-US" sz="1000" b="1" dirty="0">
                <a:solidFill>
                  <a:schemeClr val="bg1"/>
                </a:solidFill>
              </a:rPr>
              <a:t>Development of the individual qualities of a player in a team environment (not based on position. Continuous development of fundamentals)</a:t>
            </a:r>
          </a:p>
        </p:txBody>
      </p:sp>
      <p:sp>
        <p:nvSpPr>
          <p:cNvPr id="7" name="Rectangle 6"/>
          <p:cNvSpPr>
            <a:spLocks/>
          </p:cNvSpPr>
          <p:nvPr/>
        </p:nvSpPr>
        <p:spPr>
          <a:xfrm>
            <a:off x="2060386" y="3295866"/>
            <a:ext cx="2397172" cy="553998"/>
          </a:xfrm>
          <a:prstGeom prst="rect">
            <a:avLst/>
          </a:prstGeom>
          <a:noFill/>
        </p:spPr>
        <p:txBody>
          <a:bodyPr wrap="square">
            <a:spAutoFit/>
          </a:bodyPr>
          <a:lstStyle/>
          <a:p>
            <a:r>
              <a:rPr lang="en-US" sz="1000" dirty="0">
                <a:solidFill>
                  <a:schemeClr val="bg1"/>
                </a:solidFill>
              </a:rPr>
              <a:t>Development of the individual qualities of a player in a team concept (e.g. roles and tasks of players</a:t>
            </a:r>
          </a:p>
        </p:txBody>
      </p:sp>
      <p:sp>
        <p:nvSpPr>
          <p:cNvPr id="29" name="Rectangle 28"/>
          <p:cNvSpPr>
            <a:spLocks/>
          </p:cNvSpPr>
          <p:nvPr/>
        </p:nvSpPr>
        <p:spPr>
          <a:xfrm>
            <a:off x="4692755" y="2272188"/>
            <a:ext cx="2373457" cy="553998"/>
          </a:xfrm>
          <a:prstGeom prst="rect">
            <a:avLst/>
          </a:prstGeom>
          <a:noFill/>
        </p:spPr>
        <p:txBody>
          <a:bodyPr wrap="square">
            <a:spAutoFit/>
          </a:bodyPr>
          <a:lstStyle/>
          <a:p>
            <a:pPr>
              <a:spcAft>
                <a:spcPts val="300"/>
              </a:spcAft>
            </a:pPr>
            <a:r>
              <a:rPr lang="en-US" sz="1000" dirty="0">
                <a:solidFill>
                  <a:schemeClr val="bg1"/>
                </a:solidFill>
              </a:rPr>
              <a:t>Development of the specific qualities of a player in their position to maximize their contribution to the result of the game</a:t>
            </a:r>
          </a:p>
        </p:txBody>
      </p:sp>
      <p:sp>
        <p:nvSpPr>
          <p:cNvPr id="30" name="Rectangle 29"/>
          <p:cNvSpPr>
            <a:spLocks/>
          </p:cNvSpPr>
          <p:nvPr/>
        </p:nvSpPr>
        <p:spPr>
          <a:xfrm>
            <a:off x="8136287" y="2780963"/>
            <a:ext cx="2521375" cy="1892826"/>
          </a:xfrm>
          <a:prstGeom prst="rect">
            <a:avLst/>
          </a:prstGeom>
          <a:solidFill>
            <a:srgbClr val="FFFF00"/>
          </a:solidFill>
        </p:spPr>
        <p:txBody>
          <a:bodyPr wrap="square">
            <a:spAutoFit/>
          </a:bodyPr>
          <a:lstStyle/>
          <a:p>
            <a:pPr marL="285750" indent="-285750">
              <a:spcAft>
                <a:spcPts val="300"/>
              </a:spcAft>
              <a:buFont typeface="Arial" panose="020B0604020202020204" pitchFamily="34" charset="0"/>
              <a:buChar char="•"/>
            </a:pPr>
            <a:r>
              <a:rPr lang="en-US" sz="1400" dirty="0"/>
              <a:t>Development of the specific qualities of a player to be the  best player in their position to win the game</a:t>
            </a:r>
          </a:p>
          <a:p>
            <a:pPr marL="285750" indent="-285750">
              <a:spcAft>
                <a:spcPts val="300"/>
              </a:spcAft>
              <a:buFont typeface="Arial" panose="020B0604020202020204" pitchFamily="34" charset="0"/>
              <a:buChar char="•"/>
            </a:pPr>
            <a:r>
              <a:rPr lang="en-US" sz="1400" dirty="0"/>
              <a:t>Performance &amp; Results</a:t>
            </a:r>
          </a:p>
          <a:p>
            <a:pPr marL="285750" indent="-285750">
              <a:spcAft>
                <a:spcPts val="300"/>
              </a:spcAft>
              <a:buFont typeface="Arial" panose="020B0604020202020204" pitchFamily="34" charset="0"/>
              <a:buChar char="•"/>
            </a:pPr>
            <a:r>
              <a:rPr lang="en-US" sz="1400" dirty="0"/>
              <a:t>Total Implementation of Club’s Game Model &amp; Principles</a:t>
            </a:r>
          </a:p>
        </p:txBody>
      </p:sp>
      <p:sp>
        <p:nvSpPr>
          <p:cNvPr id="64" name="Rectangle 63"/>
          <p:cNvSpPr>
            <a:spLocks/>
          </p:cNvSpPr>
          <p:nvPr/>
        </p:nvSpPr>
        <p:spPr>
          <a:xfrm>
            <a:off x="261232" y="3473064"/>
            <a:ext cx="659155" cy="230832"/>
          </a:xfrm>
          <a:prstGeom prst="rect">
            <a:avLst/>
          </a:prstGeom>
        </p:spPr>
        <p:txBody>
          <a:bodyPr wrap="square">
            <a:spAutoFit/>
          </a:bodyPr>
          <a:lstStyle/>
          <a:p>
            <a:r>
              <a:rPr lang="en-US" sz="900" b="1" dirty="0">
                <a:solidFill>
                  <a:srgbClr val="CB9B2C"/>
                </a:solidFill>
                <a:latin typeface="USSF 90 Min Display Medium" panose="020B0703030202060203" pitchFamily="34" charset="77"/>
              </a:rPr>
              <a:t>(ZONE 1)</a:t>
            </a:r>
            <a:endParaRPr lang="en-US" sz="900" dirty="0">
              <a:solidFill>
                <a:srgbClr val="CB9B2C"/>
              </a:solidFill>
            </a:endParaRPr>
          </a:p>
        </p:txBody>
      </p:sp>
      <p:sp>
        <p:nvSpPr>
          <p:cNvPr id="66" name="Rectangle 65"/>
          <p:cNvSpPr>
            <a:spLocks/>
          </p:cNvSpPr>
          <p:nvPr/>
        </p:nvSpPr>
        <p:spPr>
          <a:xfrm>
            <a:off x="2068822" y="3073161"/>
            <a:ext cx="659155" cy="230832"/>
          </a:xfrm>
          <a:prstGeom prst="rect">
            <a:avLst/>
          </a:prstGeom>
        </p:spPr>
        <p:txBody>
          <a:bodyPr wrap="squar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sp>
        <p:nvSpPr>
          <p:cNvPr id="72" name="Oval 71"/>
          <p:cNvSpPr>
            <a:spLocks/>
          </p:cNvSpPr>
          <p:nvPr/>
        </p:nvSpPr>
        <p:spPr>
          <a:xfrm>
            <a:off x="3921459" y="4241751"/>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3" name="Oval 72"/>
          <p:cNvSpPr>
            <a:spLocks/>
          </p:cNvSpPr>
          <p:nvPr/>
        </p:nvSpPr>
        <p:spPr>
          <a:xfrm>
            <a:off x="5154713" y="3748771"/>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4" name="Oval 73"/>
          <p:cNvSpPr>
            <a:spLocks/>
          </p:cNvSpPr>
          <p:nvPr/>
        </p:nvSpPr>
        <p:spPr>
          <a:xfrm>
            <a:off x="6503410" y="3202955"/>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5" name="Oval 74"/>
          <p:cNvSpPr>
            <a:spLocks/>
          </p:cNvSpPr>
          <p:nvPr/>
        </p:nvSpPr>
        <p:spPr>
          <a:xfrm>
            <a:off x="10078559" y="1747814"/>
            <a:ext cx="228600" cy="418366"/>
          </a:xfrm>
          <a:prstGeom prst="ellipse">
            <a:avLst/>
          </a:prstGeom>
          <a:solidFill>
            <a:srgbClr val="FFFF00"/>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C000"/>
              </a:solidFill>
              <a:sym typeface="Helvetica Light"/>
            </a:endParaRPr>
          </a:p>
        </p:txBody>
      </p:sp>
      <p:sp>
        <p:nvSpPr>
          <p:cNvPr id="76" name="Oval 75"/>
          <p:cNvSpPr>
            <a:spLocks/>
          </p:cNvSpPr>
          <p:nvPr/>
        </p:nvSpPr>
        <p:spPr>
          <a:xfrm>
            <a:off x="9123480" y="2139438"/>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7" name="Oval 76"/>
          <p:cNvSpPr>
            <a:spLocks/>
          </p:cNvSpPr>
          <p:nvPr/>
        </p:nvSpPr>
        <p:spPr>
          <a:xfrm>
            <a:off x="7788043" y="2702725"/>
            <a:ext cx="228600" cy="418366"/>
          </a:xfrm>
          <a:prstGeom prst="ellipse">
            <a:avLst/>
          </a:prstGeom>
          <a:solidFill>
            <a:srgbClr val="FFFF00"/>
          </a:solidFill>
          <a:ln w="12700" cap="flat">
            <a:solidFill>
              <a:srgbClr val="CB9B2C"/>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79" name="Oval 78"/>
          <p:cNvSpPr>
            <a:spLocks/>
          </p:cNvSpPr>
          <p:nvPr/>
        </p:nvSpPr>
        <p:spPr>
          <a:xfrm>
            <a:off x="2517661" y="4814789"/>
            <a:ext cx="228600" cy="418366"/>
          </a:xfrm>
          <a:prstGeom prst="ellipse">
            <a:avLst/>
          </a:prstGeom>
          <a:solidFill>
            <a:schemeClr val="bg1"/>
          </a:solidFill>
          <a:ln w="12700" cap="flat">
            <a:solidFill>
              <a:schemeClr val="bg1"/>
            </a:solid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CB9B2C"/>
              </a:solidFill>
              <a:sym typeface="Helvetica Light"/>
            </a:endParaRPr>
          </a:p>
        </p:txBody>
      </p:sp>
      <p:sp>
        <p:nvSpPr>
          <p:cNvPr id="80" name="Oval 79"/>
          <p:cNvSpPr>
            <a:spLocks/>
          </p:cNvSpPr>
          <p:nvPr/>
        </p:nvSpPr>
        <p:spPr>
          <a:xfrm>
            <a:off x="1176330" y="5350981"/>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cxnSp>
        <p:nvCxnSpPr>
          <p:cNvPr id="82" name="Straight Connector 81"/>
          <p:cNvCxnSpPr>
            <a:cxnSpLocks/>
          </p:cNvCxnSpPr>
          <p:nvPr/>
        </p:nvCxnSpPr>
        <p:spPr>
          <a:xfrm>
            <a:off x="4634190" y="1842697"/>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83" name="Rectangle 82"/>
          <p:cNvSpPr>
            <a:spLocks/>
          </p:cNvSpPr>
          <p:nvPr/>
        </p:nvSpPr>
        <p:spPr>
          <a:xfrm>
            <a:off x="4679832" y="1949386"/>
            <a:ext cx="659155" cy="230832"/>
          </a:xfrm>
          <a:prstGeom prst="rect">
            <a:avLst/>
          </a:prstGeom>
        </p:spPr>
        <p:txBody>
          <a:bodyPr wrap="squar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sp>
        <p:nvSpPr>
          <p:cNvPr id="84" name="Rectangle 83"/>
          <p:cNvSpPr>
            <a:spLocks/>
          </p:cNvSpPr>
          <p:nvPr/>
        </p:nvSpPr>
        <p:spPr>
          <a:xfrm>
            <a:off x="7210497" y="1002152"/>
            <a:ext cx="659155" cy="230832"/>
          </a:xfrm>
          <a:prstGeom prst="rect">
            <a:avLst/>
          </a:prstGeom>
        </p:spPr>
        <p:txBody>
          <a:bodyPr wrap="none">
            <a:spAutoFit/>
          </a:bodyPr>
          <a:lstStyle/>
          <a:p>
            <a:r>
              <a:rPr lang="en-US" sz="900" b="1" dirty="0">
                <a:solidFill>
                  <a:srgbClr val="CB9B2C"/>
                </a:solidFill>
                <a:latin typeface="USSF 90 Min Display Medium" panose="020B0703030202060203" pitchFamily="34" charset="77"/>
              </a:rPr>
              <a:t>(ZONE 2)</a:t>
            </a:r>
            <a:endParaRPr lang="en-US" sz="900" dirty="0">
              <a:solidFill>
                <a:srgbClr val="CB9B2C"/>
              </a:solidFill>
            </a:endParaRPr>
          </a:p>
        </p:txBody>
      </p:sp>
      <p:cxnSp>
        <p:nvCxnSpPr>
          <p:cNvPr id="91" name="Straight Connector 90"/>
          <p:cNvCxnSpPr>
            <a:cxnSpLocks/>
          </p:cNvCxnSpPr>
          <p:nvPr/>
        </p:nvCxnSpPr>
        <p:spPr>
          <a:xfrm>
            <a:off x="1951150" y="2963057"/>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cxnSp>
        <p:nvCxnSpPr>
          <p:cNvPr id="92" name="Straight Connector 91"/>
          <p:cNvCxnSpPr>
            <a:cxnSpLocks/>
          </p:cNvCxnSpPr>
          <p:nvPr/>
        </p:nvCxnSpPr>
        <p:spPr>
          <a:xfrm>
            <a:off x="7153760" y="846695"/>
            <a:ext cx="734" cy="2240721"/>
          </a:xfrm>
          <a:prstGeom prst="line">
            <a:avLst/>
          </a:prstGeom>
          <a:noFill/>
          <a:ln w="38100" cap="flat">
            <a:solidFill>
              <a:schemeClr val="bg1"/>
            </a:solidFill>
            <a:prstDash val="solid"/>
            <a:miter lim="400000"/>
          </a:ln>
          <a:effectLst/>
        </p:spPr>
        <p:style>
          <a:lnRef idx="0">
            <a:srgbClr val="000000"/>
          </a:lnRef>
          <a:fillRef idx="0">
            <a:srgbClr val="000000"/>
          </a:fillRef>
          <a:effectRef idx="0">
            <a:srgbClr val="000000"/>
          </a:effectRef>
          <a:fontRef idx="none"/>
        </p:style>
      </p:cxnSp>
      <p:sp>
        <p:nvSpPr>
          <p:cNvPr id="95" name="Oval 94"/>
          <p:cNvSpPr>
            <a:spLocks/>
          </p:cNvSpPr>
          <p:nvPr/>
        </p:nvSpPr>
        <p:spPr>
          <a:xfrm>
            <a:off x="401193" y="5647898"/>
            <a:ext cx="228600" cy="418366"/>
          </a:xfrm>
          <a:prstGeom prst="ellipse">
            <a:avLst/>
          </a:prstGeom>
          <a:solidFill>
            <a:schemeClr val="bg1"/>
          </a:solidFill>
          <a:ln w="12700" cap="flat">
            <a:noFill/>
            <a:miter lim="400000"/>
          </a:ln>
          <a:effectLst>
            <a:outerShdw blurRad="38100" dist="25400" dir="5400000" rotWithShape="0">
              <a:srgbClr val="000000">
                <a:alpha val="50000"/>
              </a:srgbClr>
            </a:outerShdw>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spAutoFit/>
          </a:bodyPr>
          <a:lstStyle/>
          <a:p>
            <a:pPr algn="ctr" defTabSz="412750" hangingPunct="0"/>
            <a:endParaRPr lang="en-US" sz="1600">
              <a:solidFill>
                <a:srgbClr val="FFFFFF"/>
              </a:solidFill>
              <a:sym typeface="Helvetica Light"/>
            </a:endParaRPr>
          </a:p>
        </p:txBody>
      </p:sp>
      <p:sp>
        <p:nvSpPr>
          <p:cNvPr id="97" name="TextBox 96"/>
          <p:cNvSpPr txBox="1">
            <a:spLocks/>
          </p:cNvSpPr>
          <p:nvPr/>
        </p:nvSpPr>
        <p:spPr>
          <a:xfrm>
            <a:off x="281909" y="4800357"/>
            <a:ext cx="823946" cy="81980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t">
            <a:noAutofit/>
          </a:bodyPr>
          <a:lstStyle/>
          <a:p>
            <a:pPr defTabSz="412750" hangingPunct="0">
              <a:spcBef>
                <a:spcPts val="2600"/>
              </a:spcBef>
            </a:pPr>
            <a:r>
              <a:rPr lang="en-US" sz="3000" b="1" dirty="0">
                <a:solidFill>
                  <a:schemeClr val="bg1"/>
                </a:solidFill>
              </a:rPr>
              <a:t>U9</a:t>
            </a:r>
            <a:endParaRPr lang="en-US" sz="3000" b="1" dirty="0">
              <a:solidFill>
                <a:schemeClr val="bg1"/>
              </a:solidFill>
              <a:sym typeface="USSF 90 Min Display Light"/>
            </a:endParaRPr>
          </a:p>
        </p:txBody>
      </p:sp>
      <p:sp>
        <p:nvSpPr>
          <p:cNvPr id="47" name="Rectangle 46"/>
          <p:cNvSpPr>
            <a:spLocks/>
          </p:cNvSpPr>
          <p:nvPr/>
        </p:nvSpPr>
        <p:spPr>
          <a:xfrm>
            <a:off x="641203" y="5975268"/>
            <a:ext cx="2034441" cy="830997"/>
          </a:xfrm>
          <a:prstGeom prst="rect">
            <a:avLst/>
          </a:prstGeom>
        </p:spPr>
        <p:txBody>
          <a:bodyPr wrap="square">
            <a:spAutoFit/>
          </a:bodyPr>
          <a:lstStyle/>
          <a:p>
            <a:r>
              <a:rPr lang="en-US" sz="1600" b="1" dirty="0">
                <a:solidFill>
                  <a:srgbClr val="CB9B2C"/>
                </a:solidFill>
                <a:latin typeface="USSF 90 Min Display Medium" panose="020B0703030202060203" pitchFamily="34" charset="77"/>
              </a:rPr>
              <a:t>U-12 INTRODUCTION TO THE KEY QUALITIES </a:t>
            </a:r>
          </a:p>
        </p:txBody>
      </p:sp>
      <p:cxnSp>
        <p:nvCxnSpPr>
          <p:cNvPr id="50" name="Straight Connector 49">
            <a:extLst>
              <a:ext uri="{FF2B5EF4-FFF2-40B4-BE49-F238E27FC236}">
                <a16:creationId xmlns:a16="http://schemas.microsoft.com/office/drawing/2014/main" id="{505BFC5D-38D7-3E4C-AC74-032D00C4A90F}"/>
              </a:ext>
            </a:extLst>
          </p:cNvPr>
          <p:cNvCxnSpPr>
            <a:cxnSpLocks/>
          </p:cNvCxnSpPr>
          <p:nvPr/>
        </p:nvCxnSpPr>
        <p:spPr>
          <a:xfrm flipH="1">
            <a:off x="7908391" y="1948543"/>
            <a:ext cx="2262330" cy="915975"/>
          </a:xfrm>
          <a:prstGeom prst="line">
            <a:avLst/>
          </a:prstGeom>
          <a:noFill/>
          <a:ln w="57150" cap="flat">
            <a:solidFill>
              <a:srgbClr val="FFFF00"/>
            </a:solidFill>
            <a:prstDash val="solid"/>
            <a:miter lim="400000"/>
            <a:headEnd type="oval" w="med" len="med"/>
            <a:tailEnd type="oval" w="med" len="med"/>
          </a:ln>
          <a:effectLst/>
        </p:spPr>
        <p:style>
          <a:lnRef idx="0">
            <a:srgbClr val="000000"/>
          </a:lnRef>
          <a:fillRef idx="0">
            <a:srgbClr val="000000"/>
          </a:fillRef>
          <a:effectRef idx="0">
            <a:srgbClr val="000000"/>
          </a:effectRef>
          <a:fontRef idx="none"/>
        </p:style>
      </p:cxnSp>
      <p:sp>
        <p:nvSpPr>
          <p:cNvPr id="57" name="TextBox 56">
            <a:extLst>
              <a:ext uri="{FF2B5EF4-FFF2-40B4-BE49-F238E27FC236}">
                <a16:creationId xmlns:a16="http://schemas.microsoft.com/office/drawing/2014/main" id="{BAA7884E-B808-4A42-9F3B-2EBC08E62761}"/>
              </a:ext>
            </a:extLst>
          </p:cNvPr>
          <p:cNvSpPr txBox="1">
            <a:spLocks/>
          </p:cNvSpPr>
          <p:nvPr/>
        </p:nvSpPr>
        <p:spPr>
          <a:xfrm>
            <a:off x="234895" y="61924"/>
            <a:ext cx="10279118" cy="914400"/>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square" lIns="25400" tIns="25400" rIns="25400" bIns="25400" numCol="1" rtlCol="0" anchor="ctr">
            <a:noAutofit/>
          </a:bodyPr>
          <a:lstStyle/>
          <a:p>
            <a:pPr defTabSz="412750" hangingPunct="0">
              <a:spcBef>
                <a:spcPts val="2600"/>
              </a:spcBef>
            </a:pPr>
            <a:br>
              <a:rPr lang="en-US" sz="4800" b="1" dirty="0">
                <a:solidFill>
                  <a:schemeClr val="accent5"/>
                </a:solidFill>
                <a:latin typeface="USSF 90 Min Display Medium" panose="020B0703030202060203" pitchFamily="34" charset="77"/>
                <a:sym typeface="USSF 90 Min Display Light"/>
              </a:rPr>
            </a:br>
            <a:r>
              <a:rPr lang="en-US" sz="4800" b="1" dirty="0">
                <a:solidFill>
                  <a:srgbClr val="CB9B2C"/>
                </a:solidFill>
                <a:latin typeface="USSF 90 Min Display Medium" panose="020B0703030202060203" pitchFamily="34" charset="77"/>
                <a:sym typeface="USSF 90 Min Display Light"/>
              </a:rPr>
              <a:t>PLAYER DEVELOPMENT STAGES</a:t>
            </a:r>
            <a:br>
              <a:rPr lang="en-US" sz="4800" b="1" dirty="0">
                <a:solidFill>
                  <a:schemeClr val="accent5"/>
                </a:solidFill>
                <a:latin typeface="USSF 90 Min Display Medium" panose="020B0703030202060203" pitchFamily="34" charset="77"/>
                <a:sym typeface="USSF 90 Min Display Light"/>
              </a:rPr>
            </a:br>
            <a:endParaRPr lang="en-US" b="1" dirty="0">
              <a:solidFill>
                <a:schemeClr val="bg1"/>
              </a:solidFill>
              <a:latin typeface="USSF 90 Min Display Medium" panose="020B0703030202060203" pitchFamily="34" charset="77"/>
              <a:sym typeface="USSF 90 Min Display Light"/>
            </a:endParaRPr>
          </a:p>
          <a:p>
            <a:pPr defTabSz="412750" hangingPunct="0">
              <a:spcBef>
                <a:spcPts val="2600"/>
              </a:spcBef>
            </a:pPr>
            <a:endParaRPr lang="en-US" sz="4800" b="1" dirty="0">
              <a:solidFill>
                <a:schemeClr val="accent5"/>
              </a:solidFill>
              <a:latin typeface="USSF 90 Min Display Medium" panose="020B0703030202060203" pitchFamily="34" charset="77"/>
              <a:sym typeface="USSF 90 Min Display Light"/>
            </a:endParaRPr>
          </a:p>
        </p:txBody>
      </p:sp>
      <p:pic>
        <p:nvPicPr>
          <p:cNvPr id="58" name="Picture 57">
            <a:extLst>
              <a:ext uri="{FF2B5EF4-FFF2-40B4-BE49-F238E27FC236}">
                <a16:creationId xmlns:a16="http://schemas.microsoft.com/office/drawing/2014/main" id="{290EF4D0-97DB-C74A-AD95-E5061CCABB1F}"/>
              </a:ext>
            </a:extLst>
          </p:cNvPr>
          <p:cNvPicPr>
            <a:picLocks noChangeAspect="1"/>
          </p:cNvPicPr>
          <p:nvPr/>
        </p:nvPicPr>
        <p:blipFill>
          <a:blip r:embed="rId3"/>
          <a:stretch>
            <a:fillRect/>
          </a:stretch>
        </p:blipFill>
        <p:spPr>
          <a:xfrm>
            <a:off x="7542414" y="4762933"/>
            <a:ext cx="2107959" cy="2107959"/>
          </a:xfrm>
          <a:prstGeom prst="rect">
            <a:avLst/>
          </a:prstGeom>
        </p:spPr>
      </p:pic>
    </p:spTree>
    <p:extLst>
      <p:ext uri="{BB962C8B-B14F-4D97-AF65-F5344CB8AC3E}">
        <p14:creationId xmlns:p14="http://schemas.microsoft.com/office/powerpoint/2010/main" val="246813097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Shape 238"/>
          <p:cNvSpPr>
            <a:spLocks noGrp="1"/>
          </p:cNvSpPr>
          <p:nvPr>
            <p:ph type="body" sz="quarter" idx="4294967295"/>
          </p:nvPr>
        </p:nvSpPr>
        <p:spPr>
          <a:xfrm>
            <a:off x="1545173" y="0"/>
            <a:ext cx="8890895" cy="355482"/>
          </a:xfrm>
          <a:prstGeom prst="rect">
            <a:avLst/>
          </a:prstGeom>
        </p:spPr>
        <p:txBody>
          <a:bodyPr wrap="none">
            <a:spAutoFit/>
          </a:bodyPr>
          <a:lstStyle/>
          <a:p>
            <a:pPr marL="0" indent="0">
              <a:buNone/>
            </a:pPr>
            <a:r>
              <a:rPr lang="en-US" sz="1900" b="1" dirty="0">
                <a:solidFill>
                  <a:srgbClr val="FFFF00"/>
                </a:solidFill>
              </a:rPr>
              <a:t>U-17 &amp; U-18 EXECUTE THE KEY QUALITIES SUCCESSFULLY IN ORDER TO WIN THE GAME </a:t>
            </a:r>
          </a:p>
        </p:txBody>
      </p:sp>
      <p:graphicFrame>
        <p:nvGraphicFramePr>
          <p:cNvPr id="3" name="Table 2"/>
          <p:cNvGraphicFramePr>
            <a:graphicFrameLocks noGrp="1"/>
          </p:cNvGraphicFramePr>
          <p:nvPr>
            <p:extLst>
              <p:ext uri="{D42A27DB-BD31-4B8C-83A1-F6EECF244321}">
                <p14:modId xmlns:p14="http://schemas.microsoft.com/office/powerpoint/2010/main" val="244856788"/>
              </p:ext>
            </p:extLst>
          </p:nvPr>
        </p:nvGraphicFramePr>
        <p:xfrm>
          <a:off x="1035449" y="683897"/>
          <a:ext cx="9793916" cy="5898914"/>
        </p:xfrm>
        <a:graphic>
          <a:graphicData uri="http://schemas.openxmlformats.org/drawingml/2006/table">
            <a:tbl>
              <a:tblPr firstRow="1" bandRow="1">
                <a:solidFill>
                  <a:srgbClr val="FFFF00"/>
                </a:solidFill>
                <a:tableStyleId>{5940675A-B579-460E-94D1-54222C63F5DA}</a:tableStyleId>
              </a:tblPr>
              <a:tblGrid>
                <a:gridCol w="4896958">
                  <a:extLst>
                    <a:ext uri="{9D8B030D-6E8A-4147-A177-3AD203B41FA5}">
                      <a16:colId xmlns:a16="http://schemas.microsoft.com/office/drawing/2014/main" val="20000"/>
                    </a:ext>
                  </a:extLst>
                </a:gridCol>
                <a:gridCol w="4896958">
                  <a:extLst>
                    <a:ext uri="{9D8B030D-6E8A-4147-A177-3AD203B41FA5}">
                      <a16:colId xmlns:a16="http://schemas.microsoft.com/office/drawing/2014/main" val="2093758353"/>
                    </a:ext>
                  </a:extLst>
                </a:gridCol>
              </a:tblGrid>
              <a:tr h="351554">
                <a:tc gridSpan="2">
                  <a:txBody>
                    <a:bodyPr/>
                    <a:lstStyle/>
                    <a:p>
                      <a:pPr algn="ctr"/>
                      <a:r>
                        <a:rPr lang="en-US" sz="1800" b="1" i="0" dirty="0">
                          <a:solidFill>
                            <a:schemeClr val="tx1"/>
                          </a:solidFill>
                          <a:uFillTx/>
                          <a:latin typeface="Arial" panose="020B0604020202020204" pitchFamily="34" charset="0"/>
                          <a:cs typeface="Arial" panose="020B0604020202020204" pitchFamily="34" charset="0"/>
                        </a:rPr>
                        <a:t>U-17 &amp; U-18 player behaviors to look for</a:t>
                      </a:r>
                    </a:p>
                  </a:txBody>
                  <a:tcPr marL="45720" marR="45720" marT="0" marB="0" anchor="ctr">
                    <a:solidFill>
                      <a:srgbClr val="FFFF00">
                        <a:alpha val="75000"/>
                      </a:srgbClr>
                    </a:solidFill>
                  </a:tcPr>
                </a:tc>
                <a:tc hMerge="1">
                  <a:txBody>
                    <a:bodyPr/>
                    <a:lstStyle/>
                    <a:p>
                      <a:endParaRPr lang="en-US"/>
                    </a:p>
                  </a:txBody>
                  <a:tcPr/>
                </a:tc>
                <a:extLst>
                  <a:ext uri="{0D108BD9-81ED-4DB2-BD59-A6C34878D82A}">
                    <a16:rowId xmlns:a16="http://schemas.microsoft.com/office/drawing/2014/main" val="10000"/>
                  </a:ext>
                </a:extLst>
              </a:tr>
              <a:tr h="5329489">
                <a:tc>
                  <a:txBody>
                    <a:bodyPr/>
                    <a:lstStyle/>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Game understanding &amp; Decision Making</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Understands all the phases of the game relative to our style of play and makes quick decisions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Applies our principles of play to scenarios in the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Coordinates actions with teammates, opponents, and positions within the field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the best player at their position based on the style of play of the team</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Manages the moments within the game at the appropriate pace</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Initiative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Proactive in situations, looks for new ideas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Attacks opponents (1v1, dribble/movement to drag opponents out of position)</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Thinks ahead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Scanning the field and finding space for the next movements</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Focus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Plays to win every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brave and competes in every moment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Recovers quickly from an adverse moment</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Emotionally composed</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Optimal Technical</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Technically proficient to be successful in all situations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Proficient in 1v1 to create attacking prowess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Technical skills to create attacking moments under pressure</a:t>
                      </a:r>
                    </a:p>
                    <a:p>
                      <a:pPr marL="342900" marR="0" indent="-34290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i="0" dirty="0">
                          <a:solidFill>
                            <a:schemeClr val="tx1"/>
                          </a:solidFill>
                          <a:uFillTx/>
                          <a:latin typeface="Calibri" panose="020F0502020204030204" pitchFamily="34" charset="0"/>
                          <a:cs typeface="Calibri" panose="020F0502020204030204" pitchFamily="34" charset="0"/>
                        </a:rPr>
                        <a:t>Technical skills to dictate the pace of the game	</a:t>
                      </a:r>
                    </a:p>
                  </a:txBody>
                  <a:tcPr marL="45720" marR="45720" marT="0" marB="0" anchor="ctr">
                    <a:solidFill>
                      <a:srgbClr val="FFFF00">
                        <a:alpha val="75000"/>
                      </a:srgbClr>
                    </a:solidFill>
                  </a:tcPr>
                </a:tc>
                <a:tc>
                  <a:txBody>
                    <a:bodyPr/>
                    <a:lstStyle/>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Optimal Physical</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Protects the ball with body and correct improvement</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Has the physical fitness to execute tasks at the highest level for every game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Demonstrates power and speed</a:t>
                      </a:r>
                    </a:p>
                    <a:p>
                      <a:pPr marL="0" indent="0" algn="l">
                        <a:buFont typeface="Arial" panose="020B0604020202020204" pitchFamily="34" charset="0"/>
                        <a:buNone/>
                      </a:pPr>
                      <a:r>
                        <a:rPr lang="en-US" sz="1400" b="1" i="0" dirty="0">
                          <a:solidFill>
                            <a:schemeClr val="tx1"/>
                          </a:solidFill>
                          <a:uFillTx/>
                          <a:latin typeface="Calibri" panose="020F0502020204030204" pitchFamily="34" charset="0"/>
                          <a:cs typeface="Calibri" panose="020F0502020204030204" pitchFamily="34" charset="0"/>
                        </a:rPr>
                        <a:t>Responsible (On &amp; Off Field)</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involved and engaged throughout every game, training session, and exercise</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Accountable for actions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Handles (un)expected challenges and problems with flexibility and accountability</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Develops own goals to reach their personal learning objectives</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Analyzes game &amp; training performance in relation to positional requirements in the system of play</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Creates their own PDP…Personal Development Plan</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dependable and reliable (leadership)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Personal lifestyle aligns with becoming an elite performer	</a:t>
                      </a:r>
                    </a:p>
                    <a:p>
                      <a:pPr marL="342900" indent="-342900" algn="l">
                        <a:buFont typeface="Arial" panose="020B0604020202020204" pitchFamily="34" charset="0"/>
                        <a:buChar char="•"/>
                      </a:pPr>
                      <a:r>
                        <a:rPr lang="en-US" sz="1400" i="0" dirty="0">
                          <a:solidFill>
                            <a:schemeClr val="tx1"/>
                          </a:solidFill>
                          <a:uFillTx/>
                          <a:latin typeface="Calibri" panose="020F0502020204030204" pitchFamily="34" charset="0"/>
                          <a:cs typeface="Calibri" panose="020F0502020204030204" pitchFamily="34" charset="0"/>
                        </a:rPr>
                        <a:t>Is a 'coach' on the field</a:t>
                      </a:r>
                    </a:p>
                    <a:p>
                      <a:pPr marL="342900" indent="-342900" algn="l">
                        <a:buFont typeface="Arial" panose="020B0604020202020204" pitchFamily="34" charset="0"/>
                        <a:buChar char="•"/>
                      </a:pPr>
                      <a:endParaRPr lang="en-US" sz="1400" i="0" dirty="0">
                        <a:solidFill>
                          <a:schemeClr val="tx1"/>
                        </a:solidFill>
                        <a:uFillTx/>
                        <a:latin typeface="Calibri" panose="020F0502020204030204" pitchFamily="34" charset="0"/>
                        <a:cs typeface="Calibri" panose="020F0502020204030204" pitchFamily="34" charset="0"/>
                      </a:endParaRPr>
                    </a:p>
                  </a:txBody>
                  <a:tcPr marL="45720" marR="45720" marT="0" marB="0" anchor="ctr">
                    <a:solidFill>
                      <a:srgbClr val="FFFF00">
                        <a:alpha val="75000"/>
                      </a:srgbClr>
                    </a:solidFill>
                  </a:tcPr>
                </a:tc>
                <a:extLst>
                  <a:ext uri="{0D108BD9-81ED-4DB2-BD59-A6C34878D82A}">
                    <a16:rowId xmlns:a16="http://schemas.microsoft.com/office/drawing/2014/main" val="10001"/>
                  </a:ext>
                </a:extLst>
              </a:tr>
            </a:tbl>
          </a:graphicData>
        </a:graphic>
      </p:graphicFrame>
      <p:sp>
        <p:nvSpPr>
          <p:cNvPr id="4" name="TextBox 3"/>
          <p:cNvSpPr txBox="1">
            <a:spLocks/>
          </p:cNvSpPr>
          <p:nvPr/>
        </p:nvSpPr>
        <p:spPr>
          <a:xfrm>
            <a:off x="1035449" y="317130"/>
            <a:ext cx="9910342"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specific qualities of a player to be the  best player in their position to win the game</a:t>
            </a:r>
          </a:p>
        </p:txBody>
      </p:sp>
      <p:pic>
        <p:nvPicPr>
          <p:cNvPr id="7" name="Picture 6">
            <a:extLst>
              <a:ext uri="{FF2B5EF4-FFF2-40B4-BE49-F238E27FC236}">
                <a16:creationId xmlns:a16="http://schemas.microsoft.com/office/drawing/2014/main" id="{E9273190-24CC-0C44-98D9-8E16AC362454}"/>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76654036"/>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22A60D5-FD77-2B44-BEA3-47557E5E5F76}"/>
              </a:ext>
            </a:extLst>
          </p:cNvPr>
          <p:cNvGraphicFramePr>
            <a:graphicFrameLocks noGrp="1"/>
          </p:cNvGraphicFramePr>
          <p:nvPr>
            <p:extLst>
              <p:ext uri="{D42A27DB-BD31-4B8C-83A1-F6EECF244321}">
                <p14:modId xmlns:p14="http://schemas.microsoft.com/office/powerpoint/2010/main" val="3739563681"/>
              </p:ext>
            </p:extLst>
          </p:nvPr>
        </p:nvGraphicFramePr>
        <p:xfrm>
          <a:off x="388308" y="822793"/>
          <a:ext cx="11227774" cy="5675350"/>
        </p:xfrm>
        <a:graphic>
          <a:graphicData uri="http://schemas.openxmlformats.org/drawingml/2006/table">
            <a:tbl>
              <a:tblPr firstRow="1" bandRow="1">
                <a:solidFill>
                  <a:srgbClr val="FFFF00"/>
                </a:solidFill>
                <a:tableStyleId>{5940675A-B579-460E-94D1-54222C63F5DA}</a:tableStyleId>
              </a:tblPr>
              <a:tblGrid>
                <a:gridCol w="1188720">
                  <a:extLst>
                    <a:ext uri="{9D8B030D-6E8A-4147-A177-3AD203B41FA5}">
                      <a16:colId xmlns:a16="http://schemas.microsoft.com/office/drawing/2014/main" val="3283453846"/>
                    </a:ext>
                  </a:extLst>
                </a:gridCol>
                <a:gridCol w="4644094">
                  <a:extLst>
                    <a:ext uri="{9D8B030D-6E8A-4147-A177-3AD203B41FA5}">
                      <a16:colId xmlns:a16="http://schemas.microsoft.com/office/drawing/2014/main" val="20001"/>
                    </a:ext>
                  </a:extLst>
                </a:gridCol>
                <a:gridCol w="5394960">
                  <a:extLst>
                    <a:ext uri="{9D8B030D-6E8A-4147-A177-3AD203B41FA5}">
                      <a16:colId xmlns:a16="http://schemas.microsoft.com/office/drawing/2014/main" val="1726671638"/>
                    </a:ext>
                  </a:extLst>
                </a:gridCol>
              </a:tblGrid>
              <a:tr h="478070">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U-17 &amp; U-19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509415">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ATTACKING</a:t>
                      </a: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DEFENDING</a:t>
                      </a: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68590">
                <a:tc rowSpan="8">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Vary the type of runs to get behind/between last line of defenders </a:t>
                      </a:r>
                    </a:p>
                  </a:txBody>
                  <a:tcPr marL="9525" marR="9525" marT="9525" marB="0" anchor="b">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5-7 yards and Horizontal Compactness 3-5 yards</a:t>
                      </a:r>
                    </a:p>
                  </a:txBody>
                  <a:tcPr marL="9525" marR="9525" marT="9525" marB="0" anchor="ctr">
                    <a:solidFill>
                      <a:srgbClr val="FFFF00">
                        <a:alpha val="75000"/>
                      </a:srgbClr>
                    </a:solidFill>
                  </a:tcPr>
                </a:tc>
                <a:extLst>
                  <a:ext uri="{0D108BD9-81ED-4DB2-BD59-A6C34878D82A}">
                    <a16:rowId xmlns:a16="http://schemas.microsoft.com/office/drawing/2014/main" val="10001"/>
                  </a:ext>
                </a:extLst>
              </a:tr>
              <a:tr h="76592">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key players where they can succeed) </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554897439"/>
                  </a:ext>
                </a:extLst>
              </a:tr>
              <a:tr h="191998">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solidFill>
                      <a:srgbClr val="FFFF00">
                        <a:alpha val="75000"/>
                      </a:srgbClr>
                    </a:solidFill>
                  </a:tcPr>
                </a:tc>
                <a:extLst>
                  <a:ext uri="{0D108BD9-81ED-4DB2-BD59-A6C34878D82A}">
                    <a16:rowId xmlns:a16="http://schemas.microsoft.com/office/drawing/2014/main" val="4084929868"/>
                  </a:ext>
                </a:extLst>
              </a:tr>
              <a:tr h="153186">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Utilize space and triangulate to create passing options</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037426855"/>
                  </a:ext>
                </a:extLst>
              </a:tr>
              <a:tr h="87828">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solidFill>
                      <a:srgbClr val="FFFF00">
                        <a:alpha val="75000"/>
                      </a:srgbClr>
                    </a:solidFill>
                  </a:tcPr>
                </a:tc>
                <a:extLst>
                  <a:ext uri="{0D108BD9-81ED-4DB2-BD59-A6C34878D82A}">
                    <a16:rowId xmlns:a16="http://schemas.microsoft.com/office/drawing/2014/main" val="3146898876"/>
                  </a:ext>
                </a:extLst>
              </a:tr>
              <a:tr h="229780">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 numbers in the box</a:t>
                      </a:r>
                    </a:p>
                  </a:txBody>
                  <a:tcPr marL="9525" marR="9525" marT="9525" marB="0" anchor="b">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437741686"/>
                  </a:ext>
                </a:extLst>
              </a:tr>
              <a:tr h="43748">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 box man&gt;zone, outside the box zone&gt;man</a:t>
                      </a:r>
                    </a:p>
                  </a:txBody>
                  <a:tcPr marL="9525" marR="9525" marT="9525" marB="0" anchor="ctr">
                    <a:solidFill>
                      <a:srgbClr val="FFFF00">
                        <a:alpha val="75000"/>
                      </a:srgbClr>
                    </a:solidFill>
                  </a:tcPr>
                </a:tc>
                <a:extLst>
                  <a:ext uri="{0D108BD9-81ED-4DB2-BD59-A6C34878D82A}">
                    <a16:rowId xmlns:a16="http://schemas.microsoft.com/office/drawing/2014/main" val="321916705"/>
                  </a:ext>
                </a:extLst>
              </a:tr>
              <a:tr h="268590">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b">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460914874"/>
                  </a:ext>
                </a:extLst>
              </a:tr>
              <a:tr h="241015">
                <a:tc rowSpan="8">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Movement of players to create numbers up</a:t>
                      </a:r>
                    </a:p>
                  </a:txBody>
                  <a:tcPr marL="9525" marR="9525" marT="9525" marB="0" anchor="b">
                    <a:lnT w="57150" cap="flat" cmpd="sng" algn="ctr">
                      <a:solidFill>
                        <a:schemeClr val="tx1"/>
                      </a:solidFill>
                      <a:prstDash val="solid"/>
                      <a:round/>
                      <a:headEnd type="none" w="med" len="med"/>
                      <a:tailEnd type="none" w="med" len="med"/>
                    </a:lnT>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Keep the ball in front of us, force play wide</a:t>
                      </a:r>
                    </a:p>
                  </a:txBody>
                  <a:tcPr marL="9525" marR="9525" marT="9525" marB="0" anchor="ctr">
                    <a:solidFill>
                      <a:srgbClr val="FFFF00">
                        <a:alpha val="75000"/>
                      </a:srgbClr>
                    </a:solidFill>
                  </a:tcPr>
                </a:tc>
                <a:extLst>
                  <a:ext uri="{0D108BD9-81ED-4DB2-BD59-A6C34878D82A}">
                    <a16:rowId xmlns:a16="http://schemas.microsoft.com/office/drawing/2014/main" val="10002"/>
                  </a:ext>
                </a:extLst>
              </a:tr>
              <a:tr h="60253">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Wide Players occupying different channels (full backs/wingers) </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4157069119"/>
                  </a:ext>
                </a:extLst>
              </a:tr>
              <a:tr h="180761">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 in your zone</a:t>
                      </a:r>
                    </a:p>
                  </a:txBody>
                  <a:tcPr marL="9525" marR="9525" marT="9525" marB="0" anchor="ctr">
                    <a:solidFill>
                      <a:srgbClr val="FFFF00">
                        <a:alpha val="75000"/>
                      </a:srgbClr>
                    </a:solidFill>
                  </a:tcPr>
                </a:tc>
                <a:extLst>
                  <a:ext uri="{0D108BD9-81ED-4DB2-BD59-A6C34878D82A}">
                    <a16:rowId xmlns:a16="http://schemas.microsoft.com/office/drawing/2014/main" val="4141362707"/>
                  </a:ext>
                </a:extLst>
              </a:tr>
              <a:tr h="120508">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Utilize space and triangulate to create passing options</a:t>
                      </a:r>
                    </a:p>
                  </a:txBody>
                  <a:tcPr marL="9525" marR="9525" marT="9525" marB="0" anchor="b">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879113547"/>
                  </a:ext>
                </a:extLst>
              </a:tr>
              <a:tr h="120507">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solidFill>
                      <a:srgbClr val="FFFF00">
                        <a:alpha val="75000"/>
                      </a:srgbClr>
                    </a:solidFill>
                  </a:tcPr>
                </a:tc>
                <a:extLst>
                  <a:ext uri="{0D108BD9-81ED-4DB2-BD59-A6C34878D82A}">
                    <a16:rowId xmlns:a16="http://schemas.microsoft.com/office/drawing/2014/main" val="3761774876"/>
                  </a:ext>
                </a:extLst>
              </a:tr>
              <a:tr h="180761">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#s up one side to exploit opposite side isolation (1v1, open space)</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848393572"/>
                  </a:ext>
                </a:extLst>
              </a:tr>
              <a:tr h="60253">
                <a:tc vMerge="1">
                  <a:txBody>
                    <a:bodyPr/>
                    <a:lstStyle/>
                    <a:p>
                      <a:endParaRPr lang="en-US"/>
                    </a:p>
                  </a:txBody>
                  <a:tcPr/>
                </a:tc>
                <a:tc vMerge="1">
                  <a:txBody>
                    <a:bodyPr/>
                    <a:lstStyle/>
                    <a:p>
                      <a:endParaRPr lang="en-US"/>
                    </a:p>
                  </a:txBody>
                  <a:tcPr/>
                </a:tc>
                <a:tc rowSpan="2">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8-10 yards and Horizontal Compactness 5-7 yards</a:t>
                      </a:r>
                    </a:p>
                  </a:txBody>
                  <a:tcPr marL="9525" marR="9525" marT="9525" marB="0" anchor="ctr">
                    <a:solidFill>
                      <a:srgbClr val="FFFF00">
                        <a:alpha val="75000"/>
                      </a:srgbClr>
                    </a:solidFill>
                  </a:tcPr>
                </a:tc>
                <a:extLst>
                  <a:ext uri="{0D108BD9-81ED-4DB2-BD59-A6C34878D82A}">
                    <a16:rowId xmlns:a16="http://schemas.microsoft.com/office/drawing/2014/main" val="490471227"/>
                  </a:ext>
                </a:extLst>
              </a:tr>
              <a:tr h="241015">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Find separation away from defender =  creating space</a:t>
                      </a:r>
                    </a:p>
                  </a:txBody>
                  <a:tcPr marL="9525" marR="9525" marT="9525" marB="0" anchor="b">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956949814"/>
                  </a:ext>
                </a:extLst>
              </a:tr>
              <a:tr h="303507">
                <a:tc rowSpan="8">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numbers up to advance ball forward</a:t>
                      </a:r>
                    </a:p>
                  </a:txBody>
                  <a:tcPr marL="9525" marR="9525" marT="9525" marB="0" anchor="b">
                    <a:lnT w="57150" cap="flat" cmpd="sng" algn="ctr">
                      <a:solidFill>
                        <a:schemeClr val="tx1"/>
                      </a:solidFill>
                      <a:prstDash val="solid"/>
                      <a:round/>
                      <a:headEnd type="none" w="med" len="med"/>
                      <a:tailEnd type="none" w="med" len="med"/>
                    </a:lnT>
                    <a:solidFill>
                      <a:srgbClr val="FFFF00">
                        <a:alpha val="75000"/>
                      </a:srgbClr>
                    </a:solidFill>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Stay and keep it compact - Vertical 5-7 yards and Horizontal Compactness 3-5 yards</a:t>
                      </a:r>
                    </a:p>
                  </a:txBody>
                  <a:tcPr marL="9525" marR="9525" marT="9525" marB="0" anchor="ctr">
                    <a:solidFill>
                      <a:srgbClr val="FFFF00">
                        <a:alpha val="75000"/>
                      </a:srgbClr>
                    </a:solidFill>
                  </a:tcPr>
                </a:tc>
                <a:extLst>
                  <a:ext uri="{0D108BD9-81ED-4DB2-BD59-A6C34878D82A}">
                    <a16:rowId xmlns:a16="http://schemas.microsoft.com/office/drawing/2014/main" val="10003"/>
                  </a:ext>
                </a:extLst>
              </a:tr>
              <a:tr h="75878">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Break first line of defenders on the dribble or pass</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227632">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Get behind the ball, force play wide</a:t>
                      </a:r>
                    </a:p>
                  </a:txBody>
                  <a:tcPr marL="9525" marR="9525" marT="9525" marB="0" anchor="ctr">
                    <a:solidFill>
                      <a:srgbClr val="FFFF00">
                        <a:alpha val="75000"/>
                      </a:srgbClr>
                    </a:solidFill>
                  </a:tcPr>
                </a:tc>
                <a:extLst>
                  <a:ext uri="{0D108BD9-81ED-4DB2-BD59-A6C34878D82A}">
                    <a16:rowId xmlns:a16="http://schemas.microsoft.com/office/drawing/2014/main" val="1514719298"/>
                  </a:ext>
                </a:extLst>
              </a:tr>
              <a:tr h="151753">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Create diagonal passing lanes - break lines of pressure with diagonal pass</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151753">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Look to always pressure the player on the ball</a:t>
                      </a:r>
                    </a:p>
                  </a:txBody>
                  <a:tcPr marL="9525" marR="9525" marT="9525" marB="0" anchor="ctr">
                    <a:solidFill>
                      <a:srgbClr val="FFFF00">
                        <a:alpha val="75000"/>
                      </a:srgbClr>
                    </a:solidFill>
                  </a:tcPr>
                </a:tc>
                <a:extLst>
                  <a:ext uri="{0D108BD9-81ED-4DB2-BD59-A6C34878D82A}">
                    <a16:rowId xmlns:a16="http://schemas.microsoft.com/office/drawing/2014/main" val="2412511574"/>
                  </a:ext>
                </a:extLst>
              </a:tr>
              <a:tr h="227632">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Getting unmarked, creating space</a:t>
                      </a:r>
                    </a:p>
                  </a:txBody>
                  <a:tcPr marL="9525" marR="9525" marT="9525" marB="0" anchor="b">
                    <a:solidFill>
                      <a:srgbClr val="FFFF00">
                        <a:alpha val="75000"/>
                      </a:srgbClr>
                    </a:solidFill>
                  </a:tcPr>
                </a:tc>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rgbClr val="000000"/>
                        </a:solidFill>
                        <a:effectLst/>
                        <a:latin typeface="Calibri" panose="020F0502020204030204" pitchFamily="34" charset="0"/>
                        <a:ea typeface="+mn-ea"/>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35595">
                <a:tc vMerge="1">
                  <a:txBody>
                    <a:bodyPr/>
                    <a:lstStyle/>
                    <a:p>
                      <a:endParaRPr lang="en-US"/>
                    </a:p>
                  </a:txBody>
                  <a:tcPr/>
                </a:tc>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In box man&gt;zone, outside the box zone&gt;man</a:t>
                      </a:r>
                    </a:p>
                  </a:txBody>
                  <a:tcPr marL="9525" marR="9525" marT="9525" marB="0" anchor="ctr">
                    <a:solidFill>
                      <a:srgbClr val="FFFF00">
                        <a:alpha val="75000"/>
                      </a:srgbClr>
                    </a:solidFill>
                  </a:tcPr>
                </a:tc>
                <a:extLst>
                  <a:ext uri="{0D108BD9-81ED-4DB2-BD59-A6C34878D82A}">
                    <a16:rowId xmlns:a16="http://schemas.microsoft.com/office/drawing/2014/main" val="91325804"/>
                  </a:ext>
                </a:extLst>
              </a:tr>
              <a:tr h="303507">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Occupy 5 vertical lanes with 5 defenders (Appropriate spacing of back 5)</a:t>
                      </a:r>
                    </a:p>
                  </a:txBody>
                  <a:tcPr marL="9525" marR="9525" marT="9525" marB="0" anchor="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6" name="Picture 5">
            <a:extLst>
              <a:ext uri="{FF2B5EF4-FFF2-40B4-BE49-F238E27FC236}">
                <a16:creationId xmlns:a16="http://schemas.microsoft.com/office/drawing/2014/main" id="{7629B63F-3E2A-7B40-A6A6-6015B340C626}"/>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82299A0F-424F-534A-8971-5EAF56F60B51}"/>
              </a:ext>
            </a:extLst>
          </p:cNvPr>
          <p:cNvSpPr txBox="1">
            <a:spLocks/>
          </p:cNvSpPr>
          <p:nvPr/>
        </p:nvSpPr>
        <p:spPr>
          <a:xfrm>
            <a:off x="1556748" y="138896"/>
            <a:ext cx="8890895" cy="355482"/>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900" b="1" dirty="0">
                <a:solidFill>
                  <a:srgbClr val="FFFF00"/>
                </a:solidFill>
              </a:rPr>
              <a:t>U-17 &amp; U-19 EXECUTE THE KEY QUALITIES SUCCESSFULLY IN ORDER TO WIN THE GAME </a:t>
            </a:r>
          </a:p>
        </p:txBody>
      </p:sp>
      <p:sp>
        <p:nvSpPr>
          <p:cNvPr id="9" name="TextBox 8">
            <a:extLst>
              <a:ext uri="{FF2B5EF4-FFF2-40B4-BE49-F238E27FC236}">
                <a16:creationId xmlns:a16="http://schemas.microsoft.com/office/drawing/2014/main" id="{1FF08B5E-8E01-4547-BD42-C0E3D54B9E5B}"/>
              </a:ext>
            </a:extLst>
          </p:cNvPr>
          <p:cNvSpPr txBox="1">
            <a:spLocks/>
          </p:cNvSpPr>
          <p:nvPr/>
        </p:nvSpPr>
        <p:spPr>
          <a:xfrm>
            <a:off x="1047024" y="456026"/>
            <a:ext cx="9910342"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specific qualities of a player to be the  best player in their position to win the game</a:t>
            </a:r>
          </a:p>
        </p:txBody>
      </p:sp>
    </p:spTree>
    <p:extLst>
      <p:ext uri="{BB962C8B-B14F-4D97-AF65-F5344CB8AC3E}">
        <p14:creationId xmlns:p14="http://schemas.microsoft.com/office/powerpoint/2010/main" val="3089713593"/>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5A91F60-CA11-2340-9CD2-858AB4371416}"/>
              </a:ext>
            </a:extLst>
          </p:cNvPr>
          <p:cNvGraphicFramePr>
            <a:graphicFrameLocks noGrp="1"/>
          </p:cNvGraphicFramePr>
          <p:nvPr>
            <p:extLst>
              <p:ext uri="{D42A27DB-BD31-4B8C-83A1-F6EECF244321}">
                <p14:modId xmlns:p14="http://schemas.microsoft.com/office/powerpoint/2010/main" val="4023245095"/>
              </p:ext>
            </p:extLst>
          </p:nvPr>
        </p:nvGraphicFramePr>
        <p:xfrm>
          <a:off x="617220" y="1104678"/>
          <a:ext cx="10755630" cy="5181826"/>
        </p:xfrm>
        <a:graphic>
          <a:graphicData uri="http://schemas.openxmlformats.org/drawingml/2006/table">
            <a:tbl>
              <a:tblPr firstRow="1" bandRow="1">
                <a:solidFill>
                  <a:srgbClr val="FFFF00"/>
                </a:solidFill>
                <a:tableStyleId>{5940675A-B579-460E-94D1-54222C63F5DA}</a:tableStyleId>
              </a:tblPr>
              <a:tblGrid>
                <a:gridCol w="1240708">
                  <a:extLst>
                    <a:ext uri="{9D8B030D-6E8A-4147-A177-3AD203B41FA5}">
                      <a16:colId xmlns:a16="http://schemas.microsoft.com/office/drawing/2014/main" val="3283453846"/>
                    </a:ext>
                  </a:extLst>
                </a:gridCol>
                <a:gridCol w="5792798">
                  <a:extLst>
                    <a:ext uri="{9D8B030D-6E8A-4147-A177-3AD203B41FA5}">
                      <a16:colId xmlns:a16="http://schemas.microsoft.com/office/drawing/2014/main" val="20001"/>
                    </a:ext>
                  </a:extLst>
                </a:gridCol>
                <a:gridCol w="3722124">
                  <a:extLst>
                    <a:ext uri="{9D8B030D-6E8A-4147-A177-3AD203B41FA5}">
                      <a16:colId xmlns:a16="http://schemas.microsoft.com/office/drawing/2014/main" val="1726671638"/>
                    </a:ext>
                  </a:extLst>
                </a:gridCol>
              </a:tblGrid>
              <a:tr h="449697">
                <a:tc gridSpan="3">
                  <a:txBody>
                    <a:bodyPr/>
                    <a:lstStyle/>
                    <a:p>
                      <a:pPr algn="ctr"/>
                      <a:r>
                        <a:rPr lang="en-US" sz="2400" b="1" dirty="0">
                          <a:solidFill>
                            <a:schemeClr val="tx1"/>
                          </a:solidFill>
                          <a:uFillTx/>
                          <a:latin typeface="Arial" panose="020B0604020202020204" pitchFamily="34" charset="0"/>
                          <a:cs typeface="Arial" panose="020B0604020202020204" pitchFamily="34" charset="0"/>
                        </a:rPr>
                        <a:t>Team Tactical Principles U-17 &amp; U-19 Player</a:t>
                      </a:r>
                    </a:p>
                  </a:txBody>
                  <a:tcPr marL="45720" marR="45720" marT="22860" marB="22860" anchor="ctr">
                    <a:solidFill>
                      <a:srgbClr val="FFFF00">
                        <a:alpha val="75000"/>
                      </a:srgbClr>
                    </a:solidFill>
                  </a:tcPr>
                </a:tc>
                <a:tc hMerge="1">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tc hMerge="1">
                  <a:txBody>
                    <a:bodyPr/>
                    <a:lstStyle/>
                    <a:p>
                      <a:pPr algn="l"/>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CB9B2C">
                        <a:alpha val="75000"/>
                      </a:srgbClr>
                    </a:solidFill>
                  </a:tcPr>
                </a:tc>
                <a:extLst>
                  <a:ext uri="{0D108BD9-81ED-4DB2-BD59-A6C34878D82A}">
                    <a16:rowId xmlns:a16="http://schemas.microsoft.com/office/drawing/2014/main" val="10000"/>
                  </a:ext>
                </a:extLst>
              </a:tr>
              <a:tr h="444443">
                <a:tc>
                  <a:txBody>
                    <a:bodyPr/>
                    <a:lstStyle/>
                    <a:p>
                      <a:pPr algn="ctr"/>
                      <a:endParaRPr lang="en-US" sz="20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A&gt;D</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tc>
                  <a:txBody>
                    <a:bodyPr/>
                    <a:lstStyle/>
                    <a:p>
                      <a:pPr algn="ctr"/>
                      <a:r>
                        <a:rPr lang="en-US" sz="1600" b="1" dirty="0">
                          <a:solidFill>
                            <a:schemeClr val="tx1"/>
                          </a:solidFill>
                          <a:uFillTx/>
                          <a:latin typeface="Arial" panose="020B0604020202020204" pitchFamily="34" charset="0"/>
                          <a:cs typeface="Arial" panose="020B0604020202020204" pitchFamily="34" charset="0"/>
                        </a:rPr>
                        <a:t>TRANSITION</a:t>
                      </a:r>
                      <a:r>
                        <a:rPr lang="en-US" sz="1600" b="1" baseline="0" dirty="0">
                          <a:solidFill>
                            <a:schemeClr val="tx1"/>
                          </a:solidFill>
                          <a:uFillTx/>
                          <a:latin typeface="Arial" panose="020B0604020202020204" pitchFamily="34" charset="0"/>
                          <a:cs typeface="Arial" panose="020B0604020202020204" pitchFamily="34" charset="0"/>
                        </a:rPr>
                        <a:t> D&gt;A</a:t>
                      </a:r>
                      <a:endParaRPr lang="en-US" sz="1600" b="1" dirty="0">
                        <a:solidFill>
                          <a:schemeClr val="tx1"/>
                        </a:solidFill>
                        <a:uFillTx/>
                        <a:latin typeface="Arial" panose="020B0604020202020204" pitchFamily="34" charset="0"/>
                        <a:cs typeface="Arial" panose="020B0604020202020204" pitchFamily="34" charset="0"/>
                      </a:endParaRPr>
                    </a:p>
                  </a:txBody>
                  <a:tcPr marL="45720" marR="45720" marT="22860" marB="22860" anchor="ctr">
                    <a:solidFill>
                      <a:srgbClr val="FFFF00">
                        <a:alpha val="75000"/>
                      </a:srgbClr>
                    </a:solidFill>
                  </a:tcPr>
                </a:tc>
                <a:extLst>
                  <a:ext uri="{0D108BD9-81ED-4DB2-BD59-A6C34878D82A}">
                    <a16:rowId xmlns:a16="http://schemas.microsoft.com/office/drawing/2014/main" val="1230058897"/>
                  </a:ext>
                </a:extLst>
              </a:tr>
              <a:tr h="234334">
                <a:tc rowSpan="6">
                  <a:txBody>
                    <a:bodyPr/>
                    <a:lstStyle/>
                    <a:p>
                      <a:pPr marL="0" indent="0" algn="l">
                        <a:buFontTx/>
                        <a:buNone/>
                      </a:pPr>
                      <a:r>
                        <a:rPr lang="en-US" sz="1400" b="1" dirty="0">
                          <a:solidFill>
                            <a:schemeClr val="tx1"/>
                          </a:solidFill>
                          <a:uFillTx/>
                          <a:latin typeface="+mn-lt"/>
                        </a:rPr>
                        <a:t>Attacking</a:t>
                      </a:r>
                      <a:r>
                        <a:rPr lang="en-US" sz="1400" b="1" baseline="0" dirty="0">
                          <a:solidFill>
                            <a:schemeClr val="tx1"/>
                          </a:solidFill>
                          <a:uFillTx/>
                          <a:latin typeface="+mn-lt"/>
                        </a:rPr>
                        <a:t> 1/3</a:t>
                      </a:r>
                      <a:endParaRPr lang="en-US" sz="1400" b="1" dirty="0">
                        <a:solidFill>
                          <a:schemeClr val="tx1"/>
                        </a:solidFill>
                        <a:uFillTx/>
                        <a:latin typeface="+mn-lt"/>
                      </a:endParaRPr>
                    </a:p>
                  </a:txBody>
                  <a:tcPr marL="45720" marR="45720" marT="22860" marB="22860" anchor="ctr">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solidFill>
                      <a:srgbClr val="FFFF00">
                        <a:alpha val="75000"/>
                      </a:srgbClr>
                    </a:solidFill>
                  </a:tcPr>
                </a:tc>
                <a:tc rowSpan="3">
                  <a:txBody>
                    <a:bodyPr/>
                    <a:lstStyle/>
                    <a:p>
                      <a:pPr algn="ctr" fontAlgn="b"/>
                      <a:r>
                        <a:rPr lang="en-US" sz="1400" b="0" i="0" u="none" strike="noStrike" dirty="0">
                          <a:solidFill>
                            <a:srgbClr val="000000"/>
                          </a:solidFill>
                          <a:effectLst/>
                          <a:latin typeface="Calibri" panose="020F0502020204030204" pitchFamily="34" charset="0"/>
                        </a:rPr>
                        <a:t>Play the most goal dangerous pass immediately </a:t>
                      </a:r>
                    </a:p>
                  </a:txBody>
                  <a:tcPr marL="9525" marR="9525" marT="9525" marB="0" anchor="ctr">
                    <a:solidFill>
                      <a:srgbClr val="FFFF00">
                        <a:alpha val="75000"/>
                      </a:srgbClr>
                    </a:solidFill>
                  </a:tcPr>
                </a:tc>
                <a:extLst>
                  <a:ext uri="{0D108BD9-81ED-4DB2-BD59-A6C34878D82A}">
                    <a16:rowId xmlns:a16="http://schemas.microsoft.com/office/drawing/2014/main" val="10001"/>
                  </a:ext>
                </a:extLst>
              </a:tr>
              <a:tr h="234334">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784364488"/>
                  </a:ext>
                </a:extLst>
              </a:tr>
              <a:tr h="23433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3554897439"/>
                  </a:ext>
                </a:extLst>
              </a:tr>
              <a:tr h="234334">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back</a:t>
                      </a:r>
                    </a:p>
                  </a:txBody>
                  <a:tcPr marL="9525" marR="9525" marT="9525" marB="0" anchor="ctr">
                    <a:solidFill>
                      <a:srgbClr val="FFFF00">
                        <a:alpha val="75000"/>
                      </a:srgbClr>
                    </a:solidFill>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Dribble toward goal and shoot on target </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4037426855"/>
                  </a:ext>
                </a:extLst>
              </a:tr>
              <a:tr h="23433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drop deep and get organized/compact</a:t>
                      </a:r>
                    </a:p>
                  </a:txBody>
                  <a:tcPr marL="9525" marR="9525" marT="9525" marB="0" anchor="ctr">
                    <a:solidFill>
                      <a:srgbClr val="FFFF00">
                        <a:alpha val="75000"/>
                      </a:srgbClr>
                    </a:solidFill>
                  </a:tcPr>
                </a:tc>
                <a:tc vMerge="1">
                  <a:txBody>
                    <a:bodyPr/>
                    <a:lstStyle/>
                    <a:p>
                      <a:pPr algn="l" fontAlgn="b"/>
                      <a:endParaRPr lang="en-US" sz="1200" b="0" i="0" u="none" strike="noStrike">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437741686"/>
                  </a:ext>
                </a:extLst>
              </a:tr>
              <a:tr h="23433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No pressure on the ball, drop/delay </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2460914874"/>
                  </a:ext>
                </a:extLst>
              </a:tr>
              <a:tr h="223894">
                <a:tc rowSpan="6">
                  <a:txBody>
                    <a:bodyPr/>
                    <a:lstStyle/>
                    <a:p>
                      <a:pPr marL="0" indent="0" algn="l">
                        <a:buFontTx/>
                        <a:buNone/>
                      </a:pPr>
                      <a:r>
                        <a:rPr lang="en-US" sz="1400" b="1" i="0" dirty="0">
                          <a:solidFill>
                            <a:schemeClr val="tx1"/>
                          </a:solidFill>
                          <a:uFillTx/>
                          <a:latin typeface="+mn-lt"/>
                        </a:rPr>
                        <a:t>Midfield 1/3</a:t>
                      </a:r>
                    </a:p>
                  </a:txBody>
                  <a:tcPr marL="45720" marR="45720" marT="22860" marB="22860" anchor="ctr">
                    <a:lnT w="57150" cap="flat" cmpd="sng" algn="ctr">
                      <a:solidFill>
                        <a:schemeClr val="tx1"/>
                      </a:solidFill>
                      <a:prstDash val="solid"/>
                      <a:round/>
                      <a:headEnd type="none" w="med" len="med"/>
                      <a:tailEnd type="none" w="med" len="med"/>
                    </a:lnT>
                    <a:lnB w="57150" cap="flat" cmpd="sng" algn="ctr">
                      <a:solidFill>
                        <a:schemeClr val="tx1"/>
                      </a:solidFill>
                      <a:prstDash val="solid"/>
                      <a:round/>
                      <a:headEnd type="none" w="med" len="med"/>
                      <a:tailEnd type="none" w="med" len="med"/>
                    </a:lnB>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player on the ball as soon as possible</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3">
                  <a:txBody>
                    <a:bodyPr/>
                    <a:lstStyle/>
                    <a:p>
                      <a:pPr algn="ctr" fontAlgn="b"/>
                      <a:r>
                        <a:rPr lang="en-US" sz="14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2"/>
                  </a:ext>
                </a:extLst>
              </a:tr>
              <a:tr h="223894">
                <a:tc vMerge="1">
                  <a:txBody>
                    <a:bodyPr/>
                    <a:lstStyle/>
                    <a:p>
                      <a:endParaRPr lang="en-US"/>
                    </a:p>
                  </a:txBody>
                  <a:tcPr/>
                </a:tc>
                <a:tc>
                  <a:txBody>
                    <a:bodyPr/>
                    <a:lstStyle/>
                    <a:p>
                      <a:pPr algn="ctr" fontAlgn="b"/>
                      <a:r>
                        <a:rPr lang="en-US" sz="1400" b="0" i="0" u="none" strike="noStrike">
                          <a:solidFill>
                            <a:srgbClr val="000000"/>
                          </a:solidFill>
                          <a:effectLst/>
                          <a:latin typeface="Calibri" panose="020F0502020204030204" pitchFamily="34" charset="0"/>
                          <a:cs typeface="Calibri" panose="020F0502020204030204" pitchFamily="34" charset="0"/>
                        </a:rPr>
                        <a:t>Numbers behind the ball</a:t>
                      </a:r>
                      <a:endParaRPr lang="en-US" sz="14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4157069119"/>
                  </a:ext>
                </a:extLst>
              </a:tr>
              <a:tr h="105138">
                <a:tc vMerge="1">
                  <a:txBody>
                    <a:bodyPr/>
                    <a:lstStyle/>
                    <a:p>
                      <a:endParaRPr lang="en-US"/>
                    </a:p>
                  </a:txBody>
                  <a:tcPr/>
                </a:tc>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879113547"/>
                  </a:ext>
                </a:extLst>
              </a:tr>
              <a:tr h="118756">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Keep the ball if you can’t play forward</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extLst>
                  <a:ext uri="{0D108BD9-81ED-4DB2-BD59-A6C34878D82A}">
                    <a16:rowId xmlns:a16="http://schemas.microsoft.com/office/drawing/2014/main" val="1229369254"/>
                  </a:ext>
                </a:extLst>
              </a:tr>
              <a:tr h="223894">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marL="0" marR="0" indent="0" algn="l" defTabSz="914400" eaLnBrk="1" fontAlgn="b" latinLnBrk="0" hangingPunct="1">
                        <a:lnSpc>
                          <a:spcPct val="100000"/>
                        </a:lnSpc>
                        <a:spcBef>
                          <a:spcPts val="0"/>
                        </a:spcBef>
                        <a:spcAft>
                          <a:spcPts val="0"/>
                        </a:spcAft>
                        <a:buClrTx/>
                        <a:buSzTx/>
                        <a:buFontTx/>
                        <a:buNone/>
                        <a:tabLst/>
                        <a:defRPr/>
                      </a:pPr>
                      <a:endParaRPr lang="en-US" sz="12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848393572"/>
                  </a:ext>
                </a:extLst>
              </a:tr>
              <a:tr h="223894">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Zonal defending – don’t cross in front or behind each other</a:t>
                      </a:r>
                    </a:p>
                  </a:txBody>
                  <a:tcPr marL="9525" marR="9525" marT="9525" marB="0" anchor="ctr">
                    <a:lnB w="57150" cap="flat" cmpd="sng" algn="ctr">
                      <a:solidFill>
                        <a:schemeClr val="tx1"/>
                      </a:solidFill>
                      <a:prstDash val="solid"/>
                      <a:round/>
                      <a:headEnd type="none" w="med" len="med"/>
                      <a:tailEnd type="none" w="med" len="med"/>
                    </a:lnB>
                    <a:solidFill>
                      <a:srgbClr val="FFFF00">
                        <a:alpha val="75000"/>
                      </a:srgbClr>
                    </a:solidFill>
                  </a:tcPr>
                </a:tc>
                <a:tc vMerge="1">
                  <a:txBody>
                    <a:bodyPr/>
                    <a:lstStyle/>
                    <a:p>
                      <a:pPr algn="l" fontAlgn="b"/>
                      <a:endParaRPr lang="en-US" sz="1200" b="0" i="0" u="none" strike="noStrike" dirty="0">
                        <a:solidFill>
                          <a:srgbClr val="000000"/>
                        </a:solidFill>
                        <a:effectLst/>
                        <a:latin typeface="Calibri" panose="020F0502020204030204" pitchFamily="34" charset="0"/>
                      </a:endParaRPr>
                    </a:p>
                  </a:txBody>
                  <a:tcPr marL="9525" marR="9525" marT="9525" marB="0" anchor="b">
                    <a:solidFill>
                      <a:srgbClr val="CB9B2C">
                        <a:alpha val="75000"/>
                      </a:srgbClr>
                    </a:solidFill>
                  </a:tcPr>
                </a:tc>
                <a:extLst>
                  <a:ext uri="{0D108BD9-81ED-4DB2-BD59-A6C34878D82A}">
                    <a16:rowId xmlns:a16="http://schemas.microsoft.com/office/drawing/2014/main" val="1956949814"/>
                  </a:ext>
                </a:extLst>
              </a:tr>
              <a:tr h="264798">
                <a:tc rowSpan="7">
                  <a:txBody>
                    <a:bodyPr/>
                    <a:lstStyle/>
                    <a:p>
                      <a:pPr marL="0" indent="0" algn="l">
                        <a:buFontTx/>
                        <a:buNone/>
                      </a:pPr>
                      <a:r>
                        <a:rPr lang="en-US" sz="1400" b="1" dirty="0">
                          <a:solidFill>
                            <a:schemeClr val="tx1"/>
                          </a:solidFill>
                          <a:uFillTx/>
                          <a:latin typeface="+mn-lt"/>
                        </a:rPr>
                        <a:t>Defending 1/3</a:t>
                      </a:r>
                    </a:p>
                  </a:txBody>
                  <a:tcPr marL="45720" marR="45720" marT="22860" marB="22860" anchor="ctr">
                    <a:lnT w="57150" cap="flat" cmpd="sng" algn="ctr">
                      <a:solidFill>
                        <a:schemeClr val="tx1"/>
                      </a:solidFill>
                      <a:prstDash val="solid"/>
                      <a:round/>
                      <a:headEnd type="none" w="med" len="med"/>
                      <a:tailEnd type="none" w="med" len="med"/>
                    </a:lnT>
                    <a:solidFill>
                      <a:srgbClr val="FFFF00">
                        <a:alpha val="75000"/>
                      </a:srgbClr>
                    </a:solidFill>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Pressure the ball immediately </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tc rowSpan="4">
                  <a:txBody>
                    <a:bodyPr/>
                    <a:lstStyle/>
                    <a:p>
                      <a:pPr algn="ctr" fontAlgn="b"/>
                      <a:r>
                        <a:rPr lang="en-US" sz="1400" b="0" i="0" u="none" strike="noStrike" dirty="0">
                          <a:solidFill>
                            <a:srgbClr val="000000"/>
                          </a:solidFill>
                          <a:effectLst/>
                          <a:latin typeface="Calibri" panose="020F0502020204030204" pitchFamily="34" charset="0"/>
                        </a:rPr>
                        <a:t>Play the  first pass to the closest player ahead of the ball</a:t>
                      </a:r>
                    </a:p>
                  </a:txBody>
                  <a:tcPr marL="9525" marR="9525" marT="9525" marB="0" anchor="ctr">
                    <a:lnT w="57150" cap="flat" cmpd="sng" algn="ctr">
                      <a:solidFill>
                        <a:schemeClr val="tx1"/>
                      </a:solidFill>
                      <a:prstDash val="solid"/>
                      <a:round/>
                      <a:headEnd type="none" w="med" len="med"/>
                      <a:tailEnd type="none" w="med" len="med"/>
                    </a:lnT>
                    <a:solidFill>
                      <a:srgbClr val="FFFF00">
                        <a:alpha val="75000"/>
                      </a:srgbClr>
                    </a:solidFill>
                  </a:tcPr>
                </a:tc>
                <a:extLst>
                  <a:ext uri="{0D108BD9-81ED-4DB2-BD59-A6C34878D82A}">
                    <a16:rowId xmlns:a16="http://schemas.microsoft.com/office/drawing/2014/main" val="10003"/>
                  </a:ext>
                </a:extLst>
              </a:tr>
              <a:tr h="264798">
                <a:tc vMerge="1">
                  <a:txBody>
                    <a:bodyPr/>
                    <a:lstStyle/>
                    <a:p>
                      <a:endParaRPr lang="en-US"/>
                    </a:p>
                  </a:txBody>
                  <a:tcPr/>
                </a:tc>
                <a:tc>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Numbers behind the ball immediately, get compact/organize </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162835648"/>
                  </a:ext>
                </a:extLst>
              </a:tr>
              <a:tr h="264799">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cs typeface="Calibri" panose="020F0502020204030204" pitchFamily="34" charset="0"/>
                        </a:rPr>
                        <a:t>Ball orientated press,</a:t>
                      </a: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 Create numbers up around the ball</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2582550781"/>
                  </a:ext>
                </a:extLst>
              </a:tr>
              <a:tr h="72672">
                <a:tc vMerge="1">
                  <a:txBody>
                    <a:bodyPr/>
                    <a:lstStyle/>
                    <a:p>
                      <a:endParaRPr lang="en-US"/>
                    </a:p>
                  </a:txBody>
                  <a:tcPr/>
                </a:tc>
                <a:tc rowSpan="2">
                  <a:txBody>
                    <a:bodyPr/>
                    <a:lstStyle/>
                    <a:p>
                      <a:pPr algn="ctr" fontAlgn="b"/>
                      <a:r>
                        <a:rPr lang="en-US" sz="1400" b="0" i="0" u="none" strike="noStrike" dirty="0">
                          <a:solidFill>
                            <a:srgbClr val="000000"/>
                          </a:solidFill>
                          <a:effectLst/>
                          <a:latin typeface="Calibri" panose="020F0502020204030204" pitchFamily="34" charset="0"/>
                          <a:cs typeface="Calibri" panose="020F0502020204030204" pitchFamily="34" charset="0"/>
                        </a:rPr>
                        <a:t>Force play outside </a:t>
                      </a:r>
                    </a:p>
                  </a:txBody>
                  <a:tcPr marL="9525" marR="9525" marT="9525" marB="0" anchor="ctr">
                    <a:solidFill>
                      <a:srgbClr val="FFFF00">
                        <a:alpha val="75000"/>
                      </a:srgbClr>
                    </a:solidFill>
                  </a:tcPr>
                </a:tc>
                <a:tc vMerge="1">
                  <a:txBody>
                    <a:bodyPr/>
                    <a:lstStyle/>
                    <a:p>
                      <a:pPr marL="0" marR="0" indent="0" algn="l" defTabSz="914400" eaLnBrk="1" fontAlgn="b" latinLnBrk="0" hangingPunct="1">
                        <a:lnSpc>
                          <a:spcPct val="100000"/>
                        </a:lnSpc>
                        <a:spcBef>
                          <a:spcPts val="0"/>
                        </a:spcBef>
                        <a:spcAft>
                          <a:spcPts val="0"/>
                        </a:spcAft>
                        <a:buClrTx/>
                        <a:buSzTx/>
                        <a:buFontTx/>
                        <a:buNone/>
                        <a:tabLst/>
                        <a:defRPr/>
                      </a:pPr>
                      <a:endParaRPr lang="en-US" sz="12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358535128"/>
                  </a:ext>
                </a:extLst>
              </a:tr>
              <a:tr h="192127">
                <a:tc vMerge="1">
                  <a:txBody>
                    <a:bodyPr/>
                    <a:lstStyle/>
                    <a:p>
                      <a:endParaRPr lang="en-US"/>
                    </a:p>
                  </a:txBody>
                  <a:tcPr/>
                </a:tc>
                <a:tc vMerge="1">
                  <a:txBody>
                    <a:bodyPr/>
                    <a:lstStyle/>
                    <a:p>
                      <a:endParaRPr lang="en-US"/>
                    </a:p>
                  </a:txBody>
                  <a:tcPr/>
                </a:tc>
                <a:tc rowSpan="3">
                  <a:txBody>
                    <a:bodyPr/>
                    <a:lstStyle/>
                    <a:p>
                      <a:pPr marL="0" marR="0" indent="0" algn="ctr" defTabSz="91440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Calibri" panose="020F0502020204030204" pitchFamily="34" charset="0"/>
                        </a:rPr>
                        <a:t>Keep the ball if you can’t play forward</a:t>
                      </a:r>
                    </a:p>
                    <a:p>
                      <a:pPr marL="0" marR="0" indent="0" algn="ctr" defTabSz="91440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effectLst/>
                        <a:latin typeface="Calibri" panose="020F0502020204030204" pitchFamily="34" charset="0"/>
                      </a:endParaRPr>
                    </a:p>
                  </a:txBody>
                  <a:tcPr marL="9525" marR="9525" marT="9525" marB="0" anchor="ctr">
                    <a:solidFill>
                      <a:srgbClr val="FFFF00">
                        <a:alpha val="75000"/>
                      </a:srgbClr>
                    </a:solidFill>
                  </a:tcPr>
                </a:tc>
                <a:extLst>
                  <a:ext uri="{0D108BD9-81ED-4DB2-BD59-A6C34878D82A}">
                    <a16:rowId xmlns:a16="http://schemas.microsoft.com/office/drawing/2014/main" val="1233084862"/>
                  </a:ext>
                </a:extLst>
              </a:tr>
              <a:tr h="264799">
                <a:tc vMerge="1">
                  <a:txBody>
                    <a:bodyPr/>
                    <a:lstStyle/>
                    <a:p>
                      <a:endParaRPr lang="en-US"/>
                    </a:p>
                  </a:txBody>
                  <a:tcPr/>
                </a:tc>
                <a:tc>
                  <a:txBody>
                    <a:bodyPr/>
                    <a:lstStyle/>
                    <a:p>
                      <a:pPr marL="0" indent="0" algn="ctr" rtl="0" fontAlgn="base">
                        <a:spcBef>
                          <a:spcPts val="0"/>
                        </a:spcBef>
                        <a:spcAft>
                          <a:spcPts val="0"/>
                        </a:spcAft>
                        <a:buFontTx/>
                        <a:buNone/>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(Defensive) Zonal defending, man to man within the box</a:t>
                      </a:r>
                    </a:p>
                  </a:txBody>
                  <a:tcPr marL="9525" marR="9525" marT="9525" marB="0" anchor="ctr">
                    <a:solidFill>
                      <a:srgbClr val="FFFF00">
                        <a:alpha val="75000"/>
                      </a:srgbClr>
                    </a:solidFill>
                  </a:tcPr>
                </a:tc>
                <a:tc vMerge="1">
                  <a:txBody>
                    <a:bodyPr/>
                    <a:lstStyle/>
                    <a:p>
                      <a:pPr algn="l" fontAlgn="b"/>
                      <a:endParaRPr lang="en-US" sz="900" b="0" i="0" u="none" strike="noStrike">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1616524127"/>
                  </a:ext>
                </a:extLst>
              </a:tr>
              <a:tr h="438219">
                <a:tc vMerge="1">
                  <a:txBody>
                    <a:bodyPr/>
                    <a:lstStyle/>
                    <a:p>
                      <a:endParaRPr lang="en-US"/>
                    </a:p>
                  </a:txBody>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Calibri" panose="020F0502020204030204" pitchFamily="34" charset="0"/>
                          <a:ea typeface="+mn-ea"/>
                          <a:cs typeface="Calibri" panose="020F0502020204030204" pitchFamily="34" charset="0"/>
                        </a:rPr>
                        <a:t>When first pressure gets broken or no pressure, drop deep (edge of the D lowest point of confrontation) and get organized/compact.</a:t>
                      </a:r>
                    </a:p>
                  </a:txBody>
                  <a:tcPr marL="9525" marR="9525" marT="9525" marB="0" anchor="ctr">
                    <a:solidFill>
                      <a:srgbClr val="FFFF00">
                        <a:alpha val="75000"/>
                      </a:srgbClr>
                    </a:solidFill>
                  </a:tcPr>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9525" marR="9525" marT="9525" marB="0" anchor="ctr">
                    <a:solidFill>
                      <a:srgbClr val="CB9B2C">
                        <a:alpha val="75000"/>
                      </a:srgbClr>
                    </a:solidFill>
                  </a:tcPr>
                </a:tc>
                <a:extLst>
                  <a:ext uri="{0D108BD9-81ED-4DB2-BD59-A6C34878D82A}">
                    <a16:rowId xmlns:a16="http://schemas.microsoft.com/office/drawing/2014/main" val="3658537519"/>
                  </a:ext>
                </a:extLst>
              </a:tr>
            </a:tbl>
          </a:graphicData>
        </a:graphic>
      </p:graphicFrame>
      <p:pic>
        <p:nvPicPr>
          <p:cNvPr id="6" name="Picture 5">
            <a:extLst>
              <a:ext uri="{FF2B5EF4-FFF2-40B4-BE49-F238E27FC236}">
                <a16:creationId xmlns:a16="http://schemas.microsoft.com/office/drawing/2014/main" id="{EF2067EE-9881-9D47-8F33-B4F85BAD65C3}"/>
              </a:ext>
            </a:extLst>
          </p:cNvPr>
          <p:cNvPicPr>
            <a:picLocks noChangeAspect="1"/>
          </p:cNvPicPr>
          <p:nvPr/>
        </p:nvPicPr>
        <p:blipFill>
          <a:blip r:embed="rId3"/>
          <a:stretch>
            <a:fillRect/>
          </a:stretch>
        </p:blipFill>
        <p:spPr>
          <a:xfrm>
            <a:off x="11474376" y="6167416"/>
            <a:ext cx="563825" cy="563825"/>
          </a:xfrm>
          <a:prstGeom prst="rect">
            <a:avLst/>
          </a:prstGeom>
        </p:spPr>
      </p:pic>
      <p:sp>
        <p:nvSpPr>
          <p:cNvPr id="8" name="Shape 238">
            <a:extLst>
              <a:ext uri="{FF2B5EF4-FFF2-40B4-BE49-F238E27FC236}">
                <a16:creationId xmlns:a16="http://schemas.microsoft.com/office/drawing/2014/main" id="{5007E554-9469-B643-901C-E838F602265F}"/>
              </a:ext>
            </a:extLst>
          </p:cNvPr>
          <p:cNvSpPr txBox="1">
            <a:spLocks/>
          </p:cNvSpPr>
          <p:nvPr/>
        </p:nvSpPr>
        <p:spPr>
          <a:xfrm>
            <a:off x="1626196" y="219919"/>
            <a:ext cx="8890895" cy="355482"/>
          </a:xfrm>
          <a:prstGeom prst="rect">
            <a:avLst/>
          </a:prstGeom>
        </p:spPr>
        <p:txBody>
          <a:bodyPr vert="horz" wrap="non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900" b="1" dirty="0">
                <a:solidFill>
                  <a:srgbClr val="FFFF00"/>
                </a:solidFill>
              </a:rPr>
              <a:t>U-17 &amp; U-18 EXECUTE THE KEY QUALITIES SUCCESSFULLY IN ORDER TO WIN THE GAME </a:t>
            </a:r>
          </a:p>
        </p:txBody>
      </p:sp>
      <p:sp>
        <p:nvSpPr>
          <p:cNvPr id="9" name="TextBox 8">
            <a:extLst>
              <a:ext uri="{FF2B5EF4-FFF2-40B4-BE49-F238E27FC236}">
                <a16:creationId xmlns:a16="http://schemas.microsoft.com/office/drawing/2014/main" id="{0E3199B6-24C1-F340-B757-58F350D09BB2}"/>
              </a:ext>
            </a:extLst>
          </p:cNvPr>
          <p:cNvSpPr txBox="1">
            <a:spLocks/>
          </p:cNvSpPr>
          <p:nvPr/>
        </p:nvSpPr>
        <p:spPr>
          <a:xfrm>
            <a:off x="1116472" y="537049"/>
            <a:ext cx="9910342" cy="366767"/>
          </a:xfrm>
          <a:prstGeom prst="rect">
            <a:avLst/>
          </a:prstGeom>
          <a:noFill/>
          <a:ln w="12700" cap="flat">
            <a:noFill/>
            <a:miter lim="400000"/>
          </a:ln>
          <a:effectLst/>
        </p:spPr>
        <p:style>
          <a:lnRef idx="0">
            <a:srgbClr val="000000"/>
          </a:lnRef>
          <a:fillRef idx="0">
            <a:srgbClr val="000000"/>
          </a:fillRef>
          <a:effectRef idx="0">
            <a:srgbClr val="000000"/>
          </a:effectRef>
          <a:fontRef idx="none"/>
        </p:style>
        <p:txBody>
          <a:bodyPr rot="0" spcFirstLastPara="1" vertOverflow="overflow" horzOverflow="overflow" vert="horz" wrap="none" lIns="25400" tIns="25400" rIns="25400" bIns="25400" numCol="1" rtlCol="0" anchor="t">
            <a:spAutoFit/>
          </a:bodyPr>
          <a:lstStyle/>
          <a:p>
            <a:pPr>
              <a:spcAft>
                <a:spcPts val="300"/>
              </a:spcAft>
            </a:pPr>
            <a:r>
              <a:rPr lang="en-US" b="1" dirty="0">
                <a:solidFill>
                  <a:schemeClr val="bg1"/>
                </a:solidFill>
              </a:rPr>
              <a:t>Development of the specific qualities of a player to be the  best player in their position to win the game</a:t>
            </a:r>
          </a:p>
        </p:txBody>
      </p:sp>
    </p:spTree>
    <p:extLst>
      <p:ext uri="{BB962C8B-B14F-4D97-AF65-F5344CB8AC3E}">
        <p14:creationId xmlns:p14="http://schemas.microsoft.com/office/powerpoint/2010/main" val="2718302822"/>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22"/>
          <p:cNvSpPr txBox="1">
            <a:spLocks/>
          </p:cNvSpPr>
          <p:nvPr/>
        </p:nvSpPr>
        <p:spPr>
          <a:xfrm>
            <a:off x="1038365" y="4911436"/>
            <a:ext cx="10137058" cy="1569660"/>
          </a:xfrm>
          <a:prstGeom prst="rect">
            <a:avLst/>
          </a:prstGeom>
        </p:spPr>
        <p:txBody>
          <a:bodyPr wrap="square" anchor="t" anchorCtr="0">
            <a:spAutoFit/>
          </a:bodyPr>
          <a:lstStyle>
            <a:lvl1pPr marL="0">
              <a:defRPr>
                <a:uFillTx/>
                <a:latin typeface="+mn-lt"/>
                <a:ea typeface="+mn-ea"/>
                <a:cs typeface="+mn-cs"/>
              </a:defRPr>
            </a:lvl1pPr>
            <a:lvl2pPr marL="457200">
              <a:defRPr>
                <a:uFillTx/>
                <a:latin typeface="+mn-lt"/>
                <a:ea typeface="+mn-ea"/>
                <a:cs typeface="+mn-cs"/>
              </a:defRPr>
            </a:lvl2pPr>
            <a:lvl3pPr marL="914400">
              <a:defRPr>
                <a:uFillTx/>
                <a:latin typeface="+mn-lt"/>
                <a:ea typeface="+mn-ea"/>
                <a:cs typeface="+mn-cs"/>
              </a:defRPr>
            </a:lvl3pPr>
            <a:lvl4pPr marL="1371600">
              <a:defRPr>
                <a:uFillTx/>
                <a:latin typeface="+mn-lt"/>
                <a:ea typeface="+mn-ea"/>
                <a:cs typeface="+mn-cs"/>
              </a:defRPr>
            </a:lvl4pPr>
            <a:lvl5pPr marL="1828800">
              <a:defRPr>
                <a:uFillTx/>
                <a:latin typeface="+mn-lt"/>
                <a:ea typeface="+mn-ea"/>
                <a:cs typeface="+mn-cs"/>
              </a:defRPr>
            </a:lvl5pPr>
            <a:lvl6pPr marL="2286000">
              <a:defRPr>
                <a:uFillTx/>
                <a:latin typeface="+mn-lt"/>
                <a:ea typeface="+mn-ea"/>
                <a:cs typeface="+mn-cs"/>
              </a:defRPr>
            </a:lvl6pPr>
            <a:lvl7pPr marL="2743200">
              <a:defRPr>
                <a:uFillTx/>
                <a:latin typeface="+mn-lt"/>
                <a:ea typeface="+mn-ea"/>
                <a:cs typeface="+mn-cs"/>
              </a:defRPr>
            </a:lvl7pPr>
            <a:lvl8pPr marL="3200400">
              <a:defRPr>
                <a:uFillTx/>
                <a:latin typeface="+mn-lt"/>
                <a:ea typeface="+mn-ea"/>
                <a:cs typeface="+mn-cs"/>
              </a:defRPr>
            </a:lvl8pPr>
            <a:lvl9pPr marL="3657600">
              <a:defRPr>
                <a:uFillTx/>
                <a:latin typeface="+mn-lt"/>
                <a:ea typeface="+mn-ea"/>
                <a:cs typeface="+mn-cs"/>
              </a:defRPr>
            </a:lvl9pPr>
          </a:lstStyle>
          <a:p>
            <a:pPr algn="ctr"/>
            <a:r>
              <a:rPr lang="en-US" sz="3200" b="1" kern="0" dirty="0">
                <a:solidFill>
                  <a:schemeClr val="bg1"/>
                </a:solidFill>
              </a:rPr>
              <a:t>Positional Roles and Responsibilities &amp; Key Qualities</a:t>
            </a:r>
          </a:p>
          <a:p>
            <a:pPr algn="ctr"/>
            <a:endParaRPr lang="en-US" sz="3200" b="1" kern="0" dirty="0">
              <a:solidFill>
                <a:schemeClr val="bg1"/>
              </a:solidFill>
            </a:endParaRPr>
          </a:p>
          <a:p>
            <a:pPr algn="ctr"/>
            <a:r>
              <a:rPr lang="en-US" sz="3200" b="1" kern="0" dirty="0">
                <a:solidFill>
                  <a:schemeClr val="bg1"/>
                </a:solidFill>
              </a:rPr>
              <a:t>In all moments of the game</a:t>
            </a:r>
          </a:p>
        </p:txBody>
      </p:sp>
      <p:pic>
        <p:nvPicPr>
          <p:cNvPr id="5" name="Picture 4">
            <a:extLst>
              <a:ext uri="{FF2B5EF4-FFF2-40B4-BE49-F238E27FC236}">
                <a16:creationId xmlns:a16="http://schemas.microsoft.com/office/drawing/2014/main" id="{133218BD-1649-7045-B68F-21B14564848B}"/>
              </a:ext>
            </a:extLst>
          </p:cNvPr>
          <p:cNvPicPr>
            <a:picLocks noChangeAspect="1"/>
          </p:cNvPicPr>
          <p:nvPr/>
        </p:nvPicPr>
        <p:blipFill>
          <a:blip r:embed="rId2"/>
          <a:stretch>
            <a:fillRect/>
          </a:stretch>
        </p:blipFill>
        <p:spPr>
          <a:xfrm>
            <a:off x="3614341" y="237459"/>
            <a:ext cx="4517421" cy="4517421"/>
          </a:xfrm>
          <a:prstGeom prst="rect">
            <a:avLst/>
          </a:prstGeom>
        </p:spPr>
      </p:pic>
    </p:spTree>
    <p:extLst>
      <p:ext uri="{BB962C8B-B14F-4D97-AF65-F5344CB8AC3E}">
        <p14:creationId xmlns:p14="http://schemas.microsoft.com/office/powerpoint/2010/main" val="3928757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3" name="TextBox 2"/>
          <p:cNvSpPr txBox="1">
            <a:spLocks/>
          </p:cNvSpPr>
          <p:nvPr/>
        </p:nvSpPr>
        <p:spPr>
          <a:xfrm>
            <a:off x="1479475" y="434450"/>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478944" y="1769205"/>
            <a:ext cx="10065961" cy="3477875"/>
          </a:xfrm>
          <a:prstGeom prst="rect">
            <a:avLst/>
          </a:prstGeom>
          <a:noFill/>
        </p:spPr>
        <p:txBody>
          <a:bodyPr wrap="none" rtlCol="0">
            <a:spAutoFit/>
          </a:bodyPr>
          <a:lstStyle/>
          <a:p>
            <a:r>
              <a:rPr lang="en-US" sz="6000" dirty="0">
                <a:solidFill>
                  <a:schemeClr val="bg1"/>
                </a:solidFill>
                <a:uFillTx/>
              </a:rPr>
              <a:t>#1 Goalkeeper</a:t>
            </a:r>
          </a:p>
          <a:p>
            <a:pPr marL="857250" indent="-857250">
              <a:buFont typeface="Arial" panose="020B0604020202020204" pitchFamily="34" charset="0"/>
              <a:buChar char="•"/>
            </a:pPr>
            <a:r>
              <a:rPr lang="en-US" sz="3200" dirty="0">
                <a:solidFill>
                  <a:schemeClr val="bg1"/>
                </a:solidFill>
                <a:uFillTx/>
              </a:rPr>
              <a:t>Confident</a:t>
            </a:r>
          </a:p>
          <a:p>
            <a:pPr marL="857250" indent="-857250">
              <a:buFont typeface="Arial" panose="020B0604020202020204" pitchFamily="34" charset="0"/>
              <a:buChar char="•"/>
            </a:pPr>
            <a:r>
              <a:rPr lang="en-US" sz="3200" dirty="0">
                <a:solidFill>
                  <a:schemeClr val="bg1"/>
                </a:solidFill>
              </a:rPr>
              <a:t>Athletic</a:t>
            </a:r>
            <a:endParaRPr lang="en-US" sz="3200" dirty="0">
              <a:solidFill>
                <a:schemeClr val="bg1"/>
              </a:solidFill>
              <a:uFillTx/>
            </a:endParaRPr>
          </a:p>
          <a:p>
            <a:pPr marL="857250" indent="-857250">
              <a:buFont typeface="Arial" panose="020B0604020202020204" pitchFamily="34" charset="0"/>
              <a:buChar char="•"/>
            </a:pPr>
            <a:r>
              <a:rPr lang="en-US" sz="3200" dirty="0">
                <a:solidFill>
                  <a:schemeClr val="bg1"/>
                </a:solidFill>
                <a:uFillTx/>
              </a:rPr>
              <a:t>Decisive</a:t>
            </a:r>
          </a:p>
          <a:p>
            <a:pPr marL="857250" indent="-857250">
              <a:buFont typeface="Arial" panose="020B0604020202020204" pitchFamily="34" charset="0"/>
              <a:buChar char="•"/>
            </a:pPr>
            <a:r>
              <a:rPr lang="en-US" sz="3200" dirty="0">
                <a:solidFill>
                  <a:schemeClr val="bg1"/>
                </a:solidFill>
                <a:uFillTx/>
              </a:rPr>
              <a:t>Coach on the field</a:t>
            </a:r>
          </a:p>
          <a:p>
            <a:pPr marL="857250" indent="-857250">
              <a:buFont typeface="Arial" panose="020B0604020202020204" pitchFamily="34" charset="0"/>
              <a:buChar char="•"/>
            </a:pPr>
            <a:r>
              <a:rPr lang="en-US" sz="3200" dirty="0">
                <a:solidFill>
                  <a:schemeClr val="bg1"/>
                </a:solidFill>
                <a:uFillTx/>
              </a:rPr>
              <a:t>Accurate, Confident Passing (short and long distances)</a:t>
            </a:r>
          </a:p>
        </p:txBody>
      </p:sp>
      <p:pic>
        <p:nvPicPr>
          <p:cNvPr id="6" name="Picture 5">
            <a:extLst>
              <a:ext uri="{FF2B5EF4-FFF2-40B4-BE49-F238E27FC236}">
                <a16:creationId xmlns:a16="http://schemas.microsoft.com/office/drawing/2014/main" id="{A6317515-E950-5F44-B83E-57232004DF4E}"/>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414372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4" name="TextBox 3"/>
          <p:cNvSpPr txBox="1"/>
          <p:nvPr/>
        </p:nvSpPr>
        <p:spPr>
          <a:xfrm>
            <a:off x="2669822" y="169335"/>
            <a:ext cx="6852356" cy="190821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to support for back pass if ball cannot be played forward</a:t>
            </a:r>
          </a:p>
          <a:p>
            <a:pPr marL="285750" indent="-285750">
              <a:buFont typeface="Arial" panose="020B0604020202020204" pitchFamily="34" charset="0"/>
              <a:buChar char="•"/>
            </a:pPr>
            <a:r>
              <a:rPr lang="en-US" sz="1200" dirty="0">
                <a:solidFill>
                  <a:schemeClr val="bg1"/>
                </a:solidFill>
              </a:rPr>
              <a:t>Pass forward or wide to spread out and/or begin build-up</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support for back pass if ball cannot be played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Push up the defensive line and organize (coach) teammates to position themselves to prevent counter attacks</a:t>
            </a:r>
          </a:p>
        </p:txBody>
      </p:sp>
      <p:sp>
        <p:nvSpPr>
          <p:cNvPr id="7" name="TextBox 6"/>
          <p:cNvSpPr txBox="1"/>
          <p:nvPr/>
        </p:nvSpPr>
        <p:spPr>
          <a:xfrm>
            <a:off x="2669822" y="4755387"/>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Organize (coach) teammates when to switch from zonal marking to player tracking (organization on set pieces)</a:t>
            </a:r>
          </a:p>
          <a:p>
            <a:pPr marL="285750" indent="-285750">
              <a:buFont typeface="Arial" panose="020B0604020202020204" pitchFamily="34" charset="0"/>
              <a:buChar char="•"/>
            </a:pPr>
            <a:r>
              <a:rPr lang="en-US" sz="1200" dirty="0">
                <a:solidFill>
                  <a:schemeClr val="bg1"/>
                </a:solidFill>
              </a:rPr>
              <a:t>Anticipate crosses and shots and position to stop or regain the ball</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provide cover to anticipate and intercept long balls behind defensive line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to provide cover to anticipate and intercept long balls behind defensive </a:t>
            </a:r>
            <a:r>
              <a:rPr lang="en-US" sz="1200" dirty="0">
                <a:solidFill>
                  <a:sysClr val="windowText" lastClr="000000"/>
                </a:solidFill>
              </a:rPr>
              <a:t>line</a:t>
            </a:r>
          </a:p>
        </p:txBody>
      </p:sp>
      <p:sp>
        <p:nvSpPr>
          <p:cNvPr id="8" name="TextBox 7"/>
          <p:cNvSpPr txBox="1"/>
          <p:nvPr/>
        </p:nvSpPr>
        <p:spPr>
          <a:xfrm>
            <a:off x="82252" y="2505671"/>
            <a:ext cx="5358993"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Pass forward (long) quickly to exploit the opponent and create 1v1</a:t>
            </a:r>
          </a:p>
          <a:p>
            <a:pPr marL="285750" indent="-285750">
              <a:buFont typeface="Arial" panose="020B0604020202020204" pitchFamily="34" charset="0"/>
              <a:buChar char="•"/>
            </a:pPr>
            <a:r>
              <a:rPr lang="en-US" sz="1200" dirty="0">
                <a:solidFill>
                  <a:schemeClr val="bg1"/>
                </a:solidFill>
              </a:rPr>
              <a:t>Keep the ball when you cannot play forward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Push the defensive line up</a:t>
            </a:r>
          </a:p>
          <a:p>
            <a:pPr marL="285750" indent="-285750">
              <a:buFont typeface="Arial" panose="020B0604020202020204" pitchFamily="34" charset="0"/>
              <a:buChar char="•"/>
            </a:pPr>
            <a:r>
              <a:rPr lang="en-US" sz="1200" dirty="0">
                <a:solidFill>
                  <a:schemeClr val="bg1"/>
                </a:solidFill>
              </a:rPr>
              <a:t>Give support for back pass if ball cannot be played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Organize (coach) teammates to position themselves to prevent counter attacks</a:t>
            </a:r>
          </a:p>
        </p:txBody>
      </p:sp>
      <p:sp>
        <p:nvSpPr>
          <p:cNvPr id="9" name="TextBox 8"/>
          <p:cNvSpPr txBox="1"/>
          <p:nvPr/>
        </p:nvSpPr>
        <p:spPr>
          <a:xfrm>
            <a:off x="6755595" y="2690336"/>
            <a:ext cx="5486400" cy="1477328"/>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Stay connected to the back line – organize (coach) teammates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Organize (coach) teammates – balanced and compact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behind defensive line to take preventative defensive action</a:t>
            </a:r>
          </a:p>
        </p:txBody>
      </p:sp>
      <p:sp>
        <p:nvSpPr>
          <p:cNvPr id="6" name="TextBox 5"/>
          <p:cNvSpPr txBox="1"/>
          <p:nvPr/>
        </p:nvSpPr>
        <p:spPr>
          <a:xfrm>
            <a:off x="106516" y="123110"/>
            <a:ext cx="2020529" cy="923330"/>
          </a:xfrm>
          <a:prstGeom prst="rect">
            <a:avLst/>
          </a:prstGeom>
          <a:solidFill>
            <a:srgbClr val="FFFF00"/>
          </a:solidFill>
        </p:spPr>
        <p:txBody>
          <a:bodyPr wrap="square" rtlCol="0">
            <a:spAutoFit/>
          </a:bodyPr>
          <a:lstStyle/>
          <a:p>
            <a:r>
              <a:rPr lang="en-US" dirty="0"/>
              <a:t>NO. 1</a:t>
            </a:r>
          </a:p>
          <a:p>
            <a:r>
              <a:rPr lang="en-US" dirty="0"/>
              <a:t>Goalkeeper</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pic>
        <p:nvPicPr>
          <p:cNvPr id="24" name="Picture 23">
            <a:extLst>
              <a:ext uri="{FF2B5EF4-FFF2-40B4-BE49-F238E27FC236}">
                <a16:creationId xmlns:a16="http://schemas.microsoft.com/office/drawing/2014/main" id="{164AF6A8-81A5-B84E-9C73-7CBF4EBAFD91}"/>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775352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2" y="10456"/>
            <a:ext cx="3316075" cy="1077218"/>
          </a:xfrm>
          <a:prstGeom prst="rect">
            <a:avLst/>
          </a:prstGeom>
          <a:noFill/>
        </p:spPr>
        <p:txBody>
          <a:bodyPr wrap="square" rtlCol="0">
            <a:spAutoFit/>
          </a:bodyPr>
          <a:lstStyle/>
          <a:p>
            <a:pPr algn="ctr"/>
            <a:r>
              <a:rPr lang="en-US" sz="1600" b="1" u="sng" dirty="0">
                <a:solidFill>
                  <a:schemeClr val="bg1"/>
                </a:solidFill>
                <a:uFillTx/>
              </a:rPr>
              <a:t>Principles and Player Qualities: </a:t>
            </a:r>
          </a:p>
          <a:p>
            <a:pPr marL="457200" indent="-457200">
              <a:buChar char="•"/>
            </a:pPr>
            <a:r>
              <a:rPr lang="en-US" sz="1600" dirty="0">
                <a:solidFill>
                  <a:schemeClr val="bg1"/>
                </a:solidFill>
                <a:uFillTx/>
              </a:rPr>
              <a:t>Disorganize opponent </a:t>
            </a:r>
          </a:p>
          <a:p>
            <a:pPr marL="457200" indent="-457200">
              <a:buChar char="•"/>
            </a:pPr>
            <a:r>
              <a:rPr lang="en-US" sz="1600" dirty="0">
                <a:solidFill>
                  <a:schemeClr val="bg1"/>
                </a:solidFill>
                <a:uFillTx/>
              </a:rPr>
              <a:t>Variety in distribution </a:t>
            </a:r>
          </a:p>
          <a:p>
            <a:pPr marL="457200" indent="-457200">
              <a:buChar char="•"/>
            </a:pPr>
            <a:r>
              <a:rPr lang="en-US" sz="1600" dirty="0">
                <a:solidFill>
                  <a:schemeClr val="bg1"/>
                </a:solidFill>
                <a:uFillTx/>
              </a:rPr>
              <a:t>Confidence in distribution </a:t>
            </a:r>
          </a:p>
        </p:txBody>
      </p:sp>
      <p:sp>
        <p:nvSpPr>
          <p:cNvPr id="5" name="TextBox 4"/>
          <p:cNvSpPr txBox="1">
            <a:spLocks/>
          </p:cNvSpPr>
          <p:nvPr/>
        </p:nvSpPr>
        <p:spPr>
          <a:xfrm>
            <a:off x="4892881" y="0"/>
            <a:ext cx="3383280" cy="1569660"/>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600" dirty="0">
                <a:solidFill>
                  <a:schemeClr val="bg1"/>
                </a:solidFill>
                <a:uFillTx/>
              </a:rPr>
              <a:t>Disorganize opponent </a:t>
            </a:r>
          </a:p>
          <a:p>
            <a:pPr marL="457200" indent="-457200">
              <a:buChar char="•"/>
            </a:pPr>
            <a:r>
              <a:rPr lang="en-US" sz="1600" dirty="0">
                <a:solidFill>
                  <a:schemeClr val="bg1"/>
                </a:solidFill>
                <a:uFillTx/>
              </a:rPr>
              <a:t>Available for backward pass </a:t>
            </a:r>
          </a:p>
          <a:p>
            <a:pPr marL="457200" indent="-457200">
              <a:buChar char="•"/>
            </a:pPr>
            <a:r>
              <a:rPr lang="en-US" sz="1600" dirty="0">
                <a:solidFill>
                  <a:schemeClr val="bg1"/>
                </a:solidFill>
                <a:uFillTx/>
              </a:rPr>
              <a:t>Push up with the team</a:t>
            </a:r>
          </a:p>
          <a:p>
            <a:pPr marL="457200" indent="-457200">
              <a:buChar char="•"/>
            </a:pPr>
            <a:r>
              <a:rPr lang="en-US" sz="1600" dirty="0">
                <a:solidFill>
                  <a:schemeClr val="bg1"/>
                </a:solidFill>
                <a:uFillTx/>
              </a:rPr>
              <a:t>Awareness of field position</a:t>
            </a:r>
          </a:p>
        </p:txBody>
      </p:sp>
      <p:sp>
        <p:nvSpPr>
          <p:cNvPr id="6" name="TextBox 5"/>
          <p:cNvSpPr txBox="1">
            <a:spLocks/>
          </p:cNvSpPr>
          <p:nvPr/>
        </p:nvSpPr>
        <p:spPr>
          <a:xfrm>
            <a:off x="8547850" y="0"/>
            <a:ext cx="3383280" cy="830997"/>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600" dirty="0">
                <a:solidFill>
                  <a:schemeClr val="bg1"/>
                </a:solidFill>
                <a:uFillTx/>
              </a:rPr>
              <a:t>Push up with the team</a:t>
            </a:r>
          </a:p>
          <a:p>
            <a:pPr marL="457200" indent="-457200">
              <a:buChar char="•"/>
            </a:pPr>
            <a:r>
              <a:rPr lang="en-US" sz="1600" dirty="0">
                <a:solidFill>
                  <a:schemeClr val="bg1"/>
                </a:solidFill>
                <a:uFillTx/>
              </a:rPr>
              <a:t>Awareness of field position</a:t>
            </a:r>
          </a:p>
        </p:txBody>
      </p:sp>
      <p:grpSp>
        <p:nvGrpSpPr>
          <p:cNvPr id="42" name="Group 41"/>
          <p:cNvGrpSpPr/>
          <p:nvPr/>
        </p:nvGrpSpPr>
        <p:grpSpPr>
          <a:xfrm>
            <a:off x="1108143" y="2103120"/>
            <a:ext cx="3383280" cy="4754880"/>
            <a:chOff x="1200503" y="2103120"/>
            <a:chExt cx="3383280" cy="4754880"/>
          </a:xfrm>
        </p:grpSpPr>
        <p:grpSp>
          <p:nvGrpSpPr>
            <p:cNvPr id="33" name="Group 32"/>
            <p:cNvGrpSpPr/>
            <p:nvPr/>
          </p:nvGrpSpPr>
          <p:grpSpPr>
            <a:xfrm>
              <a:off x="1200503" y="2103120"/>
              <a:ext cx="3383280" cy="4754880"/>
              <a:chOff x="1200503" y="2103120"/>
              <a:chExt cx="3383280" cy="4754880"/>
            </a:xfrm>
          </p:grpSpPr>
          <p:pic>
            <p:nvPicPr>
              <p:cNvPr id="34" name="Picture 4"/>
              <p:cNvPicPr>
                <a:picLocks noChangeArrowheads="1"/>
              </p:cNvPicPr>
              <p:nvPr/>
            </p:nvPicPr>
            <p:blipFill rotWithShape="1">
              <a:blip r:embed="rId2" cstate="email"/>
              <a:srcRect/>
              <a:stretch/>
            </p:blipFill>
            <p:spPr bwMode="auto">
              <a:xfrm>
                <a:off x="1200503" y="2103120"/>
                <a:ext cx="3383280" cy="4754880"/>
              </a:xfrm>
              <a:prstGeom prst="rect">
                <a:avLst/>
              </a:prstGeom>
              <a:noFill/>
              <a:ln>
                <a:noFill/>
              </a:ln>
            </p:spPr>
          </p:pic>
          <p:sp>
            <p:nvSpPr>
              <p:cNvPr id="35" name="Isosceles Triangle 34"/>
              <p:cNvSpPr>
                <a:spLocks noChangeAspect="1"/>
              </p:cNvSpPr>
              <p:nvPr/>
            </p:nvSpPr>
            <p:spPr>
              <a:xfrm>
                <a:off x="2791334" y="644669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36" name="Straight Arrow Connector 35"/>
              <p:cNvCxnSpPr/>
              <p:nvPr/>
            </p:nvCxnSpPr>
            <p:spPr>
              <a:xfrm flipH="1" flipV="1">
                <a:off x="1718802" y="5398207"/>
                <a:ext cx="1080563" cy="10841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1709688" y="6239721"/>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cxnSp>
          <p:nvCxnSpPr>
            <p:cNvPr id="41" name="Straight Arrow Connector 40"/>
            <p:cNvCxnSpPr/>
            <p:nvPr/>
          </p:nvCxnSpPr>
          <p:spPr>
            <a:xfrm flipV="1">
              <a:off x="2990694" y="6239721"/>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2964295" y="5398207"/>
              <a:ext cx="1080563" cy="10841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2934010" y="4703883"/>
              <a:ext cx="586334" cy="172431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flipV="1">
              <a:off x="2254480" y="4694767"/>
              <a:ext cx="586334" cy="172431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grpSp>
        <p:nvGrpSpPr>
          <p:cNvPr id="40" name="Group 39"/>
          <p:cNvGrpSpPr/>
          <p:nvPr/>
        </p:nvGrpSpPr>
        <p:grpSpPr>
          <a:xfrm>
            <a:off x="4892881" y="2103120"/>
            <a:ext cx="3383280" cy="4754880"/>
            <a:chOff x="4985241" y="2103120"/>
            <a:chExt cx="3383280" cy="4754880"/>
          </a:xfrm>
        </p:grpSpPr>
        <p:pic>
          <p:nvPicPr>
            <p:cNvPr id="47" name="Picture 4"/>
            <p:cNvPicPr>
              <a:picLocks noChangeArrowheads="1"/>
            </p:cNvPicPr>
            <p:nvPr/>
          </p:nvPicPr>
          <p:blipFill rotWithShape="1">
            <a:blip r:embed="rId2" cstate="email"/>
            <a:srcRect/>
            <a:stretch/>
          </p:blipFill>
          <p:spPr bwMode="auto">
            <a:xfrm>
              <a:off x="4985241" y="2103120"/>
              <a:ext cx="3383280" cy="4754880"/>
            </a:xfrm>
            <a:prstGeom prst="rect">
              <a:avLst/>
            </a:prstGeom>
            <a:noFill/>
            <a:ln>
              <a:noFill/>
            </a:ln>
          </p:spPr>
        </p:pic>
        <p:sp>
          <p:nvSpPr>
            <p:cNvPr id="48" name="Isosceles Triangle 47"/>
            <p:cNvSpPr>
              <a:spLocks noChangeAspect="1"/>
            </p:cNvSpPr>
            <p:nvPr/>
          </p:nvSpPr>
          <p:spPr>
            <a:xfrm>
              <a:off x="6581013" y="614779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49" name="Straight Arrow Connector 48"/>
            <p:cNvCxnSpPr/>
            <p:nvPr/>
          </p:nvCxnSpPr>
          <p:spPr>
            <a:xfrm flipV="1">
              <a:off x="6683476" y="5894941"/>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6783097" y="5839091"/>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H="1" flipV="1">
              <a:off x="5521714" y="5843423"/>
              <a:ext cx="1059299" cy="29673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53" name="Isosceles Triangle 52"/>
          <p:cNvSpPr>
            <a:spLocks noChangeAspect="1"/>
          </p:cNvSpPr>
          <p:nvPr/>
        </p:nvSpPr>
        <p:spPr>
          <a:xfrm>
            <a:off x="10133419" y="579091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54" name="Straight Arrow Connector 53"/>
          <p:cNvCxnSpPr/>
          <p:nvPr/>
        </p:nvCxnSpPr>
        <p:spPr>
          <a:xfrm flipV="1">
            <a:off x="10229276" y="5538066"/>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37" name="TextBox 36"/>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#1</a:t>
            </a:r>
          </a:p>
          <a:p>
            <a:pPr algn="ctr"/>
            <a:r>
              <a:rPr lang="en-US" sz="2400" dirty="0">
                <a:solidFill>
                  <a:srgbClr val="CC9900"/>
                </a:solidFill>
                <a:uFillTx/>
              </a:rPr>
              <a:t>(GK)</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1815551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23827" y="5229"/>
            <a:ext cx="338328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Recover ball </a:t>
            </a:r>
          </a:p>
          <a:p>
            <a:pPr marL="457200" indent="-457200">
              <a:buChar char="•"/>
            </a:pPr>
            <a:r>
              <a:rPr lang="en-US" sz="1400" dirty="0">
                <a:solidFill>
                  <a:schemeClr val="bg1"/>
                </a:solidFill>
                <a:uFillTx/>
              </a:rPr>
              <a:t>Secure hands when catching </a:t>
            </a:r>
          </a:p>
          <a:p>
            <a:pPr marL="457200" indent="-457200">
              <a:buChar char="•"/>
            </a:pPr>
            <a:r>
              <a:rPr lang="en-US" sz="1400" dirty="0">
                <a:solidFill>
                  <a:schemeClr val="bg1"/>
                </a:solidFill>
                <a:uFillTx/>
              </a:rPr>
              <a:t>Command the box</a:t>
            </a:r>
          </a:p>
          <a:p>
            <a:pPr marL="457200" indent="-457200">
              <a:buChar char="•"/>
            </a:pPr>
            <a:r>
              <a:rPr lang="en-US" sz="1400" dirty="0">
                <a:solidFill>
                  <a:schemeClr val="bg1"/>
                </a:solidFill>
                <a:uFillTx/>
              </a:rPr>
              <a:t>Aggression and confidence </a:t>
            </a:r>
          </a:p>
          <a:p>
            <a:pPr marL="457200" indent="-457200">
              <a:buChar char="•"/>
            </a:pPr>
            <a:r>
              <a:rPr lang="en-US" sz="1400" dirty="0">
                <a:solidFill>
                  <a:schemeClr val="bg1"/>
                </a:solidFill>
                <a:uFillTx/>
              </a:rPr>
              <a:t>Read opponent’s body shape </a:t>
            </a:r>
          </a:p>
          <a:p>
            <a:endParaRPr lang="en-US" sz="1400" dirty="0">
              <a:solidFill>
                <a:schemeClr val="bg1"/>
              </a:solidFill>
              <a:uFillTx/>
            </a:endParaRPr>
          </a:p>
        </p:txBody>
      </p:sp>
      <p:sp>
        <p:nvSpPr>
          <p:cNvPr id="5" name="TextBox 4"/>
          <p:cNvSpPr txBox="1">
            <a:spLocks/>
          </p:cNvSpPr>
          <p:nvPr/>
        </p:nvSpPr>
        <p:spPr>
          <a:xfrm>
            <a:off x="4892881" y="0"/>
            <a:ext cx="3383280" cy="1415772"/>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Recover ball</a:t>
            </a:r>
          </a:p>
          <a:p>
            <a:pPr marL="457200" indent="-457200">
              <a:buChar char="•"/>
            </a:pPr>
            <a:r>
              <a:rPr lang="en-US" sz="1400" dirty="0">
                <a:solidFill>
                  <a:schemeClr val="bg1"/>
                </a:solidFill>
                <a:uFillTx/>
              </a:rPr>
              <a:t>Move forward when opponent plays backward </a:t>
            </a:r>
          </a:p>
          <a:p>
            <a:pPr marL="457200" indent="-457200">
              <a:buChar char="•"/>
            </a:pPr>
            <a:r>
              <a:rPr lang="en-US" sz="1400" dirty="0">
                <a:solidFill>
                  <a:schemeClr val="bg1"/>
                </a:solidFill>
                <a:uFillTx/>
              </a:rPr>
              <a:t>Ready to come off line to intercept </a:t>
            </a:r>
          </a:p>
          <a:p>
            <a:pPr marL="457200" indent="-457200">
              <a:buChar char="•"/>
            </a:pPr>
            <a:endParaRPr lang="en-US" sz="1400" dirty="0">
              <a:solidFill>
                <a:schemeClr val="bg1"/>
              </a:solidFill>
              <a:uFillTx/>
            </a:endParaRPr>
          </a:p>
        </p:txBody>
      </p:sp>
      <p:sp>
        <p:nvSpPr>
          <p:cNvPr id="6" name="TextBox 5"/>
          <p:cNvSpPr txBox="1">
            <a:spLocks/>
          </p:cNvSpPr>
          <p:nvPr/>
        </p:nvSpPr>
        <p:spPr>
          <a:xfrm>
            <a:off x="8547850" y="0"/>
            <a:ext cx="3383280" cy="984885"/>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Organize teammates in front</a:t>
            </a:r>
          </a:p>
          <a:p>
            <a:pPr marL="457200" indent="-457200">
              <a:buChar char="•"/>
            </a:pPr>
            <a:r>
              <a:rPr lang="en-US" sz="1400" dirty="0">
                <a:solidFill>
                  <a:schemeClr val="bg1"/>
                </a:solidFill>
                <a:uFillTx/>
              </a:rPr>
              <a:t>Read opponent’s body language </a:t>
            </a:r>
          </a:p>
        </p:txBody>
      </p:sp>
      <p:pic>
        <p:nvPicPr>
          <p:cNvPr id="21"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2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24" name="Isosceles Triangle 23"/>
          <p:cNvSpPr>
            <a:spLocks noChangeAspect="1"/>
          </p:cNvSpPr>
          <p:nvPr/>
        </p:nvSpPr>
        <p:spPr>
          <a:xfrm>
            <a:off x="6478450" y="616498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sp>
        <p:nvSpPr>
          <p:cNvPr id="25" name="Isosceles Triangle 24"/>
          <p:cNvSpPr>
            <a:spLocks noChangeAspect="1"/>
          </p:cNvSpPr>
          <p:nvPr/>
        </p:nvSpPr>
        <p:spPr>
          <a:xfrm>
            <a:off x="10133419" y="579091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29" name="Straight Arrow Connector 28"/>
          <p:cNvCxnSpPr/>
          <p:nvPr/>
        </p:nvCxnSpPr>
        <p:spPr>
          <a:xfrm flipV="1">
            <a:off x="6580913" y="5912138"/>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10229276" y="5538066"/>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nvGrpSpPr>
          <p:cNvPr id="17" name="Group 16"/>
          <p:cNvGrpSpPr/>
          <p:nvPr/>
        </p:nvGrpSpPr>
        <p:grpSpPr>
          <a:xfrm>
            <a:off x="1108143" y="2103120"/>
            <a:ext cx="3383280" cy="4754880"/>
            <a:chOff x="1200503" y="2103120"/>
            <a:chExt cx="3383280" cy="4754880"/>
          </a:xfrm>
        </p:grpSpPr>
        <p:pic>
          <p:nvPicPr>
            <p:cNvPr id="19" name="Picture 4"/>
            <p:cNvPicPr>
              <a:picLocks noChangeArrowheads="1"/>
            </p:cNvPicPr>
            <p:nvPr/>
          </p:nvPicPr>
          <p:blipFill rotWithShape="1">
            <a:blip r:embed="rId2" cstate="email"/>
            <a:srcRect/>
            <a:stretch/>
          </p:blipFill>
          <p:spPr bwMode="auto">
            <a:xfrm>
              <a:off x="1200503" y="2103120"/>
              <a:ext cx="3383280" cy="4754880"/>
            </a:xfrm>
            <a:prstGeom prst="rect">
              <a:avLst/>
            </a:prstGeom>
            <a:noFill/>
            <a:ln>
              <a:noFill/>
            </a:ln>
          </p:spPr>
        </p:pic>
        <p:sp>
          <p:nvSpPr>
            <p:cNvPr id="23" name="Isosceles Triangle 22"/>
            <p:cNvSpPr>
              <a:spLocks noChangeAspect="1"/>
            </p:cNvSpPr>
            <p:nvPr/>
          </p:nvSpPr>
          <p:spPr>
            <a:xfrm>
              <a:off x="2791334" y="644669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a:t>
              </a:r>
            </a:p>
          </p:txBody>
        </p:sp>
        <p:cxnSp>
          <p:nvCxnSpPr>
            <p:cNvPr id="11" name="Straight Arrow Connector 10"/>
            <p:cNvCxnSpPr/>
            <p:nvPr/>
          </p:nvCxnSpPr>
          <p:spPr>
            <a:xfrm flipV="1">
              <a:off x="2900218" y="6197598"/>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rot="5400000" flipV="1">
              <a:off x="3089562" y="6414650"/>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rot="16200000" flipH="1" flipV="1">
              <a:off x="2724729" y="6410035"/>
              <a:ext cx="0" cy="25284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
        <p:nvSpPr>
          <p:cNvPr id="36" name="TextBox 35"/>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37" name="TextBox 36"/>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TextBox 37"/>
          <p:cNvSpPr txBox="1">
            <a:spLocks/>
          </p:cNvSpPr>
          <p:nvPr/>
        </p:nvSpPr>
        <p:spPr>
          <a:xfrm>
            <a:off x="2094721" y="1711394"/>
            <a:ext cx="1224567"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26" name="TextBox 25"/>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#1</a:t>
            </a:r>
          </a:p>
          <a:p>
            <a:pPr algn="ctr"/>
            <a:r>
              <a:rPr lang="en-US" sz="2400" dirty="0">
                <a:solidFill>
                  <a:srgbClr val="CC9900"/>
                </a:solidFill>
                <a:uFillTx/>
              </a:rPr>
              <a:t>(GK)</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3252667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3" name="TextBox 2"/>
          <p:cNvSpPr txBox="1">
            <a:spLocks/>
          </p:cNvSpPr>
          <p:nvPr/>
        </p:nvSpPr>
        <p:spPr>
          <a:xfrm>
            <a:off x="1564141" y="240407"/>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2834141" y="1588809"/>
            <a:ext cx="6800195" cy="3477875"/>
          </a:xfrm>
          <a:prstGeom prst="rect">
            <a:avLst/>
          </a:prstGeom>
          <a:noFill/>
        </p:spPr>
        <p:txBody>
          <a:bodyPr wrap="none" rtlCol="0">
            <a:spAutoFit/>
          </a:bodyPr>
          <a:lstStyle/>
          <a:p>
            <a:r>
              <a:rPr lang="en-US" sz="6000" dirty="0">
                <a:solidFill>
                  <a:schemeClr val="bg1"/>
                </a:solidFill>
                <a:uFillTx/>
              </a:rPr>
              <a:t>#4 &amp; #5 Center Backs</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Vocal Leader</a:t>
            </a:r>
          </a:p>
          <a:p>
            <a:pPr marL="857250" indent="-857250">
              <a:buFont typeface="Arial" panose="020B0604020202020204" pitchFamily="34" charset="0"/>
              <a:buChar char="•"/>
            </a:pPr>
            <a:r>
              <a:rPr lang="en-US" sz="3200" dirty="0">
                <a:solidFill>
                  <a:schemeClr val="bg1"/>
                </a:solidFill>
                <a:uFillTx/>
              </a:rPr>
              <a:t>Technically Skilled</a:t>
            </a:r>
          </a:p>
          <a:p>
            <a:pPr marL="857250" indent="-857250">
              <a:buFont typeface="Arial" panose="020B0604020202020204" pitchFamily="34" charset="0"/>
              <a:buChar char="•"/>
            </a:pPr>
            <a:r>
              <a:rPr lang="en-US" sz="3200" dirty="0">
                <a:solidFill>
                  <a:schemeClr val="bg1"/>
                </a:solidFill>
                <a:uFillTx/>
              </a:rPr>
              <a:t>Athletic</a:t>
            </a:r>
          </a:p>
          <a:p>
            <a:pPr marL="857250" indent="-857250">
              <a:buFont typeface="Arial" panose="020B0604020202020204" pitchFamily="34" charset="0"/>
              <a:buChar char="•"/>
            </a:pPr>
            <a:r>
              <a:rPr lang="en-US" sz="3200" dirty="0">
                <a:solidFill>
                  <a:schemeClr val="bg1"/>
                </a:solidFill>
                <a:uFillTx/>
              </a:rPr>
              <a:t>Aerially Dominant</a:t>
            </a:r>
          </a:p>
        </p:txBody>
      </p:sp>
      <p:pic>
        <p:nvPicPr>
          <p:cNvPr id="6" name="Picture 5">
            <a:extLst>
              <a:ext uri="{FF2B5EF4-FFF2-40B4-BE49-F238E27FC236}">
                <a16:creationId xmlns:a16="http://schemas.microsoft.com/office/drawing/2014/main" id="{18EA6AD4-8C82-EC4C-9C66-028852061FDF}"/>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638374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529607"/>
            <a:ext cx="6852356"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Deny opposition in 1v1 situations (air &amp; ground) and be first to the ball on all crosses</a:t>
            </a:r>
          </a:p>
          <a:p>
            <a:pPr marL="285750" indent="-285750">
              <a:buFont typeface="Arial" panose="020B0604020202020204" pitchFamily="34" charset="0"/>
              <a:buChar char="•"/>
            </a:pPr>
            <a:r>
              <a:rPr lang="en-US" sz="1200" dirty="0">
                <a:solidFill>
                  <a:schemeClr val="bg1"/>
                </a:solidFill>
              </a:rPr>
              <a:t>Clear ball from danger areas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monitor opponent &amp; analyze situation to determine correct defensive action: PCB, zone, man mark, etc.</a:t>
            </a:r>
          </a:p>
          <a:p>
            <a:pPr marL="285750" indent="-285750">
              <a:buFont typeface="Arial" panose="020B0604020202020204" pitchFamily="34" charset="0"/>
              <a:buChar char="•"/>
            </a:pPr>
            <a:r>
              <a:rPr lang="en-US" sz="1200" dirty="0">
                <a:solidFill>
                  <a:schemeClr val="bg1"/>
                </a:solidFill>
              </a:rPr>
              <a:t>Movements &amp; decisions in partnership with other center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Lead &amp; organize defensive line &amp; direct other teammates</a:t>
            </a:r>
          </a:p>
          <a:p>
            <a:pPr marL="285750" indent="-285750">
              <a:buFont typeface="Arial" panose="020B0604020202020204" pitchFamily="34" charset="0"/>
              <a:buChar char="•"/>
            </a:pPr>
            <a:r>
              <a:rPr lang="en-US" sz="1200" dirty="0">
                <a:solidFill>
                  <a:schemeClr val="bg1"/>
                </a:solidFill>
              </a:rPr>
              <a:t>Intercept long &amp; through passes</a:t>
            </a:r>
          </a:p>
        </p:txBody>
      </p:sp>
      <p:sp>
        <p:nvSpPr>
          <p:cNvPr id="8" name="TextBox 7"/>
          <p:cNvSpPr txBox="1"/>
          <p:nvPr/>
        </p:nvSpPr>
        <p:spPr>
          <a:xfrm>
            <a:off x="82251" y="2598004"/>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a:t>
            </a:r>
          </a:p>
          <a:p>
            <a:pPr marL="285750" indent="-285750">
              <a:buFont typeface="Arial" panose="020B0604020202020204" pitchFamily="34" charset="0"/>
              <a:buChar char="•"/>
            </a:pPr>
            <a:r>
              <a:rPr lang="en-US" sz="1200" dirty="0">
                <a:solidFill>
                  <a:schemeClr val="bg1"/>
                </a:solidFill>
              </a:rPr>
              <a:t>Pass or dribble forward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Coach the defensive line to push up as a unit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one</a:t>
            </a:r>
          </a:p>
        </p:txBody>
      </p:sp>
      <p:sp>
        <p:nvSpPr>
          <p:cNvPr id="9" name="TextBox 8"/>
          <p:cNvSpPr txBox="1"/>
          <p:nvPr/>
        </p:nvSpPr>
        <p:spPr>
          <a:xfrm>
            <a:off x="7125702" y="2505670"/>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Take preventive defensive action</a:t>
            </a:r>
          </a:p>
        </p:txBody>
      </p:sp>
      <p:sp>
        <p:nvSpPr>
          <p:cNvPr id="6" name="TextBox 5"/>
          <p:cNvSpPr txBox="1"/>
          <p:nvPr/>
        </p:nvSpPr>
        <p:spPr>
          <a:xfrm>
            <a:off x="106516" y="123110"/>
            <a:ext cx="2020529" cy="923330"/>
          </a:xfrm>
          <a:prstGeom prst="rect">
            <a:avLst/>
          </a:prstGeom>
          <a:solidFill>
            <a:srgbClr val="FFFF00"/>
          </a:solidFill>
        </p:spPr>
        <p:txBody>
          <a:bodyPr wrap="square" rtlCol="0">
            <a:spAutoFit/>
          </a:bodyPr>
          <a:lstStyle/>
          <a:p>
            <a:r>
              <a:rPr lang="en-US" dirty="0"/>
              <a:t>NO. 4, 5</a:t>
            </a:r>
          </a:p>
          <a:p>
            <a:r>
              <a:rPr lang="en-US" dirty="0"/>
              <a:t>Center Back</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03132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to spread out &amp; provide passing option (for GK) in relation to other center back &amp; defensive midfielder to outnumber opponent</a:t>
            </a:r>
          </a:p>
          <a:p>
            <a:pPr marL="285750" indent="-285750">
              <a:buFont typeface="Arial" panose="020B0604020202020204" pitchFamily="34" charset="0"/>
              <a:buChar char="•"/>
            </a:pPr>
            <a:r>
              <a:rPr lang="en-US" sz="1200" dirty="0">
                <a:solidFill>
                  <a:schemeClr val="bg1"/>
                </a:solidFill>
              </a:rPr>
              <a:t>Make accurate forward/diagonal passes between (or behind) the opposition defensive lines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Move forward with (and without) the ball to create 2v1</a:t>
            </a:r>
          </a:p>
          <a:p>
            <a:pPr marL="285750" indent="-285750">
              <a:buFont typeface="Arial" panose="020B0604020202020204" pitchFamily="34" charset="0"/>
              <a:buChar char="•"/>
            </a:pPr>
            <a:r>
              <a:rPr lang="en-US" sz="1200" dirty="0">
                <a:solidFill>
                  <a:schemeClr val="bg1"/>
                </a:solidFill>
              </a:rPr>
              <a:t>Position to support if the ball cannot be played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Push up the defensive line &amp; organize teammates to take up preventive defensive action</a:t>
            </a:r>
          </a:p>
        </p:txBody>
      </p:sp>
      <p:pic>
        <p:nvPicPr>
          <p:cNvPr id="24" name="Picture 23">
            <a:extLst>
              <a:ext uri="{FF2B5EF4-FFF2-40B4-BE49-F238E27FC236}">
                <a16:creationId xmlns:a16="http://schemas.microsoft.com/office/drawing/2014/main" id="{490CEA92-DE34-EB45-AFBF-912BAB99D191}"/>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304698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4" y="0"/>
            <a:ext cx="3383280" cy="1200329"/>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Eliminate defenders with pass </a:t>
            </a:r>
          </a:p>
          <a:p>
            <a:pPr marL="457200" indent="-457200">
              <a:buChar char="•"/>
            </a:pPr>
            <a:r>
              <a:rPr lang="en-US" sz="1400" dirty="0">
                <a:solidFill>
                  <a:schemeClr val="bg1"/>
                </a:solidFill>
                <a:uFillTx/>
              </a:rPr>
              <a:t>Variety in passing </a:t>
            </a:r>
          </a:p>
          <a:p>
            <a:pPr marL="457200" indent="-457200">
              <a:buChar char="•"/>
            </a:pPr>
            <a:r>
              <a:rPr lang="en-US" sz="1400" dirty="0">
                <a:solidFill>
                  <a:schemeClr val="bg1"/>
                </a:solidFill>
                <a:uFillTx/>
              </a:rPr>
              <a:t>Dribble forward when no pressure</a:t>
            </a:r>
          </a:p>
        </p:txBody>
      </p:sp>
      <p:sp>
        <p:nvSpPr>
          <p:cNvPr id="5" name="TextBox 4"/>
          <p:cNvSpPr txBox="1">
            <a:spLocks/>
          </p:cNvSpPr>
          <p:nvPr/>
        </p:nvSpPr>
        <p:spPr>
          <a:xfrm>
            <a:off x="4892882" y="0"/>
            <a:ext cx="3383280" cy="1200329"/>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Eliminate defenders with pass or dribble</a:t>
            </a:r>
          </a:p>
          <a:p>
            <a:pPr marL="457200" indent="-457200">
              <a:buChar char="•"/>
            </a:pPr>
            <a:r>
              <a:rPr lang="en-US" sz="1400" dirty="0">
                <a:solidFill>
                  <a:schemeClr val="bg1"/>
                </a:solidFill>
                <a:uFillTx/>
              </a:rPr>
              <a:t>Overload one side to isolate opposite side</a:t>
            </a:r>
          </a:p>
          <a:p>
            <a:pPr marL="457200" indent="-457200">
              <a:buChar char="•"/>
            </a:pPr>
            <a:r>
              <a:rPr lang="en-US" sz="1400" dirty="0">
                <a:solidFill>
                  <a:schemeClr val="bg1"/>
                </a:solidFill>
                <a:uFillTx/>
              </a:rPr>
              <a:t>Variety in passing </a:t>
            </a:r>
          </a:p>
        </p:txBody>
      </p:sp>
      <p:sp>
        <p:nvSpPr>
          <p:cNvPr id="6" name="TextBox 5"/>
          <p:cNvSpPr txBox="1">
            <a:spLocks/>
          </p:cNvSpPr>
          <p:nvPr/>
        </p:nvSpPr>
        <p:spPr>
          <a:xfrm>
            <a:off x="8547851" y="0"/>
            <a:ext cx="3383279" cy="1200329"/>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Eliminate defenders with pass or dribble</a:t>
            </a:r>
          </a:p>
          <a:p>
            <a:pPr marL="457200" indent="-457200">
              <a:buChar char="•"/>
            </a:pPr>
            <a:r>
              <a:rPr lang="en-US" sz="1400" dirty="0">
                <a:solidFill>
                  <a:schemeClr val="bg1"/>
                </a:solidFill>
                <a:uFillTx/>
              </a:rPr>
              <a:t>Crossing from variety of positions </a:t>
            </a:r>
          </a:p>
          <a:p>
            <a:pPr marL="457200" indent="-457200">
              <a:buChar char="•"/>
            </a:pPr>
            <a:r>
              <a:rPr lang="en-US" sz="1400" dirty="0">
                <a:solidFill>
                  <a:schemeClr val="bg1"/>
                </a:solidFill>
                <a:uFillTx/>
              </a:rPr>
              <a:t>Pass backward to restart attack</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cxnSp>
        <p:nvCxnSpPr>
          <p:cNvPr id="38" name="Straight Arrow Connector 37"/>
          <p:cNvCxnSpPr/>
          <p:nvPr/>
        </p:nvCxnSpPr>
        <p:spPr>
          <a:xfrm flipH="1" flipV="1">
            <a:off x="1515099" y="4765963"/>
            <a:ext cx="299368" cy="74720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28" name="Isosceles Triangle 27"/>
          <p:cNvSpPr>
            <a:spLocks noChangeAspect="1"/>
          </p:cNvSpPr>
          <p:nvPr/>
        </p:nvSpPr>
        <p:spPr>
          <a:xfrm>
            <a:off x="1795995" y="543046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29" name="Isosceles Triangle 28"/>
          <p:cNvSpPr>
            <a:spLocks noChangeAspect="1"/>
          </p:cNvSpPr>
          <p:nvPr/>
        </p:nvSpPr>
        <p:spPr>
          <a:xfrm>
            <a:off x="3719592" y="614779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32" name="Straight Arrow Connector 31"/>
          <p:cNvCxnSpPr/>
          <p:nvPr/>
        </p:nvCxnSpPr>
        <p:spPr>
          <a:xfrm flipV="1">
            <a:off x="1955681" y="4608945"/>
            <a:ext cx="2071374" cy="89077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181453" y="5183424"/>
            <a:ext cx="555128" cy="101393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H="1">
            <a:off x="3369179" y="6406778"/>
            <a:ext cx="275799" cy="18230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V="1">
            <a:off x="3927392" y="5580486"/>
            <a:ext cx="276030" cy="61686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1814467" y="5672596"/>
            <a:ext cx="63686" cy="33346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1747223" y="5183424"/>
            <a:ext cx="106768" cy="26660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25" name="Freeform 24"/>
          <p:cNvSpPr>
            <a:spLocks/>
          </p:cNvSpPr>
          <p:nvPr/>
        </p:nvSpPr>
        <p:spPr>
          <a:xfrm>
            <a:off x="1884881" y="4953694"/>
            <a:ext cx="101621" cy="459459"/>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61" name="Freeform 60"/>
          <p:cNvSpPr>
            <a:spLocks/>
          </p:cNvSpPr>
          <p:nvPr/>
        </p:nvSpPr>
        <p:spPr>
          <a:xfrm>
            <a:off x="3818814" y="5672596"/>
            <a:ext cx="101621" cy="459459"/>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63" name="Isosceles Triangle 62"/>
          <p:cNvSpPr>
            <a:spLocks noChangeAspect="1"/>
          </p:cNvSpPr>
          <p:nvPr/>
        </p:nvSpPr>
        <p:spPr>
          <a:xfrm>
            <a:off x="5758581" y="48704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67" name="Isosceles Triangle 66"/>
          <p:cNvSpPr>
            <a:spLocks noChangeAspect="1"/>
          </p:cNvSpPr>
          <p:nvPr/>
        </p:nvSpPr>
        <p:spPr>
          <a:xfrm>
            <a:off x="7213979" y="497761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68" name="Straight Arrow Connector 67"/>
          <p:cNvCxnSpPr/>
          <p:nvPr/>
        </p:nvCxnSpPr>
        <p:spPr>
          <a:xfrm flipV="1">
            <a:off x="5955674" y="3629891"/>
            <a:ext cx="1599671" cy="125965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flipV="1">
            <a:off x="5925567" y="3629891"/>
            <a:ext cx="666784" cy="118648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0" name="Straight Arrow Connector 69"/>
          <p:cNvCxnSpPr/>
          <p:nvPr/>
        </p:nvCxnSpPr>
        <p:spPr>
          <a:xfrm flipH="1" flipV="1">
            <a:off x="5554216" y="4594491"/>
            <a:ext cx="243423" cy="27597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71" name="Freeform 70"/>
          <p:cNvSpPr>
            <a:spLocks/>
          </p:cNvSpPr>
          <p:nvPr/>
        </p:nvSpPr>
        <p:spPr>
          <a:xfrm>
            <a:off x="5823946" y="4356912"/>
            <a:ext cx="101621" cy="459459"/>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72" name="Straight Arrow Connector 71"/>
          <p:cNvCxnSpPr/>
          <p:nvPr/>
        </p:nvCxnSpPr>
        <p:spPr>
          <a:xfrm flipH="1" flipV="1">
            <a:off x="6958253" y="5054331"/>
            <a:ext cx="263955" cy="7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7404716" y="4765963"/>
            <a:ext cx="66880" cy="2638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flipH="1">
            <a:off x="7251865" y="5236894"/>
            <a:ext cx="54560" cy="23932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80" name="Isosceles Triangle 79"/>
          <p:cNvSpPr>
            <a:spLocks noChangeAspect="1"/>
          </p:cNvSpPr>
          <p:nvPr/>
        </p:nvSpPr>
        <p:spPr>
          <a:xfrm>
            <a:off x="9503926" y="381854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81" name="Isosceles Triangle 80"/>
          <p:cNvSpPr>
            <a:spLocks noChangeAspect="1"/>
          </p:cNvSpPr>
          <p:nvPr/>
        </p:nvSpPr>
        <p:spPr>
          <a:xfrm>
            <a:off x="10765361" y="425971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82" name="Straight Arrow Connector 81"/>
          <p:cNvCxnSpPr/>
          <p:nvPr/>
        </p:nvCxnSpPr>
        <p:spPr>
          <a:xfrm flipH="1" flipV="1">
            <a:off x="10654268" y="4275424"/>
            <a:ext cx="178542" cy="12862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10849966" y="3597264"/>
            <a:ext cx="33440" cy="66245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flipH="1">
            <a:off x="10839406" y="4493154"/>
            <a:ext cx="54560" cy="23932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flipH="1" flipV="1">
            <a:off x="9260503" y="3623287"/>
            <a:ext cx="243423" cy="27597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flipV="1">
            <a:off x="9598011" y="3195883"/>
            <a:ext cx="59740" cy="62266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flipV="1">
            <a:off x="9679404" y="2672565"/>
            <a:ext cx="1099543" cy="119385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94" name="Straight Arrow Connector 93"/>
          <p:cNvCxnSpPr/>
          <p:nvPr/>
        </p:nvCxnSpPr>
        <p:spPr>
          <a:xfrm>
            <a:off x="9766334" y="4034349"/>
            <a:ext cx="403574" cy="23932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42" name="TextBox 41"/>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#4/5</a:t>
            </a:r>
          </a:p>
          <a:p>
            <a:pPr algn="ctr"/>
            <a:r>
              <a:rPr lang="en-US" sz="2400" dirty="0">
                <a:solidFill>
                  <a:srgbClr val="CC9900"/>
                </a:solidFill>
                <a:uFillTx/>
              </a:rPr>
              <a:t>(CB)</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2066770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Block crosses/shots </a:t>
            </a:r>
          </a:p>
          <a:p>
            <a:pPr marL="457200" indent="-457200">
              <a:buChar char="•"/>
            </a:pPr>
            <a:r>
              <a:rPr lang="en-US" sz="1200" dirty="0">
                <a:solidFill>
                  <a:schemeClr val="bg1"/>
                </a:solidFill>
                <a:uFillTx/>
              </a:rPr>
              <a:t>Limit opponent's entry into our box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Step forward when opponent </a:t>
            </a:r>
          </a:p>
          <a:p>
            <a:pPr marL="457200" indent="-457200">
              <a:buChar char="•"/>
            </a:pPr>
            <a:r>
              <a:rPr lang="en-US" sz="1200" dirty="0">
                <a:solidFill>
                  <a:schemeClr val="bg1"/>
                </a:solidFill>
                <a:uFillTx/>
              </a:rPr>
              <a:t>plays backward</a:t>
            </a:r>
          </a:p>
        </p:txBody>
      </p:sp>
      <p:sp>
        <p:nvSpPr>
          <p:cNvPr id="6" name="TextBox 5"/>
          <p:cNvSpPr txBox="1">
            <a:spLocks/>
          </p:cNvSpPr>
          <p:nvPr/>
        </p:nvSpPr>
        <p:spPr>
          <a:xfrm>
            <a:off x="8547850" y="0"/>
            <a:ext cx="3383279" cy="1446550"/>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Proactive marking to prevent counter</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28" name="Isosceles Triangle 27"/>
          <p:cNvSpPr>
            <a:spLocks noChangeAspect="1"/>
          </p:cNvSpPr>
          <p:nvPr/>
        </p:nvSpPr>
        <p:spPr>
          <a:xfrm>
            <a:off x="2182791" y="594819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29" name="Isosceles Triangle 28"/>
          <p:cNvSpPr>
            <a:spLocks noChangeAspect="1"/>
          </p:cNvSpPr>
          <p:nvPr/>
        </p:nvSpPr>
        <p:spPr>
          <a:xfrm>
            <a:off x="3303761" y="591704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55" name="Straight Arrow Connector 54"/>
          <p:cNvCxnSpPr/>
          <p:nvPr/>
        </p:nvCxnSpPr>
        <p:spPr>
          <a:xfrm flipH="1">
            <a:off x="1857713" y="6189459"/>
            <a:ext cx="262726" cy="16162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1989076" y="5786115"/>
            <a:ext cx="202693" cy="23156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3" name="Isosceles Triangle 62"/>
          <p:cNvSpPr>
            <a:spLocks noChangeAspect="1"/>
          </p:cNvSpPr>
          <p:nvPr/>
        </p:nvSpPr>
        <p:spPr>
          <a:xfrm>
            <a:off x="5758581" y="48704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67" name="Isosceles Triangle 66"/>
          <p:cNvSpPr>
            <a:spLocks noChangeAspect="1"/>
          </p:cNvSpPr>
          <p:nvPr/>
        </p:nvSpPr>
        <p:spPr>
          <a:xfrm>
            <a:off x="7145794" y="48704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sp>
        <p:nvSpPr>
          <p:cNvPr id="80" name="Isosceles Triangle 79"/>
          <p:cNvSpPr>
            <a:spLocks noChangeAspect="1"/>
          </p:cNvSpPr>
          <p:nvPr/>
        </p:nvSpPr>
        <p:spPr>
          <a:xfrm>
            <a:off x="9511033" y="434006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5</a:t>
            </a:r>
          </a:p>
        </p:txBody>
      </p:sp>
      <p:sp>
        <p:nvSpPr>
          <p:cNvPr id="81" name="Isosceles Triangle 80"/>
          <p:cNvSpPr>
            <a:spLocks noChangeAspect="1"/>
          </p:cNvSpPr>
          <p:nvPr/>
        </p:nvSpPr>
        <p:spPr>
          <a:xfrm>
            <a:off x="10765361" y="425971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4</a:t>
            </a:r>
          </a:p>
        </p:txBody>
      </p:sp>
      <p:cxnSp>
        <p:nvCxnSpPr>
          <p:cNvPr id="82" name="Straight Arrow Connector 81"/>
          <p:cNvCxnSpPr/>
          <p:nvPr/>
        </p:nvCxnSpPr>
        <p:spPr>
          <a:xfrm flipH="1" flipV="1">
            <a:off x="9373917" y="4259716"/>
            <a:ext cx="133857" cy="15624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H="1" flipV="1">
            <a:off x="9605690" y="3969279"/>
            <a:ext cx="17430" cy="33061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flipV="1">
            <a:off x="9695466" y="4200316"/>
            <a:ext cx="209596" cy="18285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cxnSp>
        <p:nvCxnSpPr>
          <p:cNvPr id="48" name="Straight Arrow Connector 47"/>
          <p:cNvCxnSpPr/>
          <p:nvPr/>
        </p:nvCxnSpPr>
        <p:spPr>
          <a:xfrm flipH="1" flipV="1">
            <a:off x="2288861" y="5544849"/>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a:off x="2300362" y="6189459"/>
            <a:ext cx="249058" cy="34263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2366681" y="6030892"/>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a:off x="3548647" y="6181882"/>
            <a:ext cx="262726" cy="16162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3477317" y="5730947"/>
            <a:ext cx="304366" cy="27915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V="1">
            <a:off x="3368724" y="5537272"/>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H="1">
            <a:off x="3119666" y="6181882"/>
            <a:ext cx="249058" cy="34263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2944269" y="6023315"/>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nvGrpSpPr>
          <p:cNvPr id="23" name="Group 22"/>
          <p:cNvGrpSpPr/>
          <p:nvPr/>
        </p:nvGrpSpPr>
        <p:grpSpPr>
          <a:xfrm>
            <a:off x="6836422" y="4443578"/>
            <a:ext cx="812044" cy="496831"/>
            <a:chOff x="6836422" y="4443578"/>
            <a:chExt cx="812044" cy="496831"/>
          </a:xfrm>
        </p:grpSpPr>
        <p:cxnSp>
          <p:nvCxnSpPr>
            <p:cNvPr id="77" name="Straight Arrow Connector 76"/>
            <p:cNvCxnSpPr/>
            <p:nvPr/>
          </p:nvCxnSpPr>
          <p:spPr>
            <a:xfrm flipH="1" flipV="1">
              <a:off x="6836422"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flipV="1">
              <a:off x="7339094"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H="1" flipV="1">
              <a:off x="7246113" y="4443578"/>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78" name="Group 77"/>
          <p:cNvGrpSpPr/>
          <p:nvPr/>
        </p:nvGrpSpPr>
        <p:grpSpPr>
          <a:xfrm>
            <a:off x="5436842" y="4465569"/>
            <a:ext cx="812044" cy="496831"/>
            <a:chOff x="6836422" y="4443578"/>
            <a:chExt cx="812044" cy="496831"/>
          </a:xfrm>
        </p:grpSpPr>
        <p:cxnSp>
          <p:nvCxnSpPr>
            <p:cNvPr id="79" name="Straight Arrow Connector 78"/>
            <p:cNvCxnSpPr/>
            <p:nvPr/>
          </p:nvCxnSpPr>
          <p:spPr>
            <a:xfrm flipH="1" flipV="1">
              <a:off x="6836422"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flipV="1">
              <a:off x="7339094" y="4870469"/>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6" name="Straight Arrow Connector 85"/>
            <p:cNvCxnSpPr/>
            <p:nvPr/>
          </p:nvCxnSpPr>
          <p:spPr>
            <a:xfrm flipH="1" flipV="1">
              <a:off x="7246113" y="4443578"/>
              <a:ext cx="11501" cy="37219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cxnSp>
        <p:nvCxnSpPr>
          <p:cNvPr id="88" name="Straight Arrow Connector 87"/>
          <p:cNvCxnSpPr/>
          <p:nvPr/>
        </p:nvCxnSpPr>
        <p:spPr>
          <a:xfrm flipH="1">
            <a:off x="10494696" y="4365622"/>
            <a:ext cx="288095" cy="175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91" name="Straight Arrow Connector 90"/>
          <p:cNvCxnSpPr/>
          <p:nvPr/>
        </p:nvCxnSpPr>
        <p:spPr>
          <a:xfrm flipH="1">
            <a:off x="10494696" y="4497982"/>
            <a:ext cx="264791" cy="153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H="1">
            <a:off x="10851771" y="4489075"/>
            <a:ext cx="19660" cy="2858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#4/5</a:t>
            </a:r>
          </a:p>
          <a:p>
            <a:pPr algn="ctr"/>
            <a:r>
              <a:rPr lang="en-US" sz="2400" dirty="0">
                <a:solidFill>
                  <a:srgbClr val="CC9900"/>
                </a:solidFill>
                <a:uFillTx/>
              </a:rPr>
              <a:t>(CB)</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1017105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0"/>
            <a:ext cx="12409715" cy="6858000"/>
          </a:xfrm>
          <a:prstGeom prst="rect">
            <a:avLst/>
          </a:prstGeom>
        </p:spPr>
      </p:pic>
      <p:sp>
        <p:nvSpPr>
          <p:cNvPr id="3" name="TextBox 2"/>
          <p:cNvSpPr txBox="1">
            <a:spLocks/>
          </p:cNvSpPr>
          <p:nvPr/>
        </p:nvSpPr>
        <p:spPr>
          <a:xfrm>
            <a:off x="1574725" y="536740"/>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2463724" y="2181475"/>
            <a:ext cx="6395597" cy="3477875"/>
          </a:xfrm>
          <a:prstGeom prst="rect">
            <a:avLst/>
          </a:prstGeom>
          <a:noFill/>
        </p:spPr>
        <p:txBody>
          <a:bodyPr wrap="none" rtlCol="0">
            <a:spAutoFit/>
          </a:bodyPr>
          <a:lstStyle/>
          <a:p>
            <a:r>
              <a:rPr lang="en-US" sz="6000" dirty="0">
                <a:solidFill>
                  <a:schemeClr val="bg1"/>
                </a:solidFill>
                <a:uFillTx/>
              </a:rPr>
              <a:t>#2 &amp; #3 Full Backs</a:t>
            </a:r>
          </a:p>
          <a:p>
            <a:pPr marL="857250" indent="-857250">
              <a:buFont typeface="Arial" panose="020B0604020202020204" pitchFamily="34" charset="0"/>
              <a:buChar char="•"/>
            </a:pPr>
            <a:r>
              <a:rPr lang="en-US" sz="3200" dirty="0">
                <a:solidFill>
                  <a:schemeClr val="bg1"/>
                </a:solidFill>
                <a:uFillTx/>
              </a:rPr>
              <a:t>High Level of Endurance</a:t>
            </a:r>
          </a:p>
          <a:p>
            <a:pPr marL="857250" indent="-857250">
              <a:buFont typeface="Arial" panose="020B0604020202020204" pitchFamily="34" charset="0"/>
              <a:buChar char="•"/>
            </a:pPr>
            <a:r>
              <a:rPr lang="en-US" sz="3200" dirty="0">
                <a:solidFill>
                  <a:schemeClr val="bg1"/>
                </a:solidFill>
                <a:uFillTx/>
              </a:rPr>
              <a:t>Proficient Dribbler</a:t>
            </a:r>
          </a:p>
          <a:p>
            <a:pPr marL="857250" indent="-857250">
              <a:buFont typeface="Arial" panose="020B0604020202020204" pitchFamily="34" charset="0"/>
              <a:buChar char="•"/>
            </a:pPr>
            <a:r>
              <a:rPr lang="en-US" sz="3200" dirty="0">
                <a:solidFill>
                  <a:schemeClr val="bg1"/>
                </a:solidFill>
                <a:uFillTx/>
              </a:rPr>
              <a:t>High-concentration/anticipation</a:t>
            </a:r>
          </a:p>
          <a:p>
            <a:pPr marL="857250" indent="-857250">
              <a:buFont typeface="Arial" panose="020B0604020202020204" pitchFamily="34" charset="0"/>
              <a:buChar char="•"/>
            </a:pPr>
            <a:r>
              <a:rPr lang="en-US" sz="3200" dirty="0">
                <a:solidFill>
                  <a:schemeClr val="bg1"/>
                </a:solidFill>
                <a:uFillTx/>
              </a:rPr>
              <a:t>Proficient Cross/Long Passing</a:t>
            </a:r>
          </a:p>
          <a:p>
            <a:pPr marL="857250" indent="-857250">
              <a:buFont typeface="Arial" panose="020B0604020202020204" pitchFamily="34" charset="0"/>
              <a:buChar char="•"/>
            </a:pPr>
            <a:r>
              <a:rPr lang="en-US" sz="3200" dirty="0">
                <a:solidFill>
                  <a:schemeClr val="bg1"/>
                </a:solidFill>
              </a:rPr>
              <a:t>Proficient defending 1v1</a:t>
            </a:r>
            <a:endParaRPr lang="en-US" sz="3200" dirty="0">
              <a:solidFill>
                <a:schemeClr val="bg1"/>
              </a:solidFill>
              <a:uFillTx/>
            </a:endParaRPr>
          </a:p>
        </p:txBody>
      </p:sp>
      <p:pic>
        <p:nvPicPr>
          <p:cNvPr id="6" name="Picture 5">
            <a:extLst>
              <a:ext uri="{FF2B5EF4-FFF2-40B4-BE49-F238E27FC236}">
                <a16:creationId xmlns:a16="http://schemas.microsoft.com/office/drawing/2014/main" id="{09779170-E5DC-DD4B-A33D-DD62837FBD3D}"/>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5038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a:solidFill>
            <a:srgbClr val="FFFF00"/>
          </a:solidFill>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Pressure the player with the ball to regain the ball or delay the opponents attack</a:t>
            </a:r>
          </a:p>
          <a:p>
            <a:pPr marL="285750" indent="-285750">
              <a:buFont typeface="Arial" panose="020B0604020202020204" pitchFamily="34" charset="0"/>
              <a:buChar char="•"/>
            </a:pPr>
            <a:r>
              <a:rPr lang="en-US" sz="1200" dirty="0">
                <a:solidFill>
                  <a:schemeClr val="bg1"/>
                </a:solidFill>
              </a:rPr>
              <a:t>Deny penetration, prevent crosses in 1v1 situations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Monitor organization &amp; coach fellow defenders &amp; wide forward where necessary</a:t>
            </a:r>
          </a:p>
          <a:p>
            <a:pPr marL="285750" indent="-285750">
              <a:buFont typeface="Arial" panose="020B0604020202020204" pitchFamily="34" charset="0"/>
              <a:buChar char="•"/>
            </a:pPr>
            <a:r>
              <a:rPr lang="en-US" sz="1200" dirty="0">
                <a:solidFill>
                  <a:schemeClr val="bg1"/>
                </a:solidFill>
              </a:rPr>
              <a:t>Move centrally to provide cover &amp; balance when ball is on opposite side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reposition to intercept passes while monitoring opponent</a:t>
            </a:r>
          </a:p>
        </p:txBody>
      </p:sp>
      <p:sp>
        <p:nvSpPr>
          <p:cNvPr id="8" name="TextBox 7"/>
          <p:cNvSpPr txBox="1"/>
          <p:nvPr/>
        </p:nvSpPr>
        <p:spPr>
          <a:xfrm>
            <a:off x="82251" y="2690336"/>
            <a:ext cx="5029200" cy="1477328"/>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Give quick support in space (forward &amp; wide)</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Move up with the defensive line, as part of a collective unit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Pass or dribble forward quickly to exploit the opponent if disorganized</a:t>
            </a:r>
          </a:p>
        </p:txBody>
      </p:sp>
      <p:sp>
        <p:nvSpPr>
          <p:cNvPr id="9" name="TextBox 8"/>
          <p:cNvSpPr txBox="1"/>
          <p:nvPr/>
        </p:nvSpPr>
        <p:spPr>
          <a:xfrm>
            <a:off x="7125702" y="2489154"/>
            <a:ext cx="5029200"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If farthest from the situation, drop back quickly to re-position with defensive line to provide balance</a:t>
            </a:r>
          </a:p>
          <a:p>
            <a:pPr marL="285750" indent="-285750">
              <a:buFont typeface="Arial" panose="020B0604020202020204" pitchFamily="34" charset="0"/>
              <a:buChar char="•"/>
            </a:pPr>
            <a:r>
              <a:rPr lang="en-US" sz="1200" dirty="0">
                <a:solidFill>
                  <a:schemeClr val="bg1"/>
                </a:solidFill>
              </a:rPr>
              <a:t>Based on situation, make decision to put pressure on the ball or drop with defensive line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a:t>
            </a:r>
          </a:p>
        </p:txBody>
      </p:sp>
      <p:sp>
        <p:nvSpPr>
          <p:cNvPr id="6" name="TextBox 5"/>
          <p:cNvSpPr txBox="1"/>
          <p:nvPr/>
        </p:nvSpPr>
        <p:spPr>
          <a:xfrm>
            <a:off x="106516" y="123110"/>
            <a:ext cx="2020529" cy="923330"/>
          </a:xfrm>
          <a:prstGeom prst="rect">
            <a:avLst/>
          </a:prstGeom>
          <a:solidFill>
            <a:srgbClr val="FFFF00"/>
          </a:solidFill>
        </p:spPr>
        <p:txBody>
          <a:bodyPr wrap="square" rtlCol="0">
            <a:spAutoFit/>
          </a:bodyPr>
          <a:lstStyle/>
          <a:p>
            <a:r>
              <a:rPr lang="en-US" dirty="0"/>
              <a:t>NO. 2, 3</a:t>
            </a:r>
          </a:p>
          <a:p>
            <a:r>
              <a:rPr lang="en-US" dirty="0"/>
              <a:t>Full Back</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to support wide &amp; high to receive ball and/or create space for teammates</a:t>
            </a:r>
          </a:p>
          <a:p>
            <a:pPr marL="285750" indent="-285750">
              <a:buFont typeface="Arial" panose="020B0604020202020204" pitchFamily="34" charset="0"/>
              <a:buChar char="•"/>
            </a:pPr>
            <a:r>
              <a:rPr lang="en-US" sz="1200" dirty="0">
                <a:solidFill>
                  <a:schemeClr val="bg1"/>
                </a:solidFill>
              </a:rPr>
              <a:t>Pass forward (diagonal or behind) or hold the ball</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Support the attack wide &amp; with runs behind</a:t>
            </a:r>
          </a:p>
          <a:p>
            <a:pPr marL="285750" indent="-285750">
              <a:buFont typeface="Arial" panose="020B0604020202020204" pitchFamily="34" charset="0"/>
              <a:buChar char="•"/>
            </a:pPr>
            <a:r>
              <a:rPr lang="en-US" sz="1200" dirty="0">
                <a:solidFill>
                  <a:schemeClr val="bg1"/>
                </a:solidFill>
              </a:rPr>
              <a:t>Provide balance to take preventive defensive action when team is in possession/attacking on opposite side, and monitor/organize (coach) teammates from this position.</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Pass or dribble forward, create 1v1 or 2v1 with (e.g. overlapping runs)</a:t>
            </a:r>
          </a:p>
          <a:p>
            <a:pPr marL="285750" indent="-285750">
              <a:buFont typeface="Arial" panose="020B0604020202020204" pitchFamily="34" charset="0"/>
              <a:buChar char="•"/>
            </a:pPr>
            <a:r>
              <a:rPr lang="en-US" sz="1200" dirty="0">
                <a:solidFill>
                  <a:schemeClr val="bg1"/>
                </a:solidFill>
              </a:rPr>
              <a:t>Play the early cross when there is space behind the defensive line</a:t>
            </a:r>
          </a:p>
        </p:txBody>
      </p:sp>
      <p:pic>
        <p:nvPicPr>
          <p:cNvPr id="24" name="Picture 23">
            <a:extLst>
              <a:ext uri="{FF2B5EF4-FFF2-40B4-BE49-F238E27FC236}">
                <a16:creationId xmlns:a16="http://schemas.microsoft.com/office/drawing/2014/main" id="{4E687246-6695-E046-BDDB-822B576B7612}"/>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3408918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56190" cy="1415772"/>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300" dirty="0">
                <a:solidFill>
                  <a:schemeClr val="bg1"/>
                </a:solidFill>
                <a:uFillTx/>
                <a:latin typeface="Calibri" charset="0"/>
              </a:rPr>
              <a:t>Disorganize opponent</a:t>
            </a:r>
          </a:p>
          <a:p>
            <a:pPr marL="457200" indent="-457200">
              <a:buChar char="•"/>
            </a:pPr>
            <a:r>
              <a:rPr lang="en-US" sz="1300" dirty="0">
                <a:solidFill>
                  <a:schemeClr val="bg1"/>
                </a:solidFill>
                <a:uFillTx/>
                <a:latin typeface="Calibri" charset="0"/>
              </a:rPr>
              <a:t>Create overloads  </a:t>
            </a:r>
          </a:p>
          <a:p>
            <a:pPr marL="457200" indent="-457200">
              <a:buChar char="•"/>
            </a:pPr>
            <a:r>
              <a:rPr lang="en-US" sz="1300" dirty="0">
                <a:solidFill>
                  <a:schemeClr val="bg1"/>
                </a:solidFill>
                <a:uFillTx/>
                <a:latin typeface="Calibri" charset="0"/>
              </a:rPr>
              <a:t>Counter movements to create space</a:t>
            </a:r>
          </a:p>
          <a:p>
            <a:pPr marL="457200" indent="-457200">
              <a:buChar char="•"/>
            </a:pPr>
            <a:r>
              <a:rPr lang="en-US" sz="1300" dirty="0">
                <a:solidFill>
                  <a:schemeClr val="bg1"/>
                </a:solidFill>
                <a:uFillTx/>
                <a:latin typeface="Calibri" charset="0"/>
              </a:rPr>
              <a:t>Dribble the ball forward when no pressure </a:t>
            </a:r>
          </a:p>
          <a:p>
            <a:pPr marL="457200" indent="-457200">
              <a:buChar char="•"/>
            </a:pPr>
            <a:r>
              <a:rPr lang="en-US" sz="1300" dirty="0">
                <a:solidFill>
                  <a:schemeClr val="bg1"/>
                </a:solidFill>
                <a:uFillTx/>
                <a:latin typeface="Calibri" charset="0"/>
              </a:rPr>
              <a:t>Overload one side to exploit the other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300" dirty="0">
                <a:solidFill>
                  <a:schemeClr val="bg1"/>
                </a:solidFill>
                <a:uFillTx/>
                <a:latin typeface="Calibri" charset="0"/>
              </a:rPr>
              <a:t>Create overloads</a:t>
            </a:r>
          </a:p>
          <a:p>
            <a:pPr marL="457200" indent="-457200">
              <a:buChar char="•"/>
            </a:pPr>
            <a:r>
              <a:rPr lang="en-US" sz="1300" dirty="0">
                <a:solidFill>
                  <a:schemeClr val="bg1"/>
                </a:solidFill>
                <a:uFillTx/>
                <a:latin typeface="Calibri" charset="0"/>
              </a:rPr>
              <a:t>Disorganize opponent </a:t>
            </a:r>
          </a:p>
          <a:p>
            <a:pPr marL="457200" indent="-457200">
              <a:buChar char="•"/>
            </a:pPr>
            <a:r>
              <a:rPr lang="en-US" sz="1300" dirty="0">
                <a:solidFill>
                  <a:schemeClr val="bg1"/>
                </a:solidFill>
                <a:uFillTx/>
                <a:latin typeface="Calibri" charset="0"/>
              </a:rPr>
              <a:t>Counter movements to create space </a:t>
            </a:r>
          </a:p>
          <a:p>
            <a:pPr marL="457200" indent="-457200">
              <a:buChar char="•"/>
            </a:pPr>
            <a:r>
              <a:rPr lang="en-US" sz="1300" dirty="0">
                <a:solidFill>
                  <a:schemeClr val="bg1"/>
                </a:solidFill>
                <a:uFillTx/>
                <a:latin typeface="Calibri" charset="0"/>
              </a:rPr>
              <a:t>Overload one side to exploit the other </a:t>
            </a:r>
          </a:p>
          <a:p>
            <a:pPr marL="457200" indent="-457200">
              <a:buChar char="•"/>
            </a:pPr>
            <a:r>
              <a:rPr lang="en-US" sz="1300" dirty="0">
                <a:solidFill>
                  <a:schemeClr val="bg1"/>
                </a:solidFill>
                <a:uFillTx/>
                <a:latin typeface="Calibri" charset="0"/>
              </a:rPr>
              <a:t>Movement centrally to provide double 6 </a:t>
            </a:r>
          </a:p>
          <a:p>
            <a:pPr marL="457200" indent="-457200">
              <a:buChar char="•"/>
            </a:pPr>
            <a:r>
              <a:rPr lang="en-US" sz="1300" dirty="0">
                <a:solidFill>
                  <a:schemeClr val="bg1"/>
                </a:solidFill>
                <a:uFillTx/>
                <a:latin typeface="Calibri" charset="0"/>
              </a:rPr>
              <a:t>Awareness of field position </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300" dirty="0">
                <a:solidFill>
                  <a:schemeClr val="bg1"/>
                </a:solidFill>
                <a:uFillTx/>
                <a:latin typeface="Calibri" charset="0"/>
              </a:rPr>
              <a:t>Create overloads</a:t>
            </a:r>
          </a:p>
          <a:p>
            <a:pPr marL="457200" indent="-457200">
              <a:buChar char="•"/>
            </a:pPr>
            <a:r>
              <a:rPr lang="en-US" sz="1300" dirty="0">
                <a:solidFill>
                  <a:schemeClr val="bg1"/>
                </a:solidFill>
                <a:uFillTx/>
                <a:latin typeface="Calibri" charset="0"/>
              </a:rPr>
              <a:t>Disorganize opponent </a:t>
            </a:r>
          </a:p>
          <a:p>
            <a:pPr marL="457200" indent="-457200">
              <a:buChar char="•"/>
            </a:pPr>
            <a:r>
              <a:rPr lang="en-US" sz="1300" dirty="0">
                <a:solidFill>
                  <a:schemeClr val="bg1"/>
                </a:solidFill>
                <a:uFillTx/>
                <a:latin typeface="Calibri" charset="0"/>
              </a:rPr>
              <a:t>Eliminate defenders with pass or dribble</a:t>
            </a:r>
          </a:p>
          <a:p>
            <a:pPr marL="457200" indent="-457200">
              <a:buChar char="•"/>
            </a:pPr>
            <a:r>
              <a:rPr lang="en-US" sz="1300" dirty="0">
                <a:solidFill>
                  <a:schemeClr val="bg1"/>
                </a:solidFill>
                <a:uFillTx/>
                <a:latin typeface="Calibri" charset="0"/>
              </a:rPr>
              <a:t>Crossing from variety of positions </a:t>
            </a:r>
          </a:p>
          <a:p>
            <a:pPr marL="457200" indent="-457200">
              <a:buChar char="•"/>
            </a:pPr>
            <a:r>
              <a:rPr lang="en-US" sz="1300" dirty="0">
                <a:solidFill>
                  <a:schemeClr val="bg1"/>
                </a:solidFill>
                <a:uFillTx/>
                <a:latin typeface="Calibri" charset="0"/>
              </a:rPr>
              <a:t>Dynamic attacking runs behind opponent</a:t>
            </a:r>
          </a:p>
          <a:p>
            <a:pPr marL="457200" indent="-457200">
              <a:buChar char="•"/>
            </a:pPr>
            <a:r>
              <a:rPr lang="en-US" sz="1300" dirty="0">
                <a:solidFill>
                  <a:schemeClr val="bg1"/>
                </a:solidFill>
                <a:uFillTx/>
                <a:latin typeface="Calibri" charset="0"/>
              </a:rPr>
              <a:t>Shooting from outside the box </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28" name="Isosceles Triangle 27"/>
          <p:cNvSpPr>
            <a:spLocks noChangeAspect="1"/>
          </p:cNvSpPr>
          <p:nvPr/>
        </p:nvSpPr>
        <p:spPr>
          <a:xfrm>
            <a:off x="1420395" y="569038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29" name="Isosceles Triangle 28"/>
          <p:cNvSpPr>
            <a:spLocks noChangeAspect="1"/>
          </p:cNvSpPr>
          <p:nvPr/>
        </p:nvSpPr>
        <p:spPr>
          <a:xfrm>
            <a:off x="4050734" y="594819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37" name="Straight Arrow Connector 36"/>
          <p:cNvCxnSpPr/>
          <p:nvPr/>
        </p:nvCxnSpPr>
        <p:spPr>
          <a:xfrm flipH="1" flipV="1">
            <a:off x="3363812" y="5097554"/>
            <a:ext cx="714559" cy="88563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H="1" flipV="1">
            <a:off x="3712106" y="6038186"/>
            <a:ext cx="317860" cy="4470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V="1">
            <a:off x="4196909" y="4962400"/>
            <a:ext cx="8172" cy="97734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V="1">
            <a:off x="1639493" y="5638899"/>
            <a:ext cx="245388" cy="1434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V="1">
            <a:off x="1532070" y="5074214"/>
            <a:ext cx="0" cy="564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1" name="Freeform 60"/>
          <p:cNvSpPr>
            <a:spLocks/>
          </p:cNvSpPr>
          <p:nvPr/>
        </p:nvSpPr>
        <p:spPr>
          <a:xfrm>
            <a:off x="4047558" y="5183425"/>
            <a:ext cx="90481" cy="727108"/>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46" name="Straight Arrow Connector 45"/>
          <p:cNvCxnSpPr/>
          <p:nvPr/>
        </p:nvCxnSpPr>
        <p:spPr>
          <a:xfrm>
            <a:off x="1550959" y="5902326"/>
            <a:ext cx="88534" cy="2717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3" name="Isosceles Triangle 52"/>
          <p:cNvSpPr>
            <a:spLocks noChangeAspect="1"/>
          </p:cNvSpPr>
          <p:nvPr/>
        </p:nvSpPr>
        <p:spPr>
          <a:xfrm>
            <a:off x="5174977" y="444357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cxnSp>
        <p:nvCxnSpPr>
          <p:cNvPr id="54" name="Straight Arrow Connector 53"/>
          <p:cNvCxnSpPr/>
          <p:nvPr/>
        </p:nvCxnSpPr>
        <p:spPr>
          <a:xfrm flipV="1">
            <a:off x="5394075" y="4119418"/>
            <a:ext cx="315832" cy="41609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flipV="1">
            <a:off x="5283200" y="3500582"/>
            <a:ext cx="3452" cy="89150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62" name="Isosceles Triangle 61"/>
          <p:cNvSpPr>
            <a:spLocks noChangeAspect="1"/>
          </p:cNvSpPr>
          <p:nvPr/>
        </p:nvSpPr>
        <p:spPr>
          <a:xfrm>
            <a:off x="7821347" y="455277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73" name="Straight Arrow Connector 72"/>
          <p:cNvCxnSpPr/>
          <p:nvPr/>
        </p:nvCxnSpPr>
        <p:spPr>
          <a:xfrm flipH="1" flipV="1">
            <a:off x="7104565" y="3788005"/>
            <a:ext cx="744420" cy="79976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7967522" y="3566980"/>
            <a:ext cx="8172" cy="97734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78" name="Freeform 77"/>
          <p:cNvSpPr>
            <a:spLocks/>
          </p:cNvSpPr>
          <p:nvPr/>
        </p:nvSpPr>
        <p:spPr>
          <a:xfrm>
            <a:off x="7818171" y="3788005"/>
            <a:ext cx="90481" cy="727108"/>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85" name="Isosceles Triangle 84"/>
          <p:cNvSpPr>
            <a:spLocks noChangeAspect="1"/>
          </p:cNvSpPr>
          <p:nvPr/>
        </p:nvSpPr>
        <p:spPr>
          <a:xfrm>
            <a:off x="8809486" y="321308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cxnSp>
        <p:nvCxnSpPr>
          <p:cNvPr id="86" name="Straight Arrow Connector 85"/>
          <p:cNvCxnSpPr/>
          <p:nvPr/>
        </p:nvCxnSpPr>
        <p:spPr>
          <a:xfrm flipV="1">
            <a:off x="9028584" y="2888926"/>
            <a:ext cx="315832" cy="41609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flipV="1">
            <a:off x="8921161" y="2410691"/>
            <a:ext cx="112003" cy="75090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a:off x="8984317" y="3465105"/>
            <a:ext cx="202183" cy="23163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91" name="Isosceles Triangle 90"/>
          <p:cNvSpPr>
            <a:spLocks noChangeAspect="1"/>
          </p:cNvSpPr>
          <p:nvPr/>
        </p:nvSpPr>
        <p:spPr>
          <a:xfrm>
            <a:off x="11446620" y="298142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sp>
        <p:nvSpPr>
          <p:cNvPr id="93" name="Freeform 92"/>
          <p:cNvSpPr>
            <a:spLocks/>
          </p:cNvSpPr>
          <p:nvPr/>
        </p:nvSpPr>
        <p:spPr>
          <a:xfrm rot="-780000">
            <a:off x="11446567" y="2410226"/>
            <a:ext cx="91440" cy="533072"/>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95" name="Freeform 94"/>
          <p:cNvSpPr>
            <a:spLocks/>
          </p:cNvSpPr>
          <p:nvPr/>
        </p:nvSpPr>
        <p:spPr>
          <a:xfrm rot="-3660000">
            <a:off x="11197415" y="2725855"/>
            <a:ext cx="91440" cy="533072"/>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26" name="Arc 25"/>
          <p:cNvSpPr>
            <a:spLocks/>
          </p:cNvSpPr>
          <p:nvPr/>
        </p:nvSpPr>
        <p:spPr>
          <a:xfrm>
            <a:off x="9421557" y="2476711"/>
            <a:ext cx="2025063" cy="976481"/>
          </a:xfrm>
          <a:prstGeom prst="arc">
            <a:avLst>
              <a:gd name="adj1" fmla="val 15483837"/>
              <a:gd name="adj2" fmla="val 32590"/>
            </a:avLst>
          </a:prstGeom>
          <a:ln>
            <a:solidFill>
              <a:schemeClr val="tx1"/>
            </a:solidFill>
            <a:headEnd type="triangle" w="med" len="med"/>
            <a:tailEnd type="non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
        <p:nvSpPr>
          <p:cNvPr id="38" name="TextBox 37"/>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#2/3</a:t>
            </a:r>
          </a:p>
          <a:p>
            <a:pPr algn="ctr"/>
            <a:r>
              <a:rPr lang="en-US" sz="2400" dirty="0">
                <a:solidFill>
                  <a:srgbClr val="CC9900"/>
                </a:solidFill>
                <a:uFillTx/>
              </a:rPr>
              <a:t>(FB)</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1001180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8328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Block crosses/shots </a:t>
            </a:r>
          </a:p>
          <a:p>
            <a:pPr marL="457200" indent="-457200">
              <a:buChar char="•"/>
            </a:pPr>
            <a:r>
              <a:rPr lang="en-US" sz="1200" dirty="0">
                <a:solidFill>
                  <a:schemeClr val="bg1"/>
                </a:solidFill>
                <a:uFillTx/>
              </a:rPr>
              <a:t>Limit opponent's entry into our box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a:t>
            </a:r>
          </a:p>
          <a:p>
            <a:pPr marL="457200" indent="-457200">
              <a:buChar char="•"/>
            </a:pPr>
            <a:r>
              <a:rPr lang="en-US" sz="1200" dirty="0">
                <a:solidFill>
                  <a:schemeClr val="bg1"/>
                </a:solidFill>
                <a:uFillTx/>
              </a:rPr>
              <a:t>Intercept and recover the ball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 </a:t>
            </a:r>
          </a:p>
          <a:p>
            <a:pPr marL="457200" indent="-457200">
              <a:buChar char="•"/>
            </a:pPr>
            <a:r>
              <a:rPr lang="en-US" sz="1200" dirty="0">
                <a:solidFill>
                  <a:schemeClr val="bg1"/>
                </a:solidFill>
                <a:uFillTx/>
              </a:rPr>
              <a:t>Angle of approach to force wide </a:t>
            </a:r>
          </a:p>
        </p:txBody>
      </p:sp>
      <p:sp>
        <p:nvSpPr>
          <p:cNvPr id="6" name="TextBox 5"/>
          <p:cNvSpPr txBox="1">
            <a:spLocks/>
          </p:cNvSpPr>
          <p:nvPr/>
        </p:nvSpPr>
        <p:spPr>
          <a:xfrm>
            <a:off x="8547850" y="0"/>
            <a:ext cx="3383279" cy="1261884"/>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 </a:t>
            </a:r>
            <a:endParaRPr lang="en-US" sz="1600" b="1" u="sng" dirty="0">
              <a:solidFill>
                <a:schemeClr val="bg1"/>
              </a:solidFill>
              <a:uFillTx/>
            </a:endParaRP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a:t>
            </a:r>
          </a:p>
          <a:p>
            <a:pPr marL="457200" indent="-457200">
              <a:buChar char="•"/>
            </a:pPr>
            <a:r>
              <a:rPr lang="en-US" sz="1200" dirty="0">
                <a:solidFill>
                  <a:schemeClr val="bg1"/>
                </a:solidFill>
                <a:uFillTx/>
              </a:rPr>
              <a:t>Communication to teammates in front </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Intercept and recover the ball </a:t>
            </a:r>
          </a:p>
        </p:txBody>
      </p:sp>
      <p:pic>
        <p:nvPicPr>
          <p:cNvPr id="34"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4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pic>
        <p:nvPicPr>
          <p:cNvPr id="5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28" name="Isosceles Triangle 27"/>
          <p:cNvSpPr>
            <a:spLocks noChangeAspect="1"/>
          </p:cNvSpPr>
          <p:nvPr/>
        </p:nvSpPr>
        <p:spPr>
          <a:xfrm>
            <a:off x="1587537" y="5792681"/>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29" name="Isosceles Triangle 28"/>
          <p:cNvSpPr>
            <a:spLocks noChangeAspect="1"/>
          </p:cNvSpPr>
          <p:nvPr/>
        </p:nvSpPr>
        <p:spPr>
          <a:xfrm>
            <a:off x="3722563" y="586721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55" name="Straight Arrow Connector 54"/>
          <p:cNvCxnSpPr/>
          <p:nvPr/>
        </p:nvCxnSpPr>
        <p:spPr>
          <a:xfrm>
            <a:off x="1642879" y="6069188"/>
            <a:ext cx="154636" cy="38250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1393822" y="5630603"/>
            <a:ext cx="202693" cy="23156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cxnSp>
        <p:nvCxnSpPr>
          <p:cNvPr id="51" name="Straight Arrow Connector 50"/>
          <p:cNvCxnSpPr/>
          <p:nvPr/>
        </p:nvCxnSpPr>
        <p:spPr>
          <a:xfrm>
            <a:off x="1791070" y="6099258"/>
            <a:ext cx="364096" cy="21200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1771427" y="5875380"/>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725103" y="6116328"/>
            <a:ext cx="110557" cy="30012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3896119" y="5792681"/>
            <a:ext cx="184295" cy="16759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H="1">
            <a:off x="3386276" y="6076354"/>
            <a:ext cx="313540" cy="20576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3363978" y="5949137"/>
            <a:ext cx="358136" cy="92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flipH="1" flipV="1">
            <a:off x="7186980" y="5217666"/>
            <a:ext cx="364835" cy="1246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flipH="1">
            <a:off x="7542395" y="5481574"/>
            <a:ext cx="106070" cy="26481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7663636" y="4631985"/>
            <a:ext cx="81479" cy="58568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9" name="Straight Arrow Connector 78"/>
          <p:cNvCxnSpPr/>
          <p:nvPr/>
        </p:nvCxnSpPr>
        <p:spPr>
          <a:xfrm>
            <a:off x="5559619" y="5511933"/>
            <a:ext cx="106071" cy="30321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flipV="1">
            <a:off x="5666087" y="5275674"/>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86" name="Straight Arrow Connector 85"/>
          <p:cNvCxnSpPr/>
          <p:nvPr/>
        </p:nvCxnSpPr>
        <p:spPr>
          <a:xfrm flipH="1" flipV="1">
            <a:off x="5327105" y="4567744"/>
            <a:ext cx="209044" cy="6532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0" name="Isosceles Triangle 49"/>
          <p:cNvSpPr>
            <a:spLocks noChangeAspect="1"/>
          </p:cNvSpPr>
          <p:nvPr/>
        </p:nvSpPr>
        <p:spPr>
          <a:xfrm>
            <a:off x="5453549" y="523955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54" name="Isosceles Triangle 53"/>
          <p:cNvSpPr>
            <a:spLocks noChangeAspect="1"/>
          </p:cNvSpPr>
          <p:nvPr/>
        </p:nvSpPr>
        <p:spPr>
          <a:xfrm>
            <a:off x="7542395" y="524020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cxnSp>
        <p:nvCxnSpPr>
          <p:cNvPr id="64" name="Straight Arrow Connector 63"/>
          <p:cNvCxnSpPr/>
          <p:nvPr/>
        </p:nvCxnSpPr>
        <p:spPr>
          <a:xfrm flipH="1" flipV="1">
            <a:off x="10923089" y="4270939"/>
            <a:ext cx="364835" cy="1246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flipV="1">
            <a:off x="11456082" y="4127658"/>
            <a:ext cx="99642" cy="23625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V="1">
            <a:off x="11353003" y="3685258"/>
            <a:ext cx="56337" cy="58568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9" name="Straight Arrow Connector 68"/>
          <p:cNvCxnSpPr/>
          <p:nvPr/>
        </p:nvCxnSpPr>
        <p:spPr>
          <a:xfrm flipH="1" flipV="1">
            <a:off x="8999480" y="4127658"/>
            <a:ext cx="232514" cy="23625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0" name="Straight Arrow Connector 69"/>
          <p:cNvCxnSpPr/>
          <p:nvPr/>
        </p:nvCxnSpPr>
        <p:spPr>
          <a:xfrm flipV="1">
            <a:off x="9402196" y="4328947"/>
            <a:ext cx="309372" cy="6994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flipH="1" flipV="1">
            <a:off x="9212375" y="3685258"/>
            <a:ext cx="59883" cy="58899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72" name="Isosceles Triangle 71"/>
          <p:cNvSpPr>
            <a:spLocks noChangeAspect="1"/>
          </p:cNvSpPr>
          <p:nvPr/>
        </p:nvSpPr>
        <p:spPr>
          <a:xfrm>
            <a:off x="9189658" y="429282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3</a:t>
            </a:r>
          </a:p>
        </p:txBody>
      </p:sp>
      <p:sp>
        <p:nvSpPr>
          <p:cNvPr id="73" name="Isosceles Triangle 72"/>
          <p:cNvSpPr>
            <a:spLocks noChangeAspect="1"/>
          </p:cNvSpPr>
          <p:nvPr/>
        </p:nvSpPr>
        <p:spPr>
          <a:xfrm>
            <a:off x="11278504" y="429347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2</a:t>
            </a:r>
          </a:p>
        </p:txBody>
      </p:sp>
      <p:sp>
        <p:nvSpPr>
          <p:cNvPr id="40" name="TextBox 39"/>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#2/3</a:t>
            </a:r>
          </a:p>
          <a:p>
            <a:pPr algn="ctr"/>
            <a:r>
              <a:rPr lang="en-US" sz="2400" dirty="0">
                <a:solidFill>
                  <a:srgbClr val="CC9900"/>
                </a:solidFill>
                <a:uFillTx/>
              </a:rPr>
              <a:t>(FB)</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Tree>
    <p:extLst>
      <p:ext uri="{BB962C8B-B14F-4D97-AF65-F5344CB8AC3E}">
        <p14:creationId xmlns:p14="http://schemas.microsoft.com/office/powerpoint/2010/main" val="853282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6017" y="1"/>
            <a:ext cx="12409715" cy="6858000"/>
          </a:xfrm>
          <a:prstGeom prst="rect">
            <a:avLst/>
          </a:prstGeom>
        </p:spPr>
      </p:pic>
      <p:sp>
        <p:nvSpPr>
          <p:cNvPr id="3" name="TextBox 2"/>
          <p:cNvSpPr txBox="1">
            <a:spLocks/>
          </p:cNvSpPr>
          <p:nvPr/>
        </p:nvSpPr>
        <p:spPr>
          <a:xfrm>
            <a:off x="1521807" y="180929"/>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1840873" y="1936283"/>
            <a:ext cx="7621254" cy="3477875"/>
          </a:xfrm>
          <a:prstGeom prst="rect">
            <a:avLst/>
          </a:prstGeom>
          <a:noFill/>
        </p:spPr>
        <p:txBody>
          <a:bodyPr wrap="none" rtlCol="0">
            <a:spAutoFit/>
          </a:bodyPr>
          <a:lstStyle/>
          <a:p>
            <a:r>
              <a:rPr lang="en-US" sz="6000" dirty="0">
                <a:solidFill>
                  <a:schemeClr val="bg1"/>
                </a:solidFill>
                <a:uFillTx/>
              </a:rPr>
              <a:t>#6 Defensive Midfielder</a:t>
            </a:r>
          </a:p>
          <a:p>
            <a:pPr marL="857250" indent="-857250">
              <a:buFont typeface="Arial" panose="020B0604020202020204" pitchFamily="34" charset="0"/>
              <a:buChar char="•"/>
            </a:pPr>
            <a:r>
              <a:rPr lang="en-US" sz="3200" dirty="0">
                <a:solidFill>
                  <a:schemeClr val="bg1"/>
                </a:solidFill>
                <a:uFillTx/>
              </a:rPr>
              <a:t>Strong Tackling Ability</a:t>
            </a:r>
          </a:p>
          <a:p>
            <a:pPr marL="857250" indent="-857250">
              <a:buFont typeface="Arial" panose="020B0604020202020204" pitchFamily="34" charset="0"/>
              <a:buChar char="•"/>
            </a:pPr>
            <a:r>
              <a:rPr lang="en-US" sz="3200" dirty="0">
                <a:solidFill>
                  <a:schemeClr val="bg1"/>
                </a:solidFill>
                <a:uFillTx/>
              </a:rPr>
              <a:t>Athletic</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Accurate, Efficient Distribution</a:t>
            </a:r>
          </a:p>
          <a:p>
            <a:pPr marL="857250" indent="-857250">
              <a:buFont typeface="Arial" panose="020B0604020202020204" pitchFamily="34" charset="0"/>
              <a:buChar char="•"/>
            </a:pPr>
            <a:r>
              <a:rPr lang="en-US" sz="3200" dirty="0">
                <a:solidFill>
                  <a:schemeClr val="bg1"/>
                </a:solidFill>
              </a:rPr>
              <a:t>Control/Dictate tempo of the game</a:t>
            </a:r>
            <a:endParaRPr lang="en-US" sz="3200" dirty="0">
              <a:solidFill>
                <a:schemeClr val="bg1"/>
              </a:solidFill>
              <a:uFillTx/>
            </a:endParaRPr>
          </a:p>
        </p:txBody>
      </p:sp>
      <p:pic>
        <p:nvPicPr>
          <p:cNvPr id="6" name="Picture 5">
            <a:extLst>
              <a:ext uri="{FF2B5EF4-FFF2-40B4-BE49-F238E27FC236}">
                <a16:creationId xmlns:a16="http://schemas.microsoft.com/office/drawing/2014/main" id="{830789DA-4762-E84C-B29B-6E3460E941BD}"/>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864515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Make decision to switch from zonal marking to player tracking (also in middle third)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defend the opponent &amp; passing lanes/central space in front of center backs</a:t>
            </a:r>
          </a:p>
          <a:p>
            <a:pPr marL="285750" indent="-285750">
              <a:buFont typeface="Arial" panose="020B0604020202020204" pitchFamily="34" charset="0"/>
              <a:buChar char="•"/>
            </a:pPr>
            <a:r>
              <a:rPr lang="en-US" sz="1200" dirty="0">
                <a:solidFill>
                  <a:schemeClr val="bg1"/>
                </a:solidFill>
              </a:rPr>
              <a:t>Pressure the ball &amp; help teammates to outnumber opponent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Organize (coach) teammates where necessary to make/keep team compact</a:t>
            </a:r>
          </a:p>
          <a:p>
            <a:pPr marL="285750" indent="-285750">
              <a:buFont typeface="Arial" panose="020B0604020202020204" pitchFamily="34" charset="0"/>
              <a:buChar char="•"/>
            </a:pPr>
            <a:r>
              <a:rPr lang="en-US" sz="1200" dirty="0">
                <a:solidFill>
                  <a:schemeClr val="bg1"/>
                </a:solidFill>
              </a:rPr>
              <a:t>Deny penetration in 1v1 situations</a:t>
            </a:r>
          </a:p>
        </p:txBody>
      </p:sp>
      <p:sp>
        <p:nvSpPr>
          <p:cNvPr id="8" name="TextBox 7"/>
          <p:cNvSpPr txBox="1"/>
          <p:nvPr/>
        </p:nvSpPr>
        <p:spPr>
          <a:xfrm>
            <a:off x="82251" y="2690336"/>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 &amp; wide</a:t>
            </a:r>
          </a:p>
          <a:p>
            <a:pPr marL="285750" indent="-285750">
              <a:buFont typeface="Arial" panose="020B0604020202020204" pitchFamily="34" charset="0"/>
              <a:buChar char="•"/>
            </a:pPr>
            <a:r>
              <a:rPr lang="en-US" sz="1200" dirty="0">
                <a:solidFill>
                  <a:schemeClr val="bg1"/>
                </a:solidFill>
              </a:rPr>
              <a:t>Make diagonal passes forward or dribble to create 2v1</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 &amp; manage the pace of the game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one</a:t>
            </a:r>
          </a:p>
        </p:txBody>
      </p:sp>
      <p:sp>
        <p:nvSpPr>
          <p:cNvPr id="9" name="TextBox 8"/>
          <p:cNvSpPr txBox="1"/>
          <p:nvPr/>
        </p:nvSpPr>
        <p:spPr>
          <a:xfrm>
            <a:off x="7007578" y="2658069"/>
            <a:ext cx="5029200"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when team is disorganized, or drop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to take preventive defensive action</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6</a:t>
            </a:r>
          </a:p>
          <a:p>
            <a:r>
              <a:rPr lang="en-US" dirty="0"/>
              <a:t>Defensive Midfielder</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400657"/>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in central areas to support diagonally in spaces between the lines in order to receive ball &amp; play forward and/or to create space for teammate</a:t>
            </a:r>
          </a:p>
          <a:p>
            <a:pPr marL="285750" indent="-285750">
              <a:buFont typeface="Arial" panose="020B0604020202020204" pitchFamily="34" charset="0"/>
              <a:buChar char="•"/>
            </a:pPr>
            <a:r>
              <a:rPr lang="en-US" sz="1200" dirty="0">
                <a:solidFill>
                  <a:schemeClr val="bg1"/>
                </a:solidFill>
              </a:rPr>
              <a:t>Position to support if the ball cannot be played forward &amp; make diagonal passes to unbalance or destabilize the opponent</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Align movements with other central midfielders/rotate positions &amp; triangulate</a:t>
            </a:r>
          </a:p>
          <a:p>
            <a:pPr marL="285750" indent="-285750">
              <a:buFont typeface="Arial" panose="020B0604020202020204" pitchFamily="34" charset="0"/>
              <a:buChar char="•"/>
            </a:pPr>
            <a:r>
              <a:rPr lang="en-US" sz="1200" dirty="0">
                <a:solidFill>
                  <a:schemeClr val="bg1"/>
                </a:solidFill>
              </a:rPr>
              <a:t>Dribble forward when there is no passing option &amp; there is open space, look to create 2v1, switch the field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Support the attack with forward runs &amp; scoring goals</a:t>
            </a:r>
          </a:p>
          <a:p>
            <a:pPr marL="285750" indent="-285750">
              <a:buFont typeface="Arial" panose="020B0604020202020204" pitchFamily="34" charset="0"/>
              <a:buChar char="•"/>
            </a:pPr>
            <a:r>
              <a:rPr lang="en-US" sz="1200" dirty="0">
                <a:solidFill>
                  <a:schemeClr val="bg1"/>
                </a:solidFill>
              </a:rPr>
              <a:t>Position to take preventive defensive action</a:t>
            </a:r>
          </a:p>
        </p:txBody>
      </p:sp>
      <p:pic>
        <p:nvPicPr>
          <p:cNvPr id="24" name="Picture 23">
            <a:extLst>
              <a:ext uri="{FF2B5EF4-FFF2-40B4-BE49-F238E27FC236}">
                <a16:creationId xmlns:a16="http://schemas.microsoft.com/office/drawing/2014/main" id="{DF8EF5B5-E0BA-6C48-9F66-DDE5A3BF1073}"/>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9339548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15"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17"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35" name="Freeform 34"/>
          <p:cNvSpPr>
            <a:spLocks/>
          </p:cNvSpPr>
          <p:nvPr/>
        </p:nvSpPr>
        <p:spPr>
          <a:xfrm>
            <a:off x="6623273" y="4083626"/>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8" name="TextBox 7"/>
          <p:cNvSpPr txBox="1">
            <a:spLocks/>
          </p:cNvSpPr>
          <p:nvPr/>
        </p:nvSpPr>
        <p:spPr>
          <a:xfrm>
            <a:off x="1108143" y="0"/>
            <a:ext cx="335619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a:t>
            </a:r>
          </a:p>
          <a:p>
            <a:pPr marL="457200" indent="-457200">
              <a:buChar char="•"/>
            </a:pPr>
            <a:r>
              <a:rPr lang="en-US" sz="1400" dirty="0">
                <a:solidFill>
                  <a:schemeClr val="bg1"/>
                </a:solidFill>
                <a:uFillTx/>
              </a:rPr>
              <a:t>Disorganize the opponent </a:t>
            </a:r>
          </a:p>
          <a:p>
            <a:pPr marL="457200" indent="-457200">
              <a:buChar char="•"/>
            </a:pPr>
            <a:r>
              <a:rPr lang="en-US" sz="1400" dirty="0">
                <a:solidFill>
                  <a:schemeClr val="bg1"/>
                </a:solidFill>
                <a:uFillTx/>
              </a:rPr>
              <a:t>Create diamond shape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Eliminate defenders with pass </a:t>
            </a:r>
          </a:p>
          <a:p>
            <a:pPr marL="457200" indent="-457200">
              <a:buChar char="•"/>
            </a:pPr>
            <a:r>
              <a:rPr lang="en-US" sz="1400" dirty="0">
                <a:solidFill>
                  <a:schemeClr val="bg1"/>
                </a:solidFill>
                <a:uFillTx/>
              </a:rPr>
              <a:t>Awareness of position on the field </a:t>
            </a:r>
          </a:p>
          <a:p>
            <a:pPr marL="457200" indent="-457200">
              <a:buChar char="•"/>
            </a:pPr>
            <a:r>
              <a:rPr lang="en-US" sz="1400" dirty="0">
                <a:solidFill>
                  <a:schemeClr val="bg1"/>
                </a:solidFill>
                <a:uFillTx/>
              </a:rPr>
              <a:t>Awareness of space to exploit </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Create diamond shape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Eliminate defenders with pass </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Overload one side to exploit the other</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Awareness of position on field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Overload one side to exploit the other </a:t>
            </a:r>
          </a:p>
          <a:p>
            <a:pPr marL="457200" indent="-457200">
              <a:buChar char="•"/>
            </a:pPr>
            <a:r>
              <a:rPr lang="en-US" sz="1400" dirty="0">
                <a:solidFill>
                  <a:schemeClr val="bg1"/>
                </a:solidFill>
                <a:uFillTx/>
              </a:rPr>
              <a:t>Shooting from outside the box </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28" name="Isosceles Triangle 27"/>
          <p:cNvSpPr>
            <a:spLocks noChangeAspect="1"/>
          </p:cNvSpPr>
          <p:nvPr/>
        </p:nvSpPr>
        <p:spPr>
          <a:xfrm>
            <a:off x="2680023" y="563889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36" name="Isosceles Triangle 35"/>
          <p:cNvSpPr>
            <a:spLocks noChangeAspect="1"/>
          </p:cNvSpPr>
          <p:nvPr/>
        </p:nvSpPr>
        <p:spPr>
          <a:xfrm>
            <a:off x="6486280" y="457138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16" name="TextBox 15"/>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#6</a:t>
            </a:r>
          </a:p>
          <a:p>
            <a:pPr algn="ctr"/>
            <a:r>
              <a:rPr lang="en-US" sz="2400" dirty="0">
                <a:solidFill>
                  <a:srgbClr val="CC9900"/>
                </a:solidFill>
                <a:uFillTx/>
              </a:rPr>
              <a:t>(DCM)</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grpSp>
        <p:nvGrpSpPr>
          <p:cNvPr id="13" name="Group 12"/>
          <p:cNvGrpSpPr/>
          <p:nvPr/>
        </p:nvGrpSpPr>
        <p:grpSpPr>
          <a:xfrm>
            <a:off x="1910481" y="4982294"/>
            <a:ext cx="1735619" cy="1200297"/>
            <a:chOff x="1910481" y="4982294"/>
            <a:chExt cx="1735619" cy="1200297"/>
          </a:xfrm>
        </p:grpSpPr>
        <p:cxnSp>
          <p:nvCxnSpPr>
            <p:cNvPr id="21" name="Straight Arrow Connector 20"/>
            <p:cNvCxnSpPr/>
            <p:nvPr/>
          </p:nvCxnSpPr>
          <p:spPr>
            <a:xfrm flipH="1" flipV="1">
              <a:off x="1910481" y="5021415"/>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a:off x="2136322" y="5837366"/>
              <a:ext cx="463279" cy="14581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786093" y="4982294"/>
              <a:ext cx="0" cy="564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2974198" y="5838567"/>
              <a:ext cx="334445" cy="9073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2866238" y="5043684"/>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a:off x="2778763" y="5929297"/>
              <a:ext cx="7330" cy="2532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54" name="Group 53"/>
          <p:cNvGrpSpPr/>
          <p:nvPr/>
        </p:nvGrpSpPr>
        <p:grpSpPr>
          <a:xfrm>
            <a:off x="5716711" y="3979641"/>
            <a:ext cx="1735619" cy="1191887"/>
            <a:chOff x="1910481" y="4990704"/>
            <a:chExt cx="1735619" cy="1191887"/>
          </a:xfrm>
        </p:grpSpPr>
        <p:cxnSp>
          <p:nvCxnSpPr>
            <p:cNvPr id="55" name="Straight Arrow Connector 54"/>
            <p:cNvCxnSpPr/>
            <p:nvPr/>
          </p:nvCxnSpPr>
          <p:spPr>
            <a:xfrm flipH="1" flipV="1">
              <a:off x="1910481" y="5021415"/>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2136322" y="5837366"/>
              <a:ext cx="463279" cy="14581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2786093" y="4990704"/>
              <a:ext cx="0" cy="56468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2974198" y="5838567"/>
              <a:ext cx="334445" cy="9073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V="1">
              <a:off x="2866238" y="5043684"/>
              <a:ext cx="779862" cy="64171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a:off x="2778763" y="5929297"/>
              <a:ext cx="7330" cy="2532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
        <p:nvSpPr>
          <p:cNvPr id="67" name="Isosceles Triangle 66"/>
          <p:cNvSpPr>
            <a:spLocks noChangeAspect="1"/>
          </p:cNvSpPr>
          <p:nvPr/>
        </p:nvSpPr>
        <p:spPr>
          <a:xfrm>
            <a:off x="10133417" y="3782342"/>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68" name="Freeform 67"/>
          <p:cNvSpPr>
            <a:spLocks/>
          </p:cNvSpPr>
          <p:nvPr/>
        </p:nvSpPr>
        <p:spPr>
          <a:xfrm>
            <a:off x="10191420" y="333340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grpSp>
        <p:nvGrpSpPr>
          <p:cNvPr id="69" name="Group 68"/>
          <p:cNvGrpSpPr/>
          <p:nvPr/>
        </p:nvGrpSpPr>
        <p:grpSpPr>
          <a:xfrm>
            <a:off x="9561261" y="3140905"/>
            <a:ext cx="1266066" cy="765496"/>
            <a:chOff x="2148132" y="4970017"/>
            <a:chExt cx="1266066" cy="765496"/>
          </a:xfrm>
        </p:grpSpPr>
        <p:cxnSp>
          <p:nvCxnSpPr>
            <p:cNvPr id="70" name="Straight Arrow Connector 69"/>
            <p:cNvCxnSpPr/>
            <p:nvPr/>
          </p:nvCxnSpPr>
          <p:spPr>
            <a:xfrm flipH="1" flipV="1">
              <a:off x="2148132" y="4970296"/>
              <a:ext cx="597860" cy="65526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flipH="1" flipV="1">
              <a:off x="2272077" y="5528277"/>
              <a:ext cx="390724" cy="170714"/>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2989916" y="5588493"/>
              <a:ext cx="299591" cy="14702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V="1">
              <a:off x="2866238" y="4970017"/>
              <a:ext cx="547960" cy="71538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43617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a:spLocks/>
          </p:cNvSpPr>
          <p:nvPr/>
        </p:nvSpPr>
        <p:spPr>
          <a:xfrm>
            <a:off x="1108143"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Recover ball </a:t>
            </a:r>
          </a:p>
          <a:p>
            <a:pPr marL="457200" indent="-457200">
              <a:buChar char="•"/>
            </a:pPr>
            <a:r>
              <a:rPr lang="en-US" sz="1200" dirty="0">
                <a:solidFill>
                  <a:schemeClr val="bg1"/>
                </a:solidFill>
                <a:uFillTx/>
              </a:rPr>
              <a:t>Limit central penetration (opponent ½ space) </a:t>
            </a:r>
          </a:p>
          <a:p>
            <a:pPr marL="457200" indent="-457200">
              <a:buChar char="•"/>
            </a:pPr>
            <a:r>
              <a:rPr lang="en-US" sz="1200" dirty="0">
                <a:solidFill>
                  <a:schemeClr val="bg1"/>
                </a:solidFill>
                <a:uFillTx/>
              </a:rPr>
              <a:t>Communication to teammates in front</a:t>
            </a:r>
          </a:p>
          <a:p>
            <a:pPr marL="457200" indent="-457200">
              <a:buChar char="•"/>
            </a:pPr>
            <a:r>
              <a:rPr lang="en-US" sz="1200" dirty="0">
                <a:solidFill>
                  <a:schemeClr val="bg1"/>
                </a:solidFill>
                <a:uFillTx/>
              </a:rPr>
              <a:t>Condense field when ball played backward </a:t>
            </a:r>
          </a:p>
          <a:p>
            <a:pPr marL="457200" indent="-457200">
              <a:buChar char="•"/>
            </a:pPr>
            <a:r>
              <a:rPr lang="en-US" sz="1200" dirty="0">
                <a:solidFill>
                  <a:schemeClr val="bg1"/>
                </a:solidFill>
                <a:uFillTx/>
              </a:rPr>
              <a:t>Communication to teammates in front </a:t>
            </a:r>
          </a:p>
        </p:txBody>
      </p:sp>
      <p:sp>
        <p:nvSpPr>
          <p:cNvPr id="5" name="TextBox 4"/>
          <p:cNvSpPr txBox="1">
            <a:spLocks/>
          </p:cNvSpPr>
          <p:nvPr/>
        </p:nvSpPr>
        <p:spPr>
          <a:xfrm>
            <a:off x="4892881"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play predictable  </a:t>
            </a:r>
          </a:p>
          <a:p>
            <a:pPr marL="457200" indent="-457200">
              <a:buChar char="•"/>
            </a:pPr>
            <a:r>
              <a:rPr lang="en-US" sz="1200" dirty="0">
                <a:solidFill>
                  <a:schemeClr val="bg1"/>
                </a:solidFill>
                <a:uFillTx/>
              </a:rPr>
              <a:t>Connected sub-groups </a:t>
            </a:r>
          </a:p>
          <a:p>
            <a:pPr marL="457200" indent="-457200">
              <a:buChar char="•"/>
            </a:pPr>
            <a:r>
              <a:rPr lang="en-US" sz="1200" dirty="0">
                <a:solidFill>
                  <a:schemeClr val="bg1"/>
                </a:solidFill>
                <a:uFillTx/>
              </a:rPr>
              <a:t>Limit central penetration (opponent ½ space) </a:t>
            </a:r>
          </a:p>
          <a:p>
            <a:pPr marL="457200" indent="-457200">
              <a:buChar char="•"/>
            </a:pPr>
            <a:r>
              <a:rPr lang="en-US" sz="1200" dirty="0">
                <a:solidFill>
                  <a:schemeClr val="bg1"/>
                </a:solidFill>
                <a:uFillTx/>
              </a:rPr>
              <a:t>Communication to teammates in front </a:t>
            </a:r>
          </a:p>
        </p:txBody>
      </p:sp>
      <p:sp>
        <p:nvSpPr>
          <p:cNvPr id="6" name="TextBox 5"/>
          <p:cNvSpPr txBox="1">
            <a:spLocks/>
          </p:cNvSpPr>
          <p:nvPr/>
        </p:nvSpPr>
        <p:spPr>
          <a:xfrm>
            <a:off x="8547850" y="0"/>
            <a:ext cx="3383279" cy="1261884"/>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Horizontal and vertical compactness</a:t>
            </a:r>
          </a:p>
          <a:p>
            <a:pPr marL="457200" indent="-457200">
              <a:buChar char="•"/>
            </a:pPr>
            <a:r>
              <a:rPr lang="en-US" sz="1200" dirty="0">
                <a:solidFill>
                  <a:schemeClr val="bg1"/>
                </a:solidFill>
                <a:uFillTx/>
              </a:rPr>
              <a:t>Connected sub-groups</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Communication to teammates in front </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Isosceles Triangle 37"/>
          <p:cNvSpPr>
            <a:spLocks noChangeAspect="1"/>
          </p:cNvSpPr>
          <p:nvPr/>
        </p:nvSpPr>
        <p:spPr>
          <a:xfrm>
            <a:off x="2680167" y="550729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39" name="Isosceles Triangle 38"/>
          <p:cNvSpPr>
            <a:spLocks noChangeAspect="1"/>
          </p:cNvSpPr>
          <p:nvPr/>
        </p:nvSpPr>
        <p:spPr>
          <a:xfrm>
            <a:off x="6486280" y="472682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40" name="Isosceles Triangle 39"/>
          <p:cNvSpPr>
            <a:spLocks noChangeAspect="1"/>
          </p:cNvSpPr>
          <p:nvPr/>
        </p:nvSpPr>
        <p:spPr>
          <a:xfrm>
            <a:off x="10133417" y="395496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sp>
        <p:nvSpPr>
          <p:cNvPr id="16" name="TextBox 15"/>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#6</a:t>
            </a:r>
          </a:p>
          <a:p>
            <a:pPr algn="ctr"/>
            <a:r>
              <a:rPr lang="en-US" sz="2400" dirty="0">
                <a:solidFill>
                  <a:srgbClr val="CC9900"/>
                </a:solidFill>
                <a:uFillTx/>
              </a:rPr>
              <a:t>(DCM)</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pic>
        <p:nvPicPr>
          <p:cNvPr id="17"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18"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19"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49" name="Isosceles Triangle 48"/>
          <p:cNvSpPr>
            <a:spLocks noChangeAspect="1"/>
          </p:cNvSpPr>
          <p:nvPr/>
        </p:nvSpPr>
        <p:spPr>
          <a:xfrm>
            <a:off x="10133417" y="3782342"/>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grpSp>
        <p:nvGrpSpPr>
          <p:cNvPr id="51" name="Group 50"/>
          <p:cNvGrpSpPr/>
          <p:nvPr/>
        </p:nvGrpSpPr>
        <p:grpSpPr>
          <a:xfrm>
            <a:off x="9685206" y="3339486"/>
            <a:ext cx="1017430" cy="566915"/>
            <a:chOff x="2272077" y="5168598"/>
            <a:chExt cx="1017430" cy="566915"/>
          </a:xfrm>
        </p:grpSpPr>
        <p:cxnSp>
          <p:nvCxnSpPr>
            <p:cNvPr id="52" name="Straight Arrow Connector 51"/>
            <p:cNvCxnSpPr/>
            <p:nvPr/>
          </p:nvCxnSpPr>
          <p:spPr>
            <a:xfrm flipH="1" flipV="1">
              <a:off x="2359519" y="5168598"/>
              <a:ext cx="386473" cy="45696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flipH="1" flipV="1">
              <a:off x="2272077" y="5528277"/>
              <a:ext cx="390724" cy="17071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flipV="1">
              <a:off x="2989916" y="5588493"/>
              <a:ext cx="299591" cy="1470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V="1">
              <a:off x="2866238" y="5168598"/>
              <a:ext cx="398560" cy="51680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11" name="Group 10"/>
          <p:cNvGrpSpPr/>
          <p:nvPr/>
        </p:nvGrpSpPr>
        <p:grpSpPr>
          <a:xfrm>
            <a:off x="2105365" y="5008424"/>
            <a:ext cx="1339441" cy="784513"/>
            <a:chOff x="2105365" y="5242214"/>
            <a:chExt cx="1339441" cy="784513"/>
          </a:xfrm>
        </p:grpSpPr>
        <p:sp>
          <p:nvSpPr>
            <p:cNvPr id="23" name="Isosceles Triangle 22"/>
            <p:cNvSpPr>
              <a:spLocks noChangeAspect="1"/>
            </p:cNvSpPr>
            <p:nvPr/>
          </p:nvSpPr>
          <p:spPr>
            <a:xfrm>
              <a:off x="2680023" y="563889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cxnSp>
          <p:nvCxnSpPr>
            <p:cNvPr id="28" name="Straight Arrow Connector 27"/>
            <p:cNvCxnSpPr/>
            <p:nvPr/>
          </p:nvCxnSpPr>
          <p:spPr>
            <a:xfrm flipV="1">
              <a:off x="2786093" y="5242214"/>
              <a:ext cx="0" cy="30476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2350183" y="5869262"/>
              <a:ext cx="244818" cy="15746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a:off x="2948830" y="5869262"/>
              <a:ext cx="244818" cy="15746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grpSp>
        <p:nvGrpSpPr>
          <p:cNvPr id="59" name="Group 58"/>
          <p:cNvGrpSpPr/>
          <p:nvPr/>
        </p:nvGrpSpPr>
        <p:grpSpPr>
          <a:xfrm>
            <a:off x="5922629" y="4144030"/>
            <a:ext cx="1339441" cy="942296"/>
            <a:chOff x="2105365" y="5242214"/>
            <a:chExt cx="1339441" cy="942296"/>
          </a:xfrm>
        </p:grpSpPr>
        <p:sp>
          <p:nvSpPr>
            <p:cNvPr id="60" name="Isosceles Triangle 59"/>
            <p:cNvSpPr>
              <a:spLocks noChangeAspect="1"/>
            </p:cNvSpPr>
            <p:nvPr/>
          </p:nvSpPr>
          <p:spPr>
            <a:xfrm>
              <a:off x="2680023" y="563889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6</a:t>
              </a:r>
            </a:p>
          </p:txBody>
        </p:sp>
        <p:cxnSp>
          <p:nvCxnSpPr>
            <p:cNvPr id="61" name="Straight Arrow Connector 60"/>
            <p:cNvCxnSpPr/>
            <p:nvPr/>
          </p:nvCxnSpPr>
          <p:spPr>
            <a:xfrm flipV="1">
              <a:off x="2786093" y="5242214"/>
              <a:ext cx="0" cy="30476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flipV="1">
              <a:off x="2105365" y="5710609"/>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flipV="1">
              <a:off x="2955170" y="573136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a:off x="2771916" y="5910465"/>
              <a:ext cx="6340" cy="27404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573617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6017" y="1"/>
            <a:ext cx="12409715" cy="6858000"/>
          </a:xfrm>
          <a:prstGeom prst="rect">
            <a:avLst/>
          </a:prstGeom>
        </p:spPr>
      </p:pic>
      <p:sp>
        <p:nvSpPr>
          <p:cNvPr id="3" name="TextBox 2"/>
          <p:cNvSpPr txBox="1">
            <a:spLocks/>
          </p:cNvSpPr>
          <p:nvPr/>
        </p:nvSpPr>
        <p:spPr>
          <a:xfrm>
            <a:off x="1267808" y="480812"/>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1389253" y="1874695"/>
            <a:ext cx="8698856" cy="4462760"/>
          </a:xfrm>
          <a:prstGeom prst="rect">
            <a:avLst/>
          </a:prstGeom>
          <a:noFill/>
        </p:spPr>
        <p:txBody>
          <a:bodyPr wrap="none" rtlCol="0">
            <a:spAutoFit/>
          </a:bodyPr>
          <a:lstStyle/>
          <a:p>
            <a:r>
              <a:rPr lang="en-US" sz="6000" dirty="0">
                <a:solidFill>
                  <a:schemeClr val="bg1"/>
                </a:solidFill>
                <a:uFillTx/>
              </a:rPr>
              <a:t>#8 Central Midfielder</a:t>
            </a:r>
          </a:p>
          <a:p>
            <a:pPr marL="857250" indent="-857250">
              <a:buFont typeface="Arial" panose="020B0604020202020204" pitchFamily="34" charset="0"/>
              <a:buChar char="•"/>
            </a:pPr>
            <a:endParaRPr lang="en-US" sz="3200" dirty="0">
              <a:solidFill>
                <a:schemeClr val="bg1"/>
              </a:solidFill>
              <a:uFillTx/>
            </a:endParaRPr>
          </a:p>
          <a:p>
            <a:pPr marL="857250" indent="-857250">
              <a:buFont typeface="Arial" panose="020B0604020202020204" pitchFamily="34" charset="0"/>
              <a:buChar char="•"/>
            </a:pPr>
            <a:r>
              <a:rPr lang="en-US" sz="3200" dirty="0">
                <a:solidFill>
                  <a:schemeClr val="bg1"/>
                </a:solidFill>
                <a:uFillTx/>
              </a:rPr>
              <a:t>High Level of Endurance</a:t>
            </a:r>
          </a:p>
          <a:p>
            <a:pPr marL="857250" indent="-857250">
              <a:buFont typeface="Arial" panose="020B0604020202020204" pitchFamily="34" charset="0"/>
              <a:buChar char="•"/>
            </a:pPr>
            <a:r>
              <a:rPr lang="en-US" sz="3200" dirty="0">
                <a:solidFill>
                  <a:schemeClr val="bg1"/>
                </a:solidFill>
                <a:uFillTx/>
              </a:rPr>
              <a:t>Proficient Dribbler</a:t>
            </a:r>
          </a:p>
          <a:p>
            <a:pPr marL="857250" indent="-857250">
              <a:buFont typeface="Arial" panose="020B0604020202020204" pitchFamily="34" charset="0"/>
              <a:buChar char="•"/>
            </a:pPr>
            <a:r>
              <a:rPr lang="en-US" sz="3200" dirty="0">
                <a:solidFill>
                  <a:schemeClr val="bg1"/>
                </a:solidFill>
                <a:uFillTx/>
              </a:rPr>
              <a:t>Calm Under Pressure</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Accurate, Efficient Passing</a:t>
            </a:r>
          </a:p>
          <a:p>
            <a:pPr marL="857250" indent="-857250">
              <a:buFont typeface="Arial" panose="020B0604020202020204" pitchFamily="34" charset="0"/>
              <a:buChar char="•"/>
            </a:pPr>
            <a:r>
              <a:rPr lang="en-US" sz="3200" dirty="0">
                <a:solidFill>
                  <a:schemeClr val="bg1"/>
                </a:solidFill>
                <a:uFillTx/>
              </a:rPr>
              <a:t>Accurate Finishing from Long Range (18-30yd)</a:t>
            </a:r>
          </a:p>
        </p:txBody>
      </p:sp>
      <p:pic>
        <p:nvPicPr>
          <p:cNvPr id="6" name="Picture 5">
            <a:extLst>
              <a:ext uri="{FF2B5EF4-FFF2-40B4-BE49-F238E27FC236}">
                <a16:creationId xmlns:a16="http://schemas.microsoft.com/office/drawing/2014/main" id="{D6496A51-4C59-704F-AF15-AE016AE7CB77}"/>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1825143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8858" y="1"/>
            <a:ext cx="12409715" cy="6906040"/>
          </a:xfrm>
          <a:prstGeom prst="rect">
            <a:avLst/>
          </a:prstGeom>
        </p:spPr>
      </p:pic>
      <p:sp>
        <p:nvSpPr>
          <p:cNvPr id="3" name="TextBox 2"/>
          <p:cNvSpPr txBox="1">
            <a:spLocks/>
          </p:cNvSpPr>
          <p:nvPr/>
        </p:nvSpPr>
        <p:spPr>
          <a:xfrm>
            <a:off x="1307694" y="54849"/>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1207394" y="1583169"/>
            <a:ext cx="10744480" cy="4278094"/>
          </a:xfrm>
          <a:prstGeom prst="rect">
            <a:avLst/>
          </a:prstGeom>
          <a:noFill/>
        </p:spPr>
        <p:txBody>
          <a:bodyPr wrap="none" rtlCol="0">
            <a:spAutoFit/>
          </a:bodyPr>
          <a:lstStyle/>
          <a:p>
            <a:r>
              <a:rPr lang="en-US" sz="4800" dirty="0">
                <a:solidFill>
                  <a:schemeClr val="bg1"/>
                </a:solidFill>
                <a:uFillTx/>
              </a:rPr>
              <a:t>#10 Attacking Central Midfielder</a:t>
            </a:r>
          </a:p>
          <a:p>
            <a:endParaRPr lang="en-US" sz="2800" dirty="0">
              <a:solidFill>
                <a:schemeClr val="bg1"/>
              </a:solidFill>
              <a:uFillTx/>
            </a:endParaRPr>
          </a:p>
          <a:p>
            <a:pPr marL="857250" indent="-857250">
              <a:buFont typeface="Arial" panose="020B0604020202020204" pitchFamily="34" charset="0"/>
              <a:buChar char="•"/>
            </a:pPr>
            <a:r>
              <a:rPr lang="en-US" sz="2800" dirty="0">
                <a:solidFill>
                  <a:schemeClr val="bg1"/>
                </a:solidFill>
                <a:uFillTx/>
              </a:rPr>
              <a:t>Dynamic Dribbler</a:t>
            </a:r>
          </a:p>
          <a:p>
            <a:pPr marL="857250" indent="-857250">
              <a:buFont typeface="Arial" panose="020B0604020202020204" pitchFamily="34" charset="0"/>
              <a:buChar char="•"/>
            </a:pPr>
            <a:r>
              <a:rPr lang="en-US" sz="2800" dirty="0">
                <a:solidFill>
                  <a:schemeClr val="bg1"/>
                </a:solidFill>
                <a:uFillTx/>
              </a:rPr>
              <a:t>Creative</a:t>
            </a:r>
          </a:p>
          <a:p>
            <a:pPr marL="857250" indent="-857250">
              <a:buFont typeface="Arial" panose="020B0604020202020204" pitchFamily="34" charset="0"/>
              <a:buChar char="•"/>
            </a:pPr>
            <a:r>
              <a:rPr lang="en-US" sz="2800" dirty="0">
                <a:solidFill>
                  <a:schemeClr val="bg1"/>
                </a:solidFill>
                <a:uFillTx/>
              </a:rPr>
              <a:t>Calm Under Pressure</a:t>
            </a:r>
          </a:p>
          <a:p>
            <a:pPr marL="857250" indent="-857250">
              <a:buFont typeface="Arial" panose="020B0604020202020204" pitchFamily="34" charset="0"/>
              <a:buChar char="•"/>
            </a:pPr>
            <a:r>
              <a:rPr lang="en-US" sz="2800" dirty="0">
                <a:solidFill>
                  <a:schemeClr val="bg1"/>
                </a:solidFill>
                <a:uFillTx/>
              </a:rPr>
              <a:t>Positionally Dominant</a:t>
            </a:r>
          </a:p>
          <a:p>
            <a:pPr marL="857250" indent="-857250">
              <a:buFont typeface="Arial" panose="020B0604020202020204" pitchFamily="34" charset="0"/>
              <a:buChar char="•"/>
            </a:pPr>
            <a:r>
              <a:rPr lang="en-US" sz="2800" dirty="0">
                <a:solidFill>
                  <a:schemeClr val="bg1"/>
                </a:solidFill>
                <a:uFillTx/>
              </a:rPr>
              <a:t>Accurate, Dynamic Passing</a:t>
            </a:r>
          </a:p>
          <a:p>
            <a:pPr marL="857250" indent="-857250">
              <a:buFont typeface="Arial" panose="020B0604020202020204" pitchFamily="34" charset="0"/>
              <a:buChar char="•"/>
            </a:pPr>
            <a:r>
              <a:rPr lang="en-US" sz="2800" dirty="0">
                <a:solidFill>
                  <a:schemeClr val="bg1"/>
                </a:solidFill>
                <a:uFillTx/>
              </a:rPr>
              <a:t>Accurate Finishing from all ranges</a:t>
            </a:r>
          </a:p>
          <a:p>
            <a:pPr marL="857250" indent="-857250">
              <a:buFont typeface="Arial" panose="020B0604020202020204" pitchFamily="34" charset="0"/>
              <a:buChar char="•"/>
            </a:pPr>
            <a:r>
              <a:rPr lang="en-US" sz="2800" dirty="0">
                <a:solidFill>
                  <a:schemeClr val="bg1"/>
                </a:solidFill>
              </a:rPr>
              <a:t>Ability to penetrate opponent’s back line with and without the ball</a:t>
            </a:r>
            <a:endParaRPr lang="en-US" sz="2800" dirty="0">
              <a:solidFill>
                <a:schemeClr val="bg1"/>
              </a:solidFill>
              <a:uFillTx/>
            </a:endParaRPr>
          </a:p>
        </p:txBody>
      </p:sp>
      <p:pic>
        <p:nvPicPr>
          <p:cNvPr id="6" name="Picture 5">
            <a:extLst>
              <a:ext uri="{FF2B5EF4-FFF2-40B4-BE49-F238E27FC236}">
                <a16:creationId xmlns:a16="http://schemas.microsoft.com/office/drawing/2014/main" id="{FC319637-7DE0-464D-BCB6-C79B43FE9A94}"/>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38765048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Recover into defensive third to assist 6 &amp; 8 when needed</a:t>
            </a:r>
          </a:p>
          <a:p>
            <a:pPr marL="285750" indent="-285750">
              <a:buFont typeface="Arial" panose="020B0604020202020204" pitchFamily="34" charset="0"/>
              <a:buChar char="•"/>
            </a:pPr>
            <a:r>
              <a:rPr lang="en-US" sz="1200" dirty="0">
                <a:solidFill>
                  <a:schemeClr val="bg1"/>
                </a:solidFill>
              </a:rPr>
              <a:t>Take anticipated attacking action/position</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Prevent opponent from dribbling or passing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Organize &amp; coach teammates to press in identified situations</a:t>
            </a:r>
          </a:p>
          <a:p>
            <a:pPr marL="285750" indent="-285750">
              <a:buFont typeface="Arial" panose="020B0604020202020204" pitchFamily="34" charset="0"/>
              <a:buChar char="•"/>
            </a:pPr>
            <a:r>
              <a:rPr lang="en-US" sz="1200" dirty="0">
                <a:solidFill>
                  <a:schemeClr val="bg1"/>
                </a:solidFill>
              </a:rPr>
              <a:t>Decide to pressure the ball, stay in zonal space, or track opposition holding midfielder</a:t>
            </a:r>
          </a:p>
        </p:txBody>
      </p:sp>
      <p:sp>
        <p:nvSpPr>
          <p:cNvPr id="8" name="TextBox 7"/>
          <p:cNvSpPr txBox="1"/>
          <p:nvPr/>
        </p:nvSpPr>
        <p:spPr>
          <a:xfrm>
            <a:off x="82251" y="2690336"/>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a:t>
            </a:r>
          </a:p>
          <a:p>
            <a:pPr marL="285750" indent="-285750">
              <a:buFont typeface="Arial" panose="020B0604020202020204" pitchFamily="34" charset="0"/>
              <a:buChar char="•"/>
            </a:pPr>
            <a:r>
              <a:rPr lang="en-US" sz="1200" dirty="0">
                <a:solidFill>
                  <a:schemeClr val="bg1"/>
                </a:solidFill>
              </a:rPr>
              <a:t>Make diagonal passes forward or dribble to create 2v1</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 &amp; manage the pace of the game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support quickly in space to exploit opponent &amp; create chances</a:t>
            </a:r>
          </a:p>
        </p:txBody>
      </p:sp>
      <p:sp>
        <p:nvSpPr>
          <p:cNvPr id="9" name="TextBox 8"/>
          <p:cNvSpPr txBox="1"/>
          <p:nvPr/>
        </p:nvSpPr>
        <p:spPr>
          <a:xfrm>
            <a:off x="7007578" y="2658069"/>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 put pressure on the ball Immediately</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8, 10</a:t>
            </a:r>
          </a:p>
          <a:p>
            <a:r>
              <a:rPr lang="en-US" dirty="0"/>
              <a:t>Center Midfielders</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215991"/>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in central areas to support diagonally in spaces between the lines in order to receive ball &amp; play forward and/or to create space for teammate</a:t>
            </a:r>
          </a:p>
          <a:p>
            <a:pPr marL="285750" indent="-285750">
              <a:buFont typeface="Arial" panose="020B0604020202020204" pitchFamily="34" charset="0"/>
              <a:buChar char="•"/>
            </a:pPr>
            <a:r>
              <a:rPr lang="en-US" sz="1200" dirty="0">
                <a:solidFill>
                  <a:schemeClr val="bg1"/>
                </a:solidFill>
              </a:rPr>
              <a:t>Align movements with other central midfielders/rotate positions &amp; triangulate</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Dribble forward when there is no passing option &amp; there is open space, look to create 2v1, switch the field</a:t>
            </a:r>
          </a:p>
          <a:p>
            <a:pPr marL="285750" indent="-285750">
              <a:buFont typeface="Arial" panose="020B0604020202020204" pitchFamily="34" charset="0"/>
              <a:buChar char="•"/>
            </a:pPr>
            <a:r>
              <a:rPr lang="en-US" sz="1200" dirty="0">
                <a:solidFill>
                  <a:schemeClr val="bg1"/>
                </a:solidFill>
              </a:rPr>
              <a:t>Make diagonal &amp; through passes to unbalance or destabilize the opponent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Support the attack with forward runs behind the defensive line to create chances &amp; score goals</a:t>
            </a:r>
          </a:p>
          <a:p>
            <a:pPr marL="285750" indent="-285750">
              <a:buFont typeface="Arial" panose="020B0604020202020204" pitchFamily="34" charset="0"/>
              <a:buChar char="•"/>
            </a:pPr>
            <a:r>
              <a:rPr lang="en-US" sz="1200" dirty="0">
                <a:solidFill>
                  <a:schemeClr val="bg1"/>
                </a:solidFill>
              </a:rPr>
              <a:t>Position to support in the box, near the goal</a:t>
            </a:r>
          </a:p>
        </p:txBody>
      </p:sp>
      <p:pic>
        <p:nvPicPr>
          <p:cNvPr id="24" name="Picture 23">
            <a:extLst>
              <a:ext uri="{FF2B5EF4-FFF2-40B4-BE49-F238E27FC236}">
                <a16:creationId xmlns:a16="http://schemas.microsoft.com/office/drawing/2014/main" id="{F04E7DE5-538E-C14F-B771-C2567ACA3703}"/>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923516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4"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56190" cy="1200329"/>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Create diamond shape</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p:txBody>
      </p:sp>
      <p:sp>
        <p:nvSpPr>
          <p:cNvPr id="5" name="TextBox 4"/>
          <p:cNvSpPr txBox="1">
            <a:spLocks/>
          </p:cNvSpPr>
          <p:nvPr/>
        </p:nvSpPr>
        <p:spPr>
          <a:xfrm>
            <a:off x="4892881" y="0"/>
            <a:ext cx="3383280" cy="1846659"/>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300" dirty="0">
                <a:solidFill>
                  <a:schemeClr val="bg1"/>
                </a:solidFill>
                <a:uFillTx/>
                <a:latin typeface="Calibri" charset="0"/>
              </a:rPr>
              <a:t>Occupy half space </a:t>
            </a:r>
          </a:p>
          <a:p>
            <a:pPr marL="457200" indent="-457200">
              <a:buChar char="•"/>
            </a:pPr>
            <a:r>
              <a:rPr lang="en-US" sz="1300" dirty="0">
                <a:solidFill>
                  <a:schemeClr val="bg1"/>
                </a:solidFill>
                <a:uFillTx/>
                <a:latin typeface="Calibri" charset="0"/>
              </a:rPr>
              <a:t>Create overloads</a:t>
            </a:r>
          </a:p>
          <a:p>
            <a:pPr marL="457200" indent="-457200">
              <a:buChar char="•"/>
            </a:pPr>
            <a:r>
              <a:rPr lang="en-US" sz="1300" dirty="0">
                <a:solidFill>
                  <a:schemeClr val="bg1"/>
                </a:solidFill>
                <a:uFillTx/>
                <a:latin typeface="Calibri" charset="0"/>
              </a:rPr>
              <a:t>Create diamond shape</a:t>
            </a:r>
          </a:p>
          <a:p>
            <a:pPr marL="457200" indent="-457200">
              <a:buChar char="•"/>
            </a:pPr>
            <a:r>
              <a:rPr lang="en-US" sz="1300" dirty="0">
                <a:solidFill>
                  <a:schemeClr val="bg1"/>
                </a:solidFill>
                <a:uFillTx/>
                <a:latin typeface="Calibri" charset="0"/>
              </a:rPr>
              <a:t>Disorganize opponent </a:t>
            </a:r>
          </a:p>
          <a:p>
            <a:pPr marL="457200" indent="-457200">
              <a:buChar char="•"/>
            </a:pPr>
            <a:r>
              <a:rPr lang="en-US" sz="1300" dirty="0">
                <a:solidFill>
                  <a:schemeClr val="bg1"/>
                </a:solidFill>
                <a:uFillTx/>
                <a:latin typeface="Calibri" charset="0"/>
              </a:rPr>
              <a:t>Draw opponent to one side to find </a:t>
            </a:r>
          </a:p>
          <a:p>
            <a:pPr marL="457200" indent="-457200">
              <a:buChar char="•"/>
            </a:pPr>
            <a:r>
              <a:rPr lang="en-US" sz="1300" dirty="0">
                <a:solidFill>
                  <a:schemeClr val="bg1"/>
                </a:solidFill>
                <a:uFillTx/>
                <a:latin typeface="Calibri" charset="0"/>
              </a:rPr>
              <a:t>Isolation on opposite side</a:t>
            </a:r>
          </a:p>
          <a:p>
            <a:pPr marL="457200" indent="-457200">
              <a:buChar char="•"/>
            </a:pPr>
            <a:r>
              <a:rPr lang="en-US" sz="1300" dirty="0">
                <a:solidFill>
                  <a:schemeClr val="bg1"/>
                </a:solidFill>
                <a:uFillTx/>
                <a:latin typeface="Calibri" charset="0"/>
              </a:rPr>
              <a:t>Penetrate opponent  </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400" dirty="0">
                <a:solidFill>
                  <a:schemeClr val="bg1"/>
                </a:solidFill>
                <a:uFillTx/>
              </a:rPr>
              <a:t>Create overloads</a:t>
            </a:r>
          </a:p>
          <a:p>
            <a:pPr marL="457200" indent="-457200">
              <a:buChar char="•"/>
            </a:pPr>
            <a:r>
              <a:rPr lang="en-US" sz="1400" dirty="0">
                <a:solidFill>
                  <a:schemeClr val="bg1"/>
                </a:solidFill>
                <a:uFillTx/>
              </a:rPr>
              <a:t>Penetrate through dribble or pass </a:t>
            </a:r>
          </a:p>
          <a:p>
            <a:pPr marL="457200" indent="-457200">
              <a:buChar char="•"/>
            </a:pPr>
            <a:r>
              <a:rPr lang="en-US" sz="1400" dirty="0">
                <a:solidFill>
                  <a:schemeClr val="bg1"/>
                </a:solidFill>
                <a:uFillTx/>
              </a:rPr>
              <a:t>Disorganize opponent </a:t>
            </a:r>
          </a:p>
          <a:p>
            <a:pPr marL="457200" indent="-457200">
              <a:buChar char="•"/>
            </a:pPr>
            <a:r>
              <a:rPr lang="en-US" sz="1400" dirty="0">
                <a:solidFill>
                  <a:schemeClr val="bg1"/>
                </a:solidFill>
                <a:uFillTx/>
              </a:rPr>
              <a:t>Rotation in midfield </a:t>
            </a:r>
          </a:p>
          <a:p>
            <a:pPr marL="457200" indent="-457200">
              <a:buChar char="•"/>
            </a:pPr>
            <a:r>
              <a:rPr lang="en-US" sz="1400" dirty="0">
                <a:solidFill>
                  <a:schemeClr val="bg1"/>
                </a:solidFill>
                <a:uFillTx/>
              </a:rPr>
              <a:t>Dynamic runs into the box</a:t>
            </a:r>
          </a:p>
          <a:p>
            <a:pPr marL="457200" indent="-457200">
              <a:buChar char="•"/>
            </a:pPr>
            <a:r>
              <a:rPr lang="en-US" sz="1400" dirty="0">
                <a:solidFill>
                  <a:schemeClr val="bg1"/>
                </a:solidFill>
                <a:uFillTx/>
              </a:rPr>
              <a:t>Shooting from outside the box </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15" name="Isosceles Triangle 14"/>
          <p:cNvSpPr>
            <a:spLocks noChangeAspect="1"/>
          </p:cNvSpPr>
          <p:nvPr/>
        </p:nvSpPr>
        <p:spPr>
          <a:xfrm>
            <a:off x="3202572" y="503477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6" name="Isosceles Triangle 15"/>
          <p:cNvSpPr>
            <a:spLocks noChangeAspect="1"/>
          </p:cNvSpPr>
          <p:nvPr/>
        </p:nvSpPr>
        <p:spPr>
          <a:xfrm>
            <a:off x="2233976" y="512670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7" name="Isosceles Triangle 16"/>
          <p:cNvSpPr>
            <a:spLocks noChangeAspect="1"/>
          </p:cNvSpPr>
          <p:nvPr/>
        </p:nvSpPr>
        <p:spPr>
          <a:xfrm>
            <a:off x="7163514" y="418912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8" name="Isosceles Triangle 17"/>
          <p:cNvSpPr>
            <a:spLocks noChangeAspect="1"/>
          </p:cNvSpPr>
          <p:nvPr/>
        </p:nvSpPr>
        <p:spPr>
          <a:xfrm>
            <a:off x="5864652" y="409719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21" name="Isosceles Triangle 20"/>
          <p:cNvSpPr>
            <a:spLocks noChangeAspect="1"/>
          </p:cNvSpPr>
          <p:nvPr/>
        </p:nvSpPr>
        <p:spPr>
          <a:xfrm>
            <a:off x="10759081" y="327216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22" name="Isosceles Triangle 21"/>
          <p:cNvSpPr>
            <a:spLocks noChangeAspect="1"/>
          </p:cNvSpPr>
          <p:nvPr/>
        </p:nvSpPr>
        <p:spPr>
          <a:xfrm>
            <a:off x="9764719" y="3429000"/>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9" name="TextBox 18"/>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#8/10</a:t>
            </a:r>
          </a:p>
          <a:p>
            <a:pPr algn="ctr"/>
            <a:r>
              <a:rPr lang="en-US" sz="2400" dirty="0">
                <a:solidFill>
                  <a:srgbClr val="CC9900"/>
                </a:solidFill>
                <a:uFillTx/>
              </a:rPr>
              <a:t>(CM/</a:t>
            </a:r>
          </a:p>
          <a:p>
            <a:pPr algn="ctr"/>
            <a:r>
              <a:rPr lang="en-US" sz="2400" dirty="0">
                <a:solidFill>
                  <a:srgbClr val="CC9900"/>
                </a:solidFill>
                <a:uFillTx/>
              </a:rPr>
              <a:t>ACM)</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grpSp>
        <p:nvGrpSpPr>
          <p:cNvPr id="26" name="Group 25"/>
          <p:cNvGrpSpPr/>
          <p:nvPr/>
        </p:nvGrpSpPr>
        <p:grpSpPr>
          <a:xfrm>
            <a:off x="1896533" y="4479449"/>
            <a:ext cx="1062432" cy="1157619"/>
            <a:chOff x="2315742" y="4996947"/>
            <a:chExt cx="1062432" cy="1157619"/>
          </a:xfrm>
        </p:grpSpPr>
        <p:cxnSp>
          <p:nvCxnSpPr>
            <p:cNvPr id="29" name="Straight Arrow Connector 28"/>
            <p:cNvCxnSpPr/>
            <p:nvPr/>
          </p:nvCxnSpPr>
          <p:spPr>
            <a:xfrm flipV="1">
              <a:off x="2786093" y="4996947"/>
              <a:ext cx="79233" cy="56468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H="1">
              <a:off x="2315742" y="5828065"/>
              <a:ext cx="297190" cy="14837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2888538" y="5730830"/>
              <a:ext cx="489636" cy="2022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a:off x="2778763" y="5929297"/>
              <a:ext cx="46946" cy="225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cxnSp>
        <p:nvCxnSpPr>
          <p:cNvPr id="35" name="Straight Arrow Connector 34"/>
          <p:cNvCxnSpPr/>
          <p:nvPr/>
        </p:nvCxnSpPr>
        <p:spPr>
          <a:xfrm flipH="1" flipV="1">
            <a:off x="1973150" y="4748110"/>
            <a:ext cx="264430" cy="37859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36" name="Freeform 35"/>
          <p:cNvSpPr>
            <a:spLocks/>
          </p:cNvSpPr>
          <p:nvPr/>
        </p:nvSpPr>
        <p:spPr>
          <a:xfrm>
            <a:off x="3357256" y="4542251"/>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37" name="Freeform 36"/>
          <p:cNvSpPr>
            <a:spLocks/>
          </p:cNvSpPr>
          <p:nvPr/>
        </p:nvSpPr>
        <p:spPr>
          <a:xfrm rot="-2940000">
            <a:off x="3041314" y="473190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38" name="Straight Arrow Connector 37"/>
          <p:cNvCxnSpPr/>
          <p:nvPr/>
        </p:nvCxnSpPr>
        <p:spPr>
          <a:xfrm flipH="1" flipV="1">
            <a:off x="2706943" y="4773893"/>
            <a:ext cx="462416" cy="39612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H="1" flipV="1">
            <a:off x="3138880" y="4479449"/>
            <a:ext cx="173844" cy="512011"/>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V="1">
            <a:off x="3430185" y="4582907"/>
            <a:ext cx="431937" cy="46122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5658678" y="3169227"/>
            <a:ext cx="779951" cy="601571"/>
          </a:xfrm>
          <a:prstGeom prst="rect">
            <a:avLst/>
          </a:prstGeom>
          <a:ln w="19050">
            <a:solidFill>
              <a:srgbClr val="CC9900"/>
            </a:solidFill>
          </a:ln>
        </p:spPr>
        <p:txBody>
          <a:bodyPr wrap="square" rtlCol="0" anchor="ctr">
            <a:noAutofit/>
          </a:bodyPr>
          <a:lstStyle/>
          <a:p>
            <a:pPr algn="ctr"/>
            <a:r>
              <a:rPr lang="en-US" sz="1200" dirty="0">
                <a:uFillTx/>
              </a:rPr>
              <a:t>½ Space</a:t>
            </a:r>
          </a:p>
        </p:txBody>
      </p:sp>
      <p:sp>
        <p:nvSpPr>
          <p:cNvPr id="49" name="TextBox 48"/>
          <p:cNvSpPr txBox="1">
            <a:spLocks/>
          </p:cNvSpPr>
          <p:nvPr/>
        </p:nvSpPr>
        <p:spPr>
          <a:xfrm>
            <a:off x="6879608" y="3169227"/>
            <a:ext cx="779951" cy="601571"/>
          </a:xfrm>
          <a:prstGeom prst="rect">
            <a:avLst/>
          </a:prstGeom>
          <a:ln w="19050">
            <a:solidFill>
              <a:srgbClr val="CC9900"/>
            </a:solidFill>
          </a:ln>
        </p:spPr>
        <p:txBody>
          <a:bodyPr wrap="square" rtlCol="0" anchor="ctr">
            <a:noAutofit/>
          </a:bodyPr>
          <a:lstStyle/>
          <a:p>
            <a:pPr algn="ctr"/>
            <a:r>
              <a:rPr lang="en-US" sz="1200" dirty="0">
                <a:uFillTx/>
              </a:rPr>
              <a:t>½ Space</a:t>
            </a:r>
          </a:p>
        </p:txBody>
      </p:sp>
      <p:sp>
        <p:nvSpPr>
          <p:cNvPr id="52" name="Freeform 51"/>
          <p:cNvSpPr>
            <a:spLocks/>
          </p:cNvSpPr>
          <p:nvPr/>
        </p:nvSpPr>
        <p:spPr>
          <a:xfrm>
            <a:off x="7281590" y="3728296"/>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sp>
        <p:nvSpPr>
          <p:cNvPr id="53" name="Freeform 52"/>
          <p:cNvSpPr>
            <a:spLocks/>
          </p:cNvSpPr>
          <p:nvPr/>
        </p:nvSpPr>
        <p:spPr>
          <a:xfrm rot="-2940000">
            <a:off x="6965648" y="3917945"/>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4" name="Straight Arrow Connector 53"/>
          <p:cNvCxnSpPr/>
          <p:nvPr/>
        </p:nvCxnSpPr>
        <p:spPr>
          <a:xfrm flipV="1">
            <a:off x="7370783" y="3889360"/>
            <a:ext cx="201898" cy="39032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a:off x="7326031" y="4459973"/>
            <a:ext cx="145701" cy="16947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7075934" y="4430790"/>
            <a:ext cx="145701" cy="16947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H="1">
            <a:off x="6824078" y="4347229"/>
            <a:ext cx="324706" cy="2332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H="1" flipV="1">
            <a:off x="5399760" y="3797253"/>
            <a:ext cx="462416" cy="39612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V="1">
            <a:off x="5956954" y="3272169"/>
            <a:ext cx="119289" cy="77702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flipV="1">
            <a:off x="6018773" y="3752614"/>
            <a:ext cx="350282" cy="36200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V="1">
            <a:off x="6083648" y="3797253"/>
            <a:ext cx="616382" cy="39187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71" name="Freeform 70"/>
          <p:cNvSpPr>
            <a:spLocks/>
          </p:cNvSpPr>
          <p:nvPr/>
        </p:nvSpPr>
        <p:spPr>
          <a:xfrm rot="-1080000">
            <a:off x="10759081" y="283371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72" name="Straight Arrow Connector 71"/>
          <p:cNvCxnSpPr/>
          <p:nvPr/>
        </p:nvCxnSpPr>
        <p:spPr>
          <a:xfrm flipH="1" flipV="1">
            <a:off x="10536382" y="2644963"/>
            <a:ext cx="275183" cy="62940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9842425" y="2564785"/>
            <a:ext cx="201898" cy="85367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flipH="1" flipV="1">
            <a:off x="9538935" y="3055722"/>
            <a:ext cx="267776" cy="40883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flipV="1">
            <a:off x="9954600" y="3102555"/>
            <a:ext cx="350282" cy="36200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1542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4"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83280" cy="1077218"/>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 </a:t>
            </a:r>
          </a:p>
          <a:p>
            <a:pPr marL="457200" indent="-457200">
              <a:buChar char="•"/>
            </a:pPr>
            <a:r>
              <a:rPr lang="en-US" sz="1200" dirty="0">
                <a:solidFill>
                  <a:schemeClr val="bg1"/>
                </a:solidFill>
                <a:uFillTx/>
              </a:rPr>
              <a:t>Limit opponent’s time on ball </a:t>
            </a:r>
          </a:p>
          <a:p>
            <a:pPr marL="457200" indent="-457200">
              <a:buChar char="•"/>
            </a:pPr>
            <a:r>
              <a:rPr lang="en-US" sz="1200" dirty="0">
                <a:solidFill>
                  <a:schemeClr val="bg1"/>
                </a:solidFill>
                <a:uFillTx/>
              </a:rPr>
              <a:t>Follow midfielder opposition into the box</a:t>
            </a:r>
          </a:p>
          <a:p>
            <a:pPr marL="457200" indent="-457200">
              <a:buChar char="•"/>
            </a:pPr>
            <a:r>
              <a:rPr lang="en-US" sz="1200" dirty="0">
                <a:solidFill>
                  <a:schemeClr val="bg1"/>
                </a:solidFill>
                <a:uFillTx/>
              </a:rPr>
              <a:t>Recover the ball </a:t>
            </a:r>
          </a:p>
        </p:txBody>
      </p:sp>
      <p:sp>
        <p:nvSpPr>
          <p:cNvPr id="5" name="TextBox 4"/>
          <p:cNvSpPr txBox="1">
            <a:spLocks/>
          </p:cNvSpPr>
          <p:nvPr/>
        </p:nvSpPr>
        <p:spPr>
          <a:xfrm>
            <a:off x="4892881"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Move forward when opponent plays </a:t>
            </a:r>
          </a:p>
          <a:p>
            <a:pPr marL="457200" indent="-457200">
              <a:buChar char="•"/>
            </a:pPr>
            <a:r>
              <a:rPr lang="en-US" sz="1200" dirty="0">
                <a:solidFill>
                  <a:schemeClr val="bg1"/>
                </a:solidFill>
                <a:uFillTx/>
              </a:rPr>
              <a:t>backward </a:t>
            </a:r>
          </a:p>
          <a:p>
            <a:pPr marL="457200" indent="-457200">
              <a:buChar char="•"/>
            </a:pPr>
            <a:r>
              <a:rPr lang="en-US" sz="1200" dirty="0">
                <a:solidFill>
                  <a:schemeClr val="bg1"/>
                </a:solidFill>
                <a:uFillTx/>
              </a:rPr>
              <a:t>Limit opponent’s passes between line</a:t>
            </a:r>
          </a:p>
          <a:p>
            <a:pPr marL="457200" indent="-457200">
              <a:buChar char="•"/>
            </a:pPr>
            <a:r>
              <a:rPr lang="en-US" sz="1200" dirty="0">
                <a:solidFill>
                  <a:schemeClr val="bg1"/>
                </a:solidFill>
                <a:uFillTx/>
              </a:rPr>
              <a:t>Recover the ball </a:t>
            </a:r>
          </a:p>
        </p:txBody>
      </p:sp>
      <p:sp>
        <p:nvSpPr>
          <p:cNvPr id="6" name="TextBox 5"/>
          <p:cNvSpPr txBox="1">
            <a:spLocks/>
          </p:cNvSpPr>
          <p:nvPr/>
        </p:nvSpPr>
        <p:spPr>
          <a:xfrm>
            <a:off x="8547850" y="0"/>
            <a:ext cx="3383279" cy="1261884"/>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Organized and compact</a:t>
            </a:r>
          </a:p>
          <a:p>
            <a:pPr marL="457200" indent="-457200">
              <a:buChar char="•"/>
            </a:pPr>
            <a:r>
              <a:rPr lang="en-US" sz="1200" dirty="0">
                <a:solidFill>
                  <a:schemeClr val="bg1"/>
                </a:solidFill>
                <a:uFillTx/>
              </a:rPr>
              <a:t>Make play predictable  </a:t>
            </a:r>
          </a:p>
          <a:p>
            <a:pPr marL="457200" indent="-457200">
              <a:buChar char="•"/>
            </a:pPr>
            <a:r>
              <a:rPr lang="en-US" sz="1200" dirty="0">
                <a:solidFill>
                  <a:schemeClr val="bg1"/>
                </a:solidFill>
                <a:uFillTx/>
              </a:rPr>
              <a:t>Identify and pressure hot spot</a:t>
            </a:r>
          </a:p>
          <a:p>
            <a:pPr marL="457200" indent="-457200">
              <a:buChar char="•"/>
            </a:pPr>
            <a:r>
              <a:rPr lang="en-US" sz="1200" dirty="0">
                <a:solidFill>
                  <a:schemeClr val="bg1"/>
                </a:solidFill>
                <a:uFillTx/>
              </a:rPr>
              <a:t>Recover ball in hot spot  </a:t>
            </a:r>
          </a:p>
          <a:p>
            <a:pPr marL="457200" indent="-457200">
              <a:buChar char="•"/>
            </a:pPr>
            <a:r>
              <a:rPr lang="en-US" sz="1200" dirty="0">
                <a:solidFill>
                  <a:schemeClr val="bg1"/>
                </a:solidFill>
                <a:uFillTx/>
              </a:rPr>
              <a:t>Communication to teammates in front </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15" name="Isosceles Triangle 14"/>
          <p:cNvSpPr>
            <a:spLocks noChangeAspect="1"/>
          </p:cNvSpPr>
          <p:nvPr/>
        </p:nvSpPr>
        <p:spPr>
          <a:xfrm>
            <a:off x="3009697" y="551924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6" name="Isosceles Triangle 15"/>
          <p:cNvSpPr>
            <a:spLocks noChangeAspect="1"/>
          </p:cNvSpPr>
          <p:nvPr/>
        </p:nvSpPr>
        <p:spPr>
          <a:xfrm>
            <a:off x="2244514" y="561117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7" name="Isosceles Triangle 16"/>
          <p:cNvSpPr>
            <a:spLocks noChangeAspect="1"/>
          </p:cNvSpPr>
          <p:nvPr/>
        </p:nvSpPr>
        <p:spPr>
          <a:xfrm>
            <a:off x="6879022" y="438862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18" name="Isosceles Triangle 17"/>
          <p:cNvSpPr>
            <a:spLocks noChangeAspect="1"/>
          </p:cNvSpPr>
          <p:nvPr/>
        </p:nvSpPr>
        <p:spPr>
          <a:xfrm>
            <a:off x="5987666" y="4579274"/>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19" name="Isosceles Triangle 18"/>
          <p:cNvSpPr>
            <a:spLocks noChangeAspect="1"/>
          </p:cNvSpPr>
          <p:nvPr/>
        </p:nvSpPr>
        <p:spPr>
          <a:xfrm>
            <a:off x="10600349" y="3512423"/>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10</a:t>
            </a:r>
          </a:p>
        </p:txBody>
      </p:sp>
      <p:sp>
        <p:nvSpPr>
          <p:cNvPr id="20" name="Isosceles Triangle 19"/>
          <p:cNvSpPr>
            <a:spLocks noChangeAspect="1"/>
          </p:cNvSpPr>
          <p:nvPr/>
        </p:nvSpPr>
        <p:spPr>
          <a:xfrm>
            <a:off x="9776376" y="3652692"/>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8</a:t>
            </a:r>
          </a:p>
        </p:txBody>
      </p:sp>
      <p:sp>
        <p:nvSpPr>
          <p:cNvPr id="21" name="TextBox 20"/>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#8/10</a:t>
            </a:r>
          </a:p>
          <a:p>
            <a:pPr algn="ctr"/>
            <a:r>
              <a:rPr lang="en-US" sz="2400" dirty="0">
                <a:solidFill>
                  <a:srgbClr val="CC9900"/>
                </a:solidFill>
                <a:uFillTx/>
              </a:rPr>
              <a:t>(CM/</a:t>
            </a:r>
          </a:p>
          <a:p>
            <a:pPr algn="ctr"/>
            <a:r>
              <a:rPr lang="en-US" sz="2400" dirty="0">
                <a:solidFill>
                  <a:srgbClr val="CC9900"/>
                </a:solidFill>
                <a:uFillTx/>
              </a:rPr>
              <a:t>ACM)</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cxnSp>
        <p:nvCxnSpPr>
          <p:cNvPr id="26" name="Straight Arrow Connector 25"/>
          <p:cNvCxnSpPr/>
          <p:nvPr/>
        </p:nvCxnSpPr>
        <p:spPr>
          <a:xfrm flipH="1">
            <a:off x="1974273" y="5762567"/>
            <a:ext cx="219450" cy="324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V="1">
            <a:off x="2469329" y="5663045"/>
            <a:ext cx="336216" cy="2250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2359554" y="5863799"/>
            <a:ext cx="46946" cy="225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3221838" y="5599919"/>
            <a:ext cx="336216" cy="2250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3151179" y="5200650"/>
            <a:ext cx="28439" cy="24832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flipV="1">
            <a:off x="6935932" y="3936182"/>
            <a:ext cx="49160" cy="38074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V="1">
            <a:off x="7147996" y="4388629"/>
            <a:ext cx="466499" cy="919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6211794" y="4564179"/>
            <a:ext cx="466499" cy="9193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5431857" y="4671205"/>
            <a:ext cx="529690" cy="5946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H="1" flipV="1">
            <a:off x="5786937" y="4388629"/>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5175502" y="4854700"/>
            <a:ext cx="1760430" cy="374362"/>
          </a:xfrm>
          <a:prstGeom prst="rect">
            <a:avLst/>
          </a:prstGeom>
          <a:ln w="19050">
            <a:solidFill>
              <a:srgbClr val="CC9900"/>
            </a:solidFill>
          </a:ln>
        </p:spPr>
        <p:txBody>
          <a:bodyPr wrap="square" lIns="0" tIns="0" rIns="0" bIns="0" rtlCol="0" anchor="ctr">
            <a:noAutofit/>
          </a:bodyPr>
          <a:lstStyle/>
          <a:p>
            <a:pPr algn="ctr"/>
            <a:r>
              <a:rPr lang="en-US" sz="900" dirty="0">
                <a:uFillTx/>
              </a:rPr>
              <a:t>Limit Penetrating Passes</a:t>
            </a:r>
          </a:p>
          <a:p>
            <a:pPr algn="ctr"/>
            <a:r>
              <a:rPr lang="en-US" sz="900" dirty="0">
                <a:uFillTx/>
              </a:rPr>
              <a:t>Horizontal &amp; Vertical Compactness</a:t>
            </a:r>
          </a:p>
        </p:txBody>
      </p:sp>
      <p:sp>
        <p:nvSpPr>
          <p:cNvPr id="45" name="TextBox 44"/>
          <p:cNvSpPr txBox="1">
            <a:spLocks/>
          </p:cNvSpPr>
          <p:nvPr/>
        </p:nvSpPr>
        <p:spPr>
          <a:xfrm>
            <a:off x="7057986" y="3795338"/>
            <a:ext cx="982275" cy="374362"/>
          </a:xfrm>
          <a:prstGeom prst="rect">
            <a:avLst/>
          </a:prstGeom>
          <a:ln w="19050">
            <a:solidFill>
              <a:srgbClr val="CC9900"/>
            </a:solidFill>
          </a:ln>
        </p:spPr>
        <p:txBody>
          <a:bodyPr wrap="square" lIns="0" tIns="0" rIns="0" bIns="0" rtlCol="0" anchor="ctr">
            <a:noAutofit/>
          </a:bodyPr>
          <a:lstStyle/>
          <a:p>
            <a:pPr algn="ctr"/>
            <a:r>
              <a:rPr lang="en-US" sz="900" dirty="0">
                <a:uFillTx/>
              </a:rPr>
              <a:t>Pressure Opponent</a:t>
            </a:r>
          </a:p>
          <a:p>
            <a:pPr algn="ctr"/>
            <a:r>
              <a:rPr lang="en-US" sz="900" dirty="0">
                <a:uFillTx/>
              </a:rPr>
              <a:t>Recover Ball</a:t>
            </a:r>
          </a:p>
        </p:txBody>
      </p:sp>
      <p:cxnSp>
        <p:nvCxnSpPr>
          <p:cNvPr id="47" name="Straight Arrow Connector 46"/>
          <p:cNvCxnSpPr/>
          <p:nvPr/>
        </p:nvCxnSpPr>
        <p:spPr>
          <a:xfrm flipH="1" flipV="1">
            <a:off x="9653279" y="3385859"/>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flipH="1" flipV="1">
            <a:off x="9610371" y="3430101"/>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H="1" flipV="1">
            <a:off x="9610244" y="3530036"/>
            <a:ext cx="158553" cy="25124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H="1" flipV="1">
            <a:off x="10193482" y="3512423"/>
            <a:ext cx="406867" cy="9193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1" name="TextBox 50"/>
          <p:cNvSpPr txBox="1">
            <a:spLocks/>
          </p:cNvSpPr>
          <p:nvPr/>
        </p:nvSpPr>
        <p:spPr>
          <a:xfrm>
            <a:off x="9277970" y="3008259"/>
            <a:ext cx="498406" cy="374362"/>
          </a:xfrm>
          <a:prstGeom prst="rect">
            <a:avLst/>
          </a:prstGeom>
          <a:ln w="19050">
            <a:solidFill>
              <a:srgbClr val="CC9900"/>
            </a:solidFill>
          </a:ln>
        </p:spPr>
        <p:txBody>
          <a:bodyPr wrap="square" lIns="0" tIns="0" rIns="0" bIns="0" rtlCol="0" anchor="ctr">
            <a:noAutofit/>
          </a:bodyPr>
          <a:lstStyle/>
          <a:p>
            <a:pPr algn="ctr"/>
            <a:r>
              <a:rPr lang="en-US" sz="900" dirty="0">
                <a:uFillTx/>
              </a:rPr>
              <a:t>Hot Spot</a:t>
            </a:r>
          </a:p>
        </p:txBody>
      </p:sp>
      <p:sp>
        <p:nvSpPr>
          <p:cNvPr id="52" name="TextBox 51"/>
          <p:cNvSpPr txBox="1">
            <a:spLocks/>
          </p:cNvSpPr>
          <p:nvPr/>
        </p:nvSpPr>
        <p:spPr>
          <a:xfrm>
            <a:off x="10330257" y="3752193"/>
            <a:ext cx="764828" cy="374362"/>
          </a:xfrm>
          <a:prstGeom prst="rect">
            <a:avLst/>
          </a:prstGeom>
          <a:ln w="19050">
            <a:solidFill>
              <a:srgbClr val="CC9900"/>
            </a:solidFill>
          </a:ln>
        </p:spPr>
        <p:txBody>
          <a:bodyPr wrap="square" lIns="0" tIns="0" rIns="0" bIns="0" rtlCol="0" anchor="ctr">
            <a:noAutofit/>
          </a:bodyPr>
          <a:lstStyle/>
          <a:p>
            <a:pPr algn="ctr"/>
            <a:r>
              <a:rPr lang="en-US" sz="900" dirty="0">
                <a:uFillTx/>
              </a:rPr>
              <a:t>Cover &amp; Balance</a:t>
            </a:r>
          </a:p>
        </p:txBody>
      </p:sp>
    </p:spTree>
    <p:extLst>
      <p:ext uri="{BB962C8B-B14F-4D97-AF65-F5344CB8AC3E}">
        <p14:creationId xmlns:p14="http://schemas.microsoft.com/office/powerpoint/2010/main" val="37945695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8858" y="0"/>
            <a:ext cx="12409715" cy="6858000"/>
          </a:xfrm>
          <a:prstGeom prst="rect">
            <a:avLst/>
          </a:prstGeom>
        </p:spPr>
      </p:pic>
      <p:sp>
        <p:nvSpPr>
          <p:cNvPr id="3" name="TextBox 2"/>
          <p:cNvSpPr txBox="1">
            <a:spLocks/>
          </p:cNvSpPr>
          <p:nvPr/>
        </p:nvSpPr>
        <p:spPr>
          <a:xfrm>
            <a:off x="897391" y="504231"/>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897391" y="2040008"/>
            <a:ext cx="9597564" cy="3970318"/>
          </a:xfrm>
          <a:prstGeom prst="rect">
            <a:avLst/>
          </a:prstGeom>
          <a:noFill/>
        </p:spPr>
        <p:txBody>
          <a:bodyPr wrap="none" rtlCol="0">
            <a:spAutoFit/>
          </a:bodyPr>
          <a:lstStyle/>
          <a:p>
            <a:r>
              <a:rPr lang="en-US" sz="6000" dirty="0">
                <a:solidFill>
                  <a:schemeClr val="bg1"/>
                </a:solidFill>
                <a:uFillTx/>
              </a:rPr>
              <a:t>#7 &amp; 11 Wide Forwards</a:t>
            </a:r>
          </a:p>
          <a:p>
            <a:pPr marL="857250" indent="-857250">
              <a:buFont typeface="Arial" panose="020B0604020202020204" pitchFamily="34" charset="0"/>
              <a:buChar char="•"/>
            </a:pPr>
            <a:r>
              <a:rPr lang="en-US" sz="3200" dirty="0">
                <a:solidFill>
                  <a:schemeClr val="bg1"/>
                </a:solidFill>
                <a:uFillTx/>
              </a:rPr>
              <a:t>Dynamic Dribbler (1v1)</a:t>
            </a:r>
          </a:p>
          <a:p>
            <a:pPr marL="857250" indent="-857250">
              <a:buFont typeface="Arial" panose="020B0604020202020204" pitchFamily="34" charset="0"/>
              <a:buChar char="•"/>
            </a:pPr>
            <a:r>
              <a:rPr lang="en-US" sz="3200" dirty="0">
                <a:solidFill>
                  <a:schemeClr val="bg1"/>
                </a:solidFill>
                <a:uFillTx/>
              </a:rPr>
              <a:t>Creative</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Accurate, Dynamic Crossing</a:t>
            </a:r>
          </a:p>
          <a:p>
            <a:pPr marL="857250" indent="-857250">
              <a:buFont typeface="Arial" panose="020B0604020202020204" pitchFamily="34" charset="0"/>
              <a:buChar char="•"/>
            </a:pPr>
            <a:r>
              <a:rPr lang="en-US" sz="3200" dirty="0">
                <a:solidFill>
                  <a:schemeClr val="bg1"/>
                </a:solidFill>
                <a:uFillTx/>
              </a:rPr>
              <a:t>High Endurance, Good Speed</a:t>
            </a:r>
          </a:p>
          <a:p>
            <a:pPr marL="857250" indent="-857250">
              <a:buFont typeface="Arial" panose="020B0604020202020204" pitchFamily="34" charset="0"/>
              <a:buChar char="•"/>
            </a:pPr>
            <a:r>
              <a:rPr lang="en-US" sz="3200" dirty="0">
                <a:solidFill>
                  <a:schemeClr val="bg1"/>
                </a:solidFill>
                <a:uFillTx/>
              </a:rPr>
              <a:t>Accurate Finishing, Inside and Outside Penalty Area</a:t>
            </a:r>
          </a:p>
        </p:txBody>
      </p:sp>
      <p:pic>
        <p:nvPicPr>
          <p:cNvPr id="6" name="Picture 5">
            <a:extLst>
              <a:ext uri="{FF2B5EF4-FFF2-40B4-BE49-F238E27FC236}">
                <a16:creationId xmlns:a16="http://schemas.microsoft.com/office/drawing/2014/main" id="{012E1486-80A2-014A-80EF-0123E9FAA062}"/>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3481006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a:solidFill>
            <a:schemeClr val="tx1"/>
          </a:solidFill>
        </p:spPr>
      </p:pic>
      <p:sp>
        <p:nvSpPr>
          <p:cNvPr id="7" name="TextBox 6"/>
          <p:cNvSpPr txBox="1"/>
          <p:nvPr/>
        </p:nvSpPr>
        <p:spPr>
          <a:xfrm>
            <a:off x="2669822" y="4876708"/>
            <a:ext cx="6852356"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Recover &amp; track into defensive third to assist fullback when needed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Move centrally to provide cover &amp; balance when ball is on opposite side</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Monitor situation to defend both space &amp; opponent &amp; press in identified situations</a:t>
            </a:r>
          </a:p>
          <a:p>
            <a:pPr marL="285750" indent="-285750">
              <a:buFont typeface="Arial" panose="020B0604020202020204" pitchFamily="34" charset="0"/>
              <a:buChar char="•"/>
            </a:pPr>
            <a:r>
              <a:rPr lang="en-US" sz="1200" dirty="0">
                <a:solidFill>
                  <a:schemeClr val="bg1"/>
                </a:solidFill>
              </a:rPr>
              <a:t>Prevent opponent from dribbling or passing forward (1v1)</a:t>
            </a:r>
          </a:p>
        </p:txBody>
      </p:sp>
      <p:sp>
        <p:nvSpPr>
          <p:cNvPr id="8" name="TextBox 7"/>
          <p:cNvSpPr txBox="1"/>
          <p:nvPr/>
        </p:nvSpPr>
        <p:spPr>
          <a:xfrm>
            <a:off x="82251" y="2690336"/>
            <a:ext cx="5029200" cy="1477328"/>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to support in space</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support quickly in space to exploit opponent &amp; create chances</a:t>
            </a:r>
          </a:p>
        </p:txBody>
      </p:sp>
      <p:sp>
        <p:nvSpPr>
          <p:cNvPr id="9" name="TextBox 8"/>
          <p:cNvSpPr txBox="1"/>
          <p:nvPr/>
        </p:nvSpPr>
        <p:spPr>
          <a:xfrm>
            <a:off x="7007578" y="2658069"/>
            <a:ext cx="5029200"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 to prevent danger</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  Follow direction from teammates behind.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7, 11</a:t>
            </a:r>
          </a:p>
          <a:p>
            <a:r>
              <a:rPr lang="en-US" dirty="0"/>
              <a:t>Wide Forwards</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03132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high &amp; wide as starting point to spread opposition &amp; create space for teammates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Vary supporting movements in space between or behind the defensive line of the opponent</a:t>
            </a:r>
          </a:p>
          <a:p>
            <a:pPr marL="285750" indent="-285750">
              <a:buFont typeface="Arial" panose="020B0604020202020204" pitchFamily="34" charset="0"/>
              <a:buChar char="•"/>
            </a:pPr>
            <a:r>
              <a:rPr lang="en-US" sz="1200" dirty="0">
                <a:solidFill>
                  <a:schemeClr val="bg1"/>
                </a:solidFill>
              </a:rPr>
              <a:t>Pass or dribble forward, create 1v1, 2v1, in both wide &amp; central areas</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Take on defenders 1v1 to unbalance opponent – on outside to create chances from crosses or inside to score goals</a:t>
            </a:r>
          </a:p>
          <a:p>
            <a:pPr marL="285750" indent="-285750">
              <a:buFont typeface="Arial" panose="020B0604020202020204" pitchFamily="34" charset="0"/>
              <a:buChar char="•"/>
            </a:pPr>
            <a:r>
              <a:rPr lang="en-US" sz="1200" dirty="0">
                <a:solidFill>
                  <a:schemeClr val="bg1"/>
                </a:solidFill>
              </a:rPr>
              <a:t>Move into goal scoring positions in the box or at the back post</a:t>
            </a:r>
          </a:p>
        </p:txBody>
      </p:sp>
      <p:pic>
        <p:nvPicPr>
          <p:cNvPr id="24" name="Picture 23">
            <a:extLst>
              <a:ext uri="{FF2B5EF4-FFF2-40B4-BE49-F238E27FC236}">
                <a16:creationId xmlns:a16="http://schemas.microsoft.com/office/drawing/2014/main" id="{2DC22E85-D659-4E4E-8029-76B2334C3A63}"/>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6293135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4"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56190" cy="1631216"/>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Stretch opponent </a:t>
            </a:r>
          </a:p>
          <a:p>
            <a:pPr marL="457200" indent="-457200">
              <a:buChar char="•"/>
            </a:pPr>
            <a:r>
              <a:rPr lang="en-US" sz="1200" dirty="0">
                <a:solidFill>
                  <a:schemeClr val="bg1"/>
                </a:solidFill>
                <a:uFillTx/>
              </a:rPr>
              <a:t>Occupy half space</a:t>
            </a: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Create diamond shape</a:t>
            </a:r>
          </a:p>
          <a:p>
            <a:pPr marL="457200" indent="-457200">
              <a:buChar char="•"/>
            </a:pPr>
            <a:r>
              <a:rPr lang="en-US" sz="1200" dirty="0">
                <a:solidFill>
                  <a:schemeClr val="bg1"/>
                </a:solidFill>
                <a:uFillTx/>
              </a:rPr>
              <a:t>Disorganize opponent </a:t>
            </a:r>
          </a:p>
          <a:p>
            <a:pPr marL="457200" indent="-457200">
              <a:buChar char="•"/>
            </a:pPr>
            <a:r>
              <a:rPr lang="en-US" sz="1200" dirty="0">
                <a:solidFill>
                  <a:schemeClr val="bg1"/>
                </a:solidFill>
                <a:uFillTx/>
              </a:rPr>
              <a:t>Draw opponent to one side to find </a:t>
            </a:r>
          </a:p>
          <a:p>
            <a:pPr marL="457200" indent="-457200">
              <a:buChar char="•"/>
            </a:pPr>
            <a:r>
              <a:rPr lang="en-US" sz="1200" dirty="0">
                <a:solidFill>
                  <a:schemeClr val="bg1"/>
                </a:solidFill>
                <a:uFillTx/>
              </a:rPr>
              <a:t>isolation on opposite side</a:t>
            </a:r>
          </a:p>
        </p:txBody>
      </p:sp>
      <p:sp>
        <p:nvSpPr>
          <p:cNvPr id="5" name="TextBox 4"/>
          <p:cNvSpPr txBox="1">
            <a:spLocks/>
          </p:cNvSpPr>
          <p:nvPr/>
        </p:nvSpPr>
        <p:spPr>
          <a:xfrm>
            <a:off x="4892881" y="0"/>
            <a:ext cx="3383280" cy="1631216"/>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Occupy half space </a:t>
            </a:r>
            <a:endParaRPr lang="en-US" sz="1200" b="1" u="sng" dirty="0">
              <a:solidFill>
                <a:schemeClr val="bg1"/>
              </a:solidFill>
              <a:uFillTx/>
            </a:endParaRP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Create diamond shape</a:t>
            </a:r>
          </a:p>
          <a:p>
            <a:pPr marL="457200" indent="-457200">
              <a:buChar char="•"/>
            </a:pPr>
            <a:r>
              <a:rPr lang="en-US" sz="1200" dirty="0">
                <a:solidFill>
                  <a:schemeClr val="bg1"/>
                </a:solidFill>
                <a:uFillTx/>
              </a:rPr>
              <a:t>Disorganize opponent </a:t>
            </a:r>
          </a:p>
          <a:p>
            <a:pPr marL="457200" indent="-457200">
              <a:buChar char="•"/>
            </a:pPr>
            <a:r>
              <a:rPr lang="en-US" sz="1200" dirty="0">
                <a:solidFill>
                  <a:schemeClr val="bg1"/>
                </a:solidFill>
                <a:uFillTx/>
              </a:rPr>
              <a:t>Draw opponent to one side to find </a:t>
            </a:r>
          </a:p>
          <a:p>
            <a:pPr marL="457200" indent="-457200">
              <a:buChar char="•"/>
            </a:pPr>
            <a:r>
              <a:rPr lang="en-US" sz="1200" dirty="0">
                <a:solidFill>
                  <a:schemeClr val="bg1"/>
                </a:solidFill>
                <a:uFillTx/>
              </a:rPr>
              <a:t>Isolation on opposite side</a:t>
            </a:r>
          </a:p>
          <a:p>
            <a:pPr marL="457200" indent="-457200">
              <a:buChar char="•"/>
            </a:pPr>
            <a:r>
              <a:rPr lang="en-US" sz="1200" dirty="0">
                <a:solidFill>
                  <a:schemeClr val="bg1"/>
                </a:solidFill>
                <a:uFillTx/>
              </a:rPr>
              <a:t>Eliminate defender on pass or dribble</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Eliminate defenders on pass or dribble </a:t>
            </a:r>
          </a:p>
          <a:p>
            <a:pPr marL="457200" indent="-457200">
              <a:buChar char="•"/>
            </a:pPr>
            <a:r>
              <a:rPr lang="en-US" sz="1200" dirty="0">
                <a:solidFill>
                  <a:schemeClr val="bg1"/>
                </a:solidFill>
                <a:uFillTx/>
              </a:rPr>
              <a:t>Occupy half space </a:t>
            </a:r>
            <a:endParaRPr lang="en-US" sz="1200" b="1" u="sng" dirty="0">
              <a:solidFill>
                <a:schemeClr val="bg1"/>
              </a:solidFill>
              <a:uFillTx/>
            </a:endParaRP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Draw opponent to one side to find </a:t>
            </a:r>
          </a:p>
          <a:p>
            <a:pPr marL="457200" indent="-457200">
              <a:buChar char="•"/>
            </a:pPr>
            <a:r>
              <a:rPr lang="en-US" sz="1200" dirty="0">
                <a:solidFill>
                  <a:schemeClr val="bg1"/>
                </a:solidFill>
                <a:uFillTx/>
              </a:rPr>
              <a:t>isolation on opposite side</a:t>
            </a:r>
          </a:p>
          <a:p>
            <a:pPr marL="457200" indent="-457200">
              <a:buChar char="•"/>
            </a:pPr>
            <a:r>
              <a:rPr lang="en-US" sz="1200" dirty="0">
                <a:solidFill>
                  <a:schemeClr val="bg1"/>
                </a:solidFill>
                <a:uFillTx/>
              </a:rPr>
              <a:t>Penetrate opponent in half space / box </a:t>
            </a:r>
          </a:p>
          <a:p>
            <a:pPr marL="457200" indent="-457200">
              <a:buChar char="•"/>
            </a:pPr>
            <a:r>
              <a:rPr lang="en-US" sz="1200" dirty="0">
                <a:solidFill>
                  <a:schemeClr val="bg1"/>
                </a:solidFill>
                <a:uFillTx/>
              </a:rPr>
              <a:t>Score and assist goals</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864652" y="171139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15" name="Isosceles Triangle 14"/>
          <p:cNvSpPr>
            <a:spLocks noChangeAspect="1"/>
          </p:cNvSpPr>
          <p:nvPr/>
        </p:nvSpPr>
        <p:spPr>
          <a:xfrm>
            <a:off x="1719585" y="532256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6" name="Isosceles Triangle 15"/>
          <p:cNvSpPr>
            <a:spLocks noChangeAspect="1"/>
          </p:cNvSpPr>
          <p:nvPr/>
        </p:nvSpPr>
        <p:spPr>
          <a:xfrm>
            <a:off x="3636131" y="513607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7" name="Isosceles Triangle 16"/>
          <p:cNvSpPr>
            <a:spLocks noChangeAspect="1"/>
          </p:cNvSpPr>
          <p:nvPr/>
        </p:nvSpPr>
        <p:spPr>
          <a:xfrm>
            <a:off x="5400852" y="423838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8" name="Isosceles Triangle 17"/>
          <p:cNvSpPr>
            <a:spLocks noChangeAspect="1"/>
          </p:cNvSpPr>
          <p:nvPr/>
        </p:nvSpPr>
        <p:spPr>
          <a:xfrm>
            <a:off x="7655103" y="405452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9" name="Isosceles Triangle 18"/>
          <p:cNvSpPr>
            <a:spLocks noChangeAspect="1"/>
          </p:cNvSpPr>
          <p:nvPr/>
        </p:nvSpPr>
        <p:spPr>
          <a:xfrm>
            <a:off x="9153083" y="293076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20" name="Isosceles Triangle 19"/>
          <p:cNvSpPr>
            <a:spLocks noChangeAspect="1"/>
          </p:cNvSpPr>
          <p:nvPr/>
        </p:nvSpPr>
        <p:spPr>
          <a:xfrm>
            <a:off x="11199607" y="315107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21" name="TextBox 20"/>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#7/11</a:t>
            </a:r>
          </a:p>
          <a:p>
            <a:pPr algn="ctr"/>
            <a:r>
              <a:rPr lang="en-US" sz="2400" dirty="0">
                <a:solidFill>
                  <a:srgbClr val="CC9900"/>
                </a:solidFill>
                <a:uFillTx/>
              </a:rPr>
              <a:t>(WIDE FWD)</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
        <p:nvSpPr>
          <p:cNvPr id="26" name="Freeform 25"/>
          <p:cNvSpPr>
            <a:spLocks/>
          </p:cNvSpPr>
          <p:nvPr/>
        </p:nvSpPr>
        <p:spPr>
          <a:xfrm rot="2040000">
            <a:off x="1990344" y="4980627"/>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27" name="Straight Arrow Connector 26"/>
          <p:cNvCxnSpPr/>
          <p:nvPr/>
        </p:nvCxnSpPr>
        <p:spPr>
          <a:xfrm flipH="1">
            <a:off x="1615610" y="5575265"/>
            <a:ext cx="207950" cy="248840"/>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H="1" flipV="1">
            <a:off x="1615610" y="4909705"/>
            <a:ext cx="173844" cy="41023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1974943" y="5414499"/>
            <a:ext cx="306587" cy="80006"/>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grpSp>
        <p:nvGrpSpPr>
          <p:cNvPr id="31" name="Group 30"/>
          <p:cNvGrpSpPr/>
          <p:nvPr/>
        </p:nvGrpSpPr>
        <p:grpSpPr>
          <a:xfrm>
            <a:off x="3294948" y="4565835"/>
            <a:ext cx="676724" cy="1087925"/>
            <a:chOff x="2315742" y="5066641"/>
            <a:chExt cx="676724" cy="1087925"/>
          </a:xfrm>
        </p:grpSpPr>
        <p:cxnSp>
          <p:nvCxnSpPr>
            <p:cNvPr id="32" name="Straight Arrow Connector 31"/>
            <p:cNvCxnSpPr/>
            <p:nvPr/>
          </p:nvCxnSpPr>
          <p:spPr>
            <a:xfrm flipH="1" flipV="1">
              <a:off x="2520911" y="5164980"/>
              <a:ext cx="184041" cy="44304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2315742" y="5828065"/>
              <a:ext cx="297190" cy="148376"/>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flipV="1">
              <a:off x="2847559" y="5066641"/>
              <a:ext cx="144907" cy="57024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2778763" y="5929297"/>
              <a:ext cx="46946" cy="225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grpSp>
      <p:sp>
        <p:nvSpPr>
          <p:cNvPr id="39" name="Freeform 38"/>
          <p:cNvSpPr>
            <a:spLocks/>
          </p:cNvSpPr>
          <p:nvPr/>
        </p:nvSpPr>
        <p:spPr>
          <a:xfrm rot="780000">
            <a:off x="5478471" y="3802992"/>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40" name="Straight Arrow Connector 39"/>
          <p:cNvCxnSpPr/>
          <p:nvPr/>
        </p:nvCxnSpPr>
        <p:spPr>
          <a:xfrm flipV="1">
            <a:off x="5583109" y="3668487"/>
            <a:ext cx="246301" cy="588499"/>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V="1">
            <a:off x="5667603" y="3849832"/>
            <a:ext cx="507971" cy="480488"/>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H="1">
            <a:off x="7529761" y="4330320"/>
            <a:ext cx="206923" cy="25854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H="1" flipV="1">
            <a:off x="7814595" y="3597053"/>
            <a:ext cx="24550" cy="51447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0" name="TextBox 49"/>
          <p:cNvSpPr txBox="1">
            <a:spLocks/>
          </p:cNvSpPr>
          <p:nvPr/>
        </p:nvSpPr>
        <p:spPr>
          <a:xfrm>
            <a:off x="9153636" y="2952758"/>
            <a:ext cx="779951" cy="601571"/>
          </a:xfrm>
          <a:prstGeom prst="rect">
            <a:avLst/>
          </a:prstGeom>
          <a:ln w="19050">
            <a:solidFill>
              <a:srgbClr val="CC9900"/>
            </a:solidFill>
          </a:ln>
        </p:spPr>
        <p:txBody>
          <a:bodyPr wrap="square" rtlCol="0" anchor="ctr">
            <a:noAutofit/>
          </a:bodyPr>
          <a:lstStyle/>
          <a:p>
            <a:pPr algn="ctr"/>
            <a:r>
              <a:rPr lang="en-US" sz="1200" dirty="0">
                <a:uFillTx/>
              </a:rPr>
              <a:t>½ Space</a:t>
            </a:r>
          </a:p>
        </p:txBody>
      </p:sp>
      <p:cxnSp>
        <p:nvCxnSpPr>
          <p:cNvPr id="51" name="Straight Arrow Connector 50"/>
          <p:cNvCxnSpPr/>
          <p:nvPr/>
        </p:nvCxnSpPr>
        <p:spPr>
          <a:xfrm flipH="1" flipV="1">
            <a:off x="11113077" y="2613314"/>
            <a:ext cx="225623" cy="53776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3" name="Freeform 52"/>
          <p:cNvSpPr>
            <a:spLocks/>
          </p:cNvSpPr>
          <p:nvPr/>
        </p:nvSpPr>
        <p:spPr>
          <a:xfrm rot="-1860000">
            <a:off x="11062126" y="2796738"/>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4" name="Straight Arrow Connector 53"/>
          <p:cNvCxnSpPr/>
          <p:nvPr/>
        </p:nvCxnSpPr>
        <p:spPr>
          <a:xfrm flipH="1">
            <a:off x="11231083" y="3397830"/>
            <a:ext cx="49487" cy="23226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6" name="Freeform 55"/>
          <p:cNvSpPr>
            <a:spLocks/>
          </p:cNvSpPr>
          <p:nvPr/>
        </p:nvSpPr>
        <p:spPr>
          <a:xfrm rot="2340000">
            <a:off x="9428311" y="2638360"/>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7" name="Straight Arrow Connector 56"/>
          <p:cNvCxnSpPr/>
          <p:nvPr/>
        </p:nvCxnSpPr>
        <p:spPr>
          <a:xfrm flipV="1">
            <a:off x="9283854" y="2371519"/>
            <a:ext cx="144907" cy="57024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V="1">
            <a:off x="9393586" y="3062960"/>
            <a:ext cx="267852" cy="3167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85414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2"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3"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83280" cy="1261884"/>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Move forward when opponent plays </a:t>
            </a:r>
          </a:p>
          <a:p>
            <a:pPr marL="457200" indent="-457200">
              <a:buChar char="•"/>
            </a:pPr>
            <a:r>
              <a:rPr lang="en-US" sz="1200" dirty="0">
                <a:solidFill>
                  <a:schemeClr val="bg1"/>
                </a:solidFill>
                <a:uFillTx/>
              </a:rPr>
              <a:t>backward </a:t>
            </a:r>
          </a:p>
          <a:p>
            <a:pPr marL="457200" indent="-457200">
              <a:buChar char="•"/>
            </a:pPr>
            <a:r>
              <a:rPr lang="en-US" sz="1200" dirty="0">
                <a:solidFill>
                  <a:schemeClr val="bg1"/>
                </a:solidFill>
                <a:uFillTx/>
              </a:rPr>
              <a:t>Limit penetration in wide areas </a:t>
            </a:r>
          </a:p>
        </p:txBody>
      </p:sp>
      <p:sp>
        <p:nvSpPr>
          <p:cNvPr id="5" name="TextBox 4"/>
          <p:cNvSpPr txBox="1">
            <a:spLocks/>
          </p:cNvSpPr>
          <p:nvPr/>
        </p:nvSpPr>
        <p:spPr>
          <a:xfrm>
            <a:off x="4892881" y="0"/>
            <a:ext cx="3383280" cy="1446550"/>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Horizontal and vertical compactness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Move forward when opponent plays </a:t>
            </a:r>
          </a:p>
          <a:p>
            <a:pPr marL="457200" indent="-457200">
              <a:buChar char="•"/>
            </a:pPr>
            <a:r>
              <a:rPr lang="en-US" sz="1200" dirty="0">
                <a:solidFill>
                  <a:schemeClr val="bg1"/>
                </a:solidFill>
                <a:uFillTx/>
              </a:rPr>
              <a:t>backward </a:t>
            </a:r>
          </a:p>
          <a:p>
            <a:pPr marL="457200" indent="-457200">
              <a:buChar char="•"/>
            </a:pPr>
            <a:r>
              <a:rPr lang="en-US" sz="1200" dirty="0">
                <a:solidFill>
                  <a:schemeClr val="bg1"/>
                </a:solidFill>
                <a:uFillTx/>
              </a:rPr>
              <a:t>Limit opponent’s passes between line</a:t>
            </a:r>
          </a:p>
          <a:p>
            <a:pPr marL="457200" indent="-457200">
              <a:buChar char="•"/>
            </a:pPr>
            <a:r>
              <a:rPr lang="en-US" sz="1200" dirty="0">
                <a:solidFill>
                  <a:schemeClr val="bg1"/>
                </a:solidFill>
                <a:uFillTx/>
              </a:rPr>
              <a:t>Recover the ball in wide areas </a:t>
            </a:r>
          </a:p>
        </p:txBody>
      </p:sp>
      <p:sp>
        <p:nvSpPr>
          <p:cNvPr id="6" name="TextBox 5"/>
          <p:cNvSpPr txBox="1">
            <a:spLocks/>
          </p:cNvSpPr>
          <p:nvPr/>
        </p:nvSpPr>
        <p:spPr>
          <a:xfrm>
            <a:off x="8547850" y="0"/>
            <a:ext cx="3383279" cy="1077218"/>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Make opponent play predictably </a:t>
            </a:r>
          </a:p>
          <a:p>
            <a:pPr marL="457200" indent="-457200">
              <a:buChar char="•"/>
            </a:pPr>
            <a:r>
              <a:rPr lang="en-US" sz="1200" dirty="0">
                <a:solidFill>
                  <a:schemeClr val="bg1"/>
                </a:solidFill>
                <a:uFillTx/>
              </a:rPr>
              <a:t>Limit opponent’s passes between line</a:t>
            </a:r>
          </a:p>
          <a:p>
            <a:pPr marL="457200" indent="-457200">
              <a:buChar char="•"/>
            </a:pPr>
            <a:r>
              <a:rPr lang="en-US" sz="1200" dirty="0">
                <a:solidFill>
                  <a:schemeClr val="bg1"/>
                </a:solidFill>
                <a:uFillTx/>
              </a:rPr>
              <a:t>Recover the ball in wide areas </a:t>
            </a:r>
          </a:p>
          <a:p>
            <a:pPr marL="457200" indent="-457200">
              <a:buChar char="•"/>
            </a:pPr>
            <a:r>
              <a:rPr lang="en-US" sz="1200" dirty="0">
                <a:solidFill>
                  <a:schemeClr val="bg1"/>
                </a:solidFill>
                <a:uFillTx/>
              </a:rPr>
              <a:t>Identify and pressure the hot-spot </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Isosceles Triangle 37"/>
          <p:cNvSpPr>
            <a:spLocks noChangeAspect="1"/>
          </p:cNvSpPr>
          <p:nvPr/>
        </p:nvSpPr>
        <p:spPr>
          <a:xfrm>
            <a:off x="1719585" y="532256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5" name="Isosceles Triangle 14"/>
          <p:cNvSpPr>
            <a:spLocks noChangeAspect="1"/>
          </p:cNvSpPr>
          <p:nvPr/>
        </p:nvSpPr>
        <p:spPr>
          <a:xfrm>
            <a:off x="3636131" y="513607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6" name="Isosceles Triangle 15"/>
          <p:cNvSpPr>
            <a:spLocks noChangeAspect="1"/>
          </p:cNvSpPr>
          <p:nvPr/>
        </p:nvSpPr>
        <p:spPr>
          <a:xfrm>
            <a:off x="5613866" y="427084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7" name="Isosceles Triangle 16"/>
          <p:cNvSpPr>
            <a:spLocks noChangeAspect="1"/>
          </p:cNvSpPr>
          <p:nvPr/>
        </p:nvSpPr>
        <p:spPr>
          <a:xfrm>
            <a:off x="7208993" y="423973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18" name="Isosceles Triangle 17"/>
          <p:cNvSpPr>
            <a:spLocks noChangeAspect="1"/>
          </p:cNvSpPr>
          <p:nvPr/>
        </p:nvSpPr>
        <p:spPr>
          <a:xfrm>
            <a:off x="9512197" y="3343839"/>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11</a:t>
            </a:r>
          </a:p>
        </p:txBody>
      </p:sp>
      <p:sp>
        <p:nvSpPr>
          <p:cNvPr id="19" name="Isosceles Triangle 18"/>
          <p:cNvSpPr>
            <a:spLocks noChangeAspect="1"/>
          </p:cNvSpPr>
          <p:nvPr/>
        </p:nvSpPr>
        <p:spPr>
          <a:xfrm>
            <a:off x="10946713" y="3251908"/>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7</a:t>
            </a:r>
          </a:p>
        </p:txBody>
      </p:sp>
      <p:sp>
        <p:nvSpPr>
          <p:cNvPr id="20" name="TextBox 19"/>
          <p:cNvSpPr txBox="1">
            <a:spLocks/>
          </p:cNvSpPr>
          <p:nvPr/>
        </p:nvSpPr>
        <p:spPr>
          <a:xfrm>
            <a:off x="110867" y="412790"/>
            <a:ext cx="802743" cy="6032421"/>
          </a:xfrm>
          <a:prstGeom prst="rect">
            <a:avLst/>
          </a:prstGeom>
          <a:noFill/>
        </p:spPr>
        <p:txBody>
          <a:bodyPr wrap="square" lIns="0" tIns="0" rIns="0" bIns="0" rtlCol="0">
            <a:spAutoFit/>
          </a:bodyPr>
          <a:lstStyle/>
          <a:p>
            <a:pPr algn="ctr"/>
            <a:r>
              <a:rPr lang="en-US" sz="2400" dirty="0">
                <a:solidFill>
                  <a:srgbClr val="CC9900"/>
                </a:solidFill>
                <a:uFillTx/>
              </a:rPr>
              <a:t>#7/11</a:t>
            </a:r>
          </a:p>
          <a:p>
            <a:pPr algn="ctr"/>
            <a:r>
              <a:rPr lang="en-US" sz="2400" dirty="0">
                <a:solidFill>
                  <a:srgbClr val="CC9900"/>
                </a:solidFill>
                <a:uFillTx/>
              </a:rPr>
              <a:t>(WIDE FWD)</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cxnSp>
        <p:nvCxnSpPr>
          <p:cNvPr id="25" name="Straight Arrow Connector 24"/>
          <p:cNvCxnSpPr/>
          <p:nvPr/>
        </p:nvCxnSpPr>
        <p:spPr>
          <a:xfrm flipV="1">
            <a:off x="1934969" y="5376921"/>
            <a:ext cx="319503" cy="4759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flipV="1">
            <a:off x="3845393" y="5039591"/>
            <a:ext cx="274568" cy="14408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3742201" y="5362349"/>
            <a:ext cx="274568" cy="14408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29" name="TextBox 28"/>
          <p:cNvSpPr txBox="1">
            <a:spLocks/>
          </p:cNvSpPr>
          <p:nvPr/>
        </p:nvSpPr>
        <p:spPr>
          <a:xfrm>
            <a:off x="1321873" y="5400718"/>
            <a:ext cx="1069284" cy="601571"/>
          </a:xfrm>
          <a:prstGeom prst="rect">
            <a:avLst/>
          </a:prstGeom>
          <a:ln w="19050">
            <a:noFill/>
          </a:ln>
        </p:spPr>
        <p:txBody>
          <a:bodyPr wrap="square" lIns="0" tIns="0" rIns="0" bIns="0" rtlCol="0" anchor="ctr">
            <a:noAutofit/>
          </a:bodyPr>
          <a:lstStyle/>
          <a:p>
            <a:pPr algn="ctr"/>
            <a:r>
              <a:rPr lang="en-US" sz="1000" dirty="0">
                <a:uFillTx/>
              </a:rPr>
              <a:t>Prevent Central Penetration</a:t>
            </a:r>
          </a:p>
        </p:txBody>
      </p:sp>
      <p:cxnSp>
        <p:nvCxnSpPr>
          <p:cNvPr id="31" name="Straight Arrow Connector 30"/>
          <p:cNvCxnSpPr/>
          <p:nvPr/>
        </p:nvCxnSpPr>
        <p:spPr>
          <a:xfrm>
            <a:off x="5798935" y="4330119"/>
            <a:ext cx="388851" cy="1548"/>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a:off x="5719936" y="4539669"/>
            <a:ext cx="0" cy="30676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36" name="TextBox 35"/>
          <p:cNvSpPr txBox="1">
            <a:spLocks/>
          </p:cNvSpPr>
          <p:nvPr/>
        </p:nvSpPr>
        <p:spPr>
          <a:xfrm>
            <a:off x="5738250" y="4422607"/>
            <a:ext cx="1199053" cy="601571"/>
          </a:xfrm>
          <a:prstGeom prst="rect">
            <a:avLst/>
          </a:prstGeom>
          <a:ln w="19050">
            <a:noFill/>
          </a:ln>
        </p:spPr>
        <p:txBody>
          <a:bodyPr wrap="square" lIns="0" tIns="0" rIns="0" bIns="0" rtlCol="0" anchor="ctr">
            <a:noAutofit/>
          </a:bodyPr>
          <a:lstStyle/>
          <a:p>
            <a:pPr algn="ctr"/>
            <a:r>
              <a:rPr lang="en-US" sz="1000" dirty="0">
                <a:uFillTx/>
              </a:rPr>
              <a:t>Vertical &amp; Horizontal</a:t>
            </a:r>
          </a:p>
          <a:p>
            <a:pPr algn="ctr"/>
            <a:r>
              <a:rPr lang="en-US" sz="1000" dirty="0">
                <a:uFillTx/>
              </a:rPr>
              <a:t>Compactness</a:t>
            </a:r>
          </a:p>
        </p:txBody>
      </p:sp>
      <p:sp>
        <p:nvSpPr>
          <p:cNvPr id="37" name="TextBox 36"/>
          <p:cNvSpPr txBox="1">
            <a:spLocks/>
          </p:cNvSpPr>
          <p:nvPr/>
        </p:nvSpPr>
        <p:spPr>
          <a:xfrm>
            <a:off x="6715536" y="3610666"/>
            <a:ext cx="1199053" cy="601571"/>
          </a:xfrm>
          <a:prstGeom prst="rect">
            <a:avLst/>
          </a:prstGeom>
          <a:ln w="19050">
            <a:noFill/>
          </a:ln>
        </p:spPr>
        <p:txBody>
          <a:bodyPr wrap="square" lIns="0" tIns="0" rIns="0" bIns="0" rtlCol="0" anchor="ctr">
            <a:noAutofit/>
          </a:bodyPr>
          <a:lstStyle/>
          <a:p>
            <a:pPr algn="ctr"/>
            <a:r>
              <a:rPr lang="en-US" sz="1000" dirty="0">
                <a:uFillTx/>
              </a:rPr>
              <a:t>Recover Ball in</a:t>
            </a:r>
          </a:p>
          <a:p>
            <a:pPr algn="ctr"/>
            <a:r>
              <a:rPr lang="en-US" sz="1000" dirty="0">
                <a:uFillTx/>
              </a:rPr>
              <a:t>Wide Areas</a:t>
            </a:r>
          </a:p>
        </p:txBody>
      </p:sp>
      <p:cxnSp>
        <p:nvCxnSpPr>
          <p:cNvPr id="39" name="Straight Arrow Connector 38"/>
          <p:cNvCxnSpPr/>
          <p:nvPr/>
        </p:nvCxnSpPr>
        <p:spPr>
          <a:xfrm flipV="1">
            <a:off x="7421134" y="3979718"/>
            <a:ext cx="493455" cy="291130"/>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4" name="TextBox 43"/>
          <p:cNvSpPr txBox="1">
            <a:spLocks/>
          </p:cNvSpPr>
          <p:nvPr/>
        </p:nvSpPr>
        <p:spPr>
          <a:xfrm>
            <a:off x="8613609" y="2742268"/>
            <a:ext cx="1199053" cy="601571"/>
          </a:xfrm>
          <a:prstGeom prst="rect">
            <a:avLst/>
          </a:prstGeom>
          <a:ln w="19050">
            <a:noFill/>
          </a:ln>
        </p:spPr>
        <p:txBody>
          <a:bodyPr wrap="square" lIns="0" tIns="0" rIns="0" bIns="0" rtlCol="0" anchor="ctr">
            <a:noAutofit/>
          </a:bodyPr>
          <a:lstStyle/>
          <a:p>
            <a:pPr algn="ctr"/>
            <a:r>
              <a:rPr lang="en-US" sz="1000" dirty="0">
                <a:uFillTx/>
              </a:rPr>
              <a:t>Recover Ball in</a:t>
            </a:r>
          </a:p>
          <a:p>
            <a:pPr algn="ctr"/>
            <a:r>
              <a:rPr lang="en-US" sz="1000" dirty="0">
                <a:uFillTx/>
              </a:rPr>
              <a:t>Wide Areas</a:t>
            </a:r>
          </a:p>
        </p:txBody>
      </p:sp>
      <p:cxnSp>
        <p:nvCxnSpPr>
          <p:cNvPr id="45" name="Straight Arrow Connector 44"/>
          <p:cNvCxnSpPr/>
          <p:nvPr/>
        </p:nvCxnSpPr>
        <p:spPr>
          <a:xfrm flipH="1" flipV="1">
            <a:off x="8977745" y="3251908"/>
            <a:ext cx="544029" cy="18386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46" name="TextBox 45"/>
          <p:cNvSpPr txBox="1">
            <a:spLocks/>
          </p:cNvSpPr>
          <p:nvPr/>
        </p:nvSpPr>
        <p:spPr>
          <a:xfrm>
            <a:off x="10494960" y="3321847"/>
            <a:ext cx="1199053" cy="601571"/>
          </a:xfrm>
          <a:prstGeom prst="rect">
            <a:avLst/>
          </a:prstGeom>
          <a:ln w="19050">
            <a:noFill/>
          </a:ln>
        </p:spPr>
        <p:txBody>
          <a:bodyPr wrap="square" lIns="0" tIns="0" rIns="0" bIns="0" rtlCol="0" anchor="ctr">
            <a:noAutofit/>
          </a:bodyPr>
          <a:lstStyle/>
          <a:p>
            <a:pPr algn="ctr"/>
            <a:r>
              <a:rPr lang="en-US" sz="1000" dirty="0">
                <a:uFillTx/>
              </a:rPr>
              <a:t>Make Play Predictable</a:t>
            </a:r>
          </a:p>
        </p:txBody>
      </p:sp>
      <p:sp>
        <p:nvSpPr>
          <p:cNvPr id="32" name="Arc 31"/>
          <p:cNvSpPr>
            <a:spLocks/>
          </p:cNvSpPr>
          <p:nvPr/>
        </p:nvSpPr>
        <p:spPr>
          <a:xfrm rot="4608615">
            <a:off x="10722708" y="2555500"/>
            <a:ext cx="712853" cy="881332"/>
          </a:xfrm>
          <a:prstGeom prst="arc">
            <a:avLst>
              <a:gd name="adj1" fmla="val 15030553"/>
              <a:gd name="adj2" fmla="val 0"/>
            </a:avLst>
          </a:prstGeom>
          <a:ln>
            <a:solidFill>
              <a:schemeClr val="tx1"/>
            </a:solidFill>
            <a:prstDash val="dash"/>
            <a:headEnd type="triangle" w="med" len="med"/>
            <a:tailEnd type="non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
        <p:nvSpPr>
          <p:cNvPr id="47" name="Arc 46"/>
          <p:cNvSpPr>
            <a:spLocks/>
          </p:cNvSpPr>
          <p:nvPr/>
        </p:nvSpPr>
        <p:spPr>
          <a:xfrm rot="8525419" flipV="1">
            <a:off x="10875108" y="2624775"/>
            <a:ext cx="712853" cy="881332"/>
          </a:xfrm>
          <a:prstGeom prst="arc">
            <a:avLst>
              <a:gd name="adj1" fmla="val 15030553"/>
              <a:gd name="adj2" fmla="val 0"/>
            </a:avLst>
          </a:prstGeom>
          <a:ln>
            <a:solidFill>
              <a:schemeClr val="tx1"/>
            </a:solidFill>
            <a:prstDash val="dash"/>
            <a:headEnd type="triangle" w="med" len="med"/>
            <a:tailEnd type="non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Tree>
    <p:extLst>
      <p:ext uri="{BB962C8B-B14F-4D97-AF65-F5344CB8AC3E}">
        <p14:creationId xmlns:p14="http://schemas.microsoft.com/office/powerpoint/2010/main" val="22675016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106017" y="1"/>
            <a:ext cx="12409715" cy="6858000"/>
          </a:xfrm>
          <a:prstGeom prst="rect">
            <a:avLst/>
          </a:prstGeom>
        </p:spPr>
      </p:pic>
      <p:sp>
        <p:nvSpPr>
          <p:cNvPr id="3" name="TextBox 2"/>
          <p:cNvSpPr txBox="1">
            <a:spLocks/>
          </p:cNvSpPr>
          <p:nvPr/>
        </p:nvSpPr>
        <p:spPr>
          <a:xfrm>
            <a:off x="982057" y="547621"/>
            <a:ext cx="8428718" cy="1107996"/>
          </a:xfrm>
          <a:prstGeom prst="rect">
            <a:avLst/>
          </a:prstGeom>
          <a:noFill/>
        </p:spPr>
        <p:txBody>
          <a:bodyPr wrap="none" rtlCol="0">
            <a:spAutoFit/>
          </a:bodyPr>
          <a:lstStyle/>
          <a:p>
            <a:r>
              <a:rPr lang="en-US" sz="6600" dirty="0">
                <a:solidFill>
                  <a:srgbClr val="FFFF00"/>
                </a:solidFill>
                <a:uFillTx/>
              </a:rPr>
              <a:t>Key Qualities of a Player</a:t>
            </a:r>
          </a:p>
        </p:txBody>
      </p:sp>
      <p:sp>
        <p:nvSpPr>
          <p:cNvPr id="2" name="TextBox 1"/>
          <p:cNvSpPr txBox="1">
            <a:spLocks/>
          </p:cNvSpPr>
          <p:nvPr/>
        </p:nvSpPr>
        <p:spPr>
          <a:xfrm>
            <a:off x="744871" y="2051295"/>
            <a:ext cx="9597564" cy="4462760"/>
          </a:xfrm>
          <a:prstGeom prst="rect">
            <a:avLst/>
          </a:prstGeom>
          <a:noFill/>
        </p:spPr>
        <p:txBody>
          <a:bodyPr wrap="none" rtlCol="0">
            <a:spAutoFit/>
          </a:bodyPr>
          <a:lstStyle/>
          <a:p>
            <a:r>
              <a:rPr lang="en-US" sz="6000" dirty="0">
                <a:solidFill>
                  <a:schemeClr val="bg1"/>
                </a:solidFill>
                <a:uFillTx/>
              </a:rPr>
              <a:t>#9 Center Forward</a:t>
            </a:r>
          </a:p>
          <a:p>
            <a:pPr marL="857250" indent="-857250">
              <a:buFont typeface="Arial" panose="020B0604020202020204" pitchFamily="34" charset="0"/>
              <a:buChar char="•"/>
            </a:pPr>
            <a:r>
              <a:rPr lang="en-US" sz="3200" dirty="0">
                <a:solidFill>
                  <a:schemeClr val="bg1"/>
                </a:solidFill>
                <a:uFillTx/>
              </a:rPr>
              <a:t>Dynamic Dribbler</a:t>
            </a:r>
          </a:p>
          <a:p>
            <a:pPr marL="857250" indent="-857250">
              <a:buFont typeface="Arial" panose="020B0604020202020204" pitchFamily="34" charset="0"/>
              <a:buChar char="•"/>
            </a:pPr>
            <a:r>
              <a:rPr lang="en-US" sz="3200" dirty="0">
                <a:solidFill>
                  <a:schemeClr val="bg1"/>
                </a:solidFill>
                <a:uFillTx/>
              </a:rPr>
              <a:t>Creative</a:t>
            </a:r>
          </a:p>
          <a:p>
            <a:pPr marL="857250" indent="-857250">
              <a:buFont typeface="Arial" panose="020B0604020202020204" pitchFamily="34" charset="0"/>
              <a:buChar char="•"/>
            </a:pPr>
            <a:r>
              <a:rPr lang="en-US" sz="3200" dirty="0">
                <a:solidFill>
                  <a:schemeClr val="bg1"/>
                </a:solidFill>
                <a:uFillTx/>
              </a:rPr>
              <a:t>Good Touch/Control</a:t>
            </a:r>
          </a:p>
          <a:p>
            <a:pPr marL="857250" indent="-857250">
              <a:buFont typeface="Arial" panose="020B0604020202020204" pitchFamily="34" charset="0"/>
              <a:buChar char="•"/>
            </a:pPr>
            <a:r>
              <a:rPr lang="en-US" sz="3200" dirty="0">
                <a:solidFill>
                  <a:schemeClr val="bg1"/>
                </a:solidFill>
                <a:uFillTx/>
              </a:rPr>
              <a:t>Positionally Dominant</a:t>
            </a:r>
          </a:p>
          <a:p>
            <a:pPr marL="857250" indent="-857250">
              <a:buFont typeface="Arial" panose="020B0604020202020204" pitchFamily="34" charset="0"/>
              <a:buChar char="•"/>
            </a:pPr>
            <a:r>
              <a:rPr lang="en-US" sz="3200" dirty="0">
                <a:solidFill>
                  <a:schemeClr val="bg1"/>
                </a:solidFill>
                <a:uFillTx/>
              </a:rPr>
              <a:t>Aerially Dominant</a:t>
            </a:r>
          </a:p>
          <a:p>
            <a:pPr marL="857250" indent="-857250">
              <a:buFont typeface="Arial" panose="020B0604020202020204" pitchFamily="34" charset="0"/>
              <a:buChar char="•"/>
            </a:pPr>
            <a:r>
              <a:rPr lang="en-US" sz="3200" dirty="0">
                <a:solidFill>
                  <a:schemeClr val="bg1"/>
                </a:solidFill>
                <a:uFillTx/>
              </a:rPr>
              <a:t>Athletic</a:t>
            </a:r>
          </a:p>
          <a:p>
            <a:pPr marL="857250" indent="-857250">
              <a:buFont typeface="Arial" panose="020B0604020202020204" pitchFamily="34" charset="0"/>
              <a:buChar char="•"/>
            </a:pPr>
            <a:r>
              <a:rPr lang="en-US" sz="3200" dirty="0">
                <a:solidFill>
                  <a:schemeClr val="bg1"/>
                </a:solidFill>
                <a:uFillTx/>
              </a:rPr>
              <a:t>Accurate Finishing, Inside and Outside Penalty Area</a:t>
            </a:r>
          </a:p>
        </p:txBody>
      </p:sp>
      <p:pic>
        <p:nvPicPr>
          <p:cNvPr id="6" name="Picture 5">
            <a:extLst>
              <a:ext uri="{FF2B5EF4-FFF2-40B4-BE49-F238E27FC236}">
                <a16:creationId xmlns:a16="http://schemas.microsoft.com/office/drawing/2014/main" id="{A78EFA74-202D-CB45-B758-6B2A42174335}"/>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18259787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rgbClr val="000000"/>
              <a:srgbClr val="CC9900">
                <a:tint val="45000"/>
                <a:satMod val="400000"/>
              </a:srgbClr>
            </a:duotone>
          </a:blip>
          <a:stretch>
            <a:fillRect/>
          </a:stretch>
        </p:blipFill>
        <p:spPr>
          <a:xfrm>
            <a:off x="0" y="1"/>
            <a:ext cx="12409715" cy="6858000"/>
          </a:xfrm>
          <a:prstGeom prst="rect">
            <a:avLst/>
          </a:prstGeom>
        </p:spPr>
      </p:pic>
      <p:sp>
        <p:nvSpPr>
          <p:cNvPr id="7" name="TextBox 6"/>
          <p:cNvSpPr txBox="1"/>
          <p:nvPr/>
        </p:nvSpPr>
        <p:spPr>
          <a:xfrm>
            <a:off x="2669822" y="4876708"/>
            <a:ext cx="6852356"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Take anticipated attacking action &amp; positioning</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Position to force the opponent to play to one side/prevent opponent from switching the field</a:t>
            </a:r>
          </a:p>
          <a:p>
            <a:pPr marL="285750" indent="-285750">
              <a:buFont typeface="Arial" panose="020B0604020202020204" pitchFamily="34" charset="0"/>
              <a:buChar char="•"/>
            </a:pPr>
            <a:r>
              <a:rPr lang="en-US" sz="1200" dirty="0">
                <a:solidFill>
                  <a:schemeClr val="bg1"/>
                </a:solidFill>
              </a:rPr>
              <a:t>Pressure the ball &amp; help teammates to outnumber opponent</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Monitor situation to defend both space &amp; opponent &amp; press in identified situations</a:t>
            </a:r>
          </a:p>
          <a:p>
            <a:pPr marL="285750" indent="-285750">
              <a:buFont typeface="Arial" panose="020B0604020202020204" pitchFamily="34" charset="0"/>
              <a:buChar char="•"/>
            </a:pPr>
            <a:r>
              <a:rPr lang="en-US" sz="1200" dirty="0">
                <a:solidFill>
                  <a:schemeClr val="bg1"/>
                </a:solidFill>
              </a:rPr>
              <a:t>Decide to pressure the ball, stay in zonal space, or track opposition center back</a:t>
            </a:r>
          </a:p>
        </p:txBody>
      </p:sp>
      <p:sp>
        <p:nvSpPr>
          <p:cNvPr id="8" name="TextBox 7"/>
          <p:cNvSpPr txBox="1"/>
          <p:nvPr/>
        </p:nvSpPr>
        <p:spPr>
          <a:xfrm>
            <a:off x="82251" y="2690336"/>
            <a:ext cx="5029200" cy="1661993"/>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Defending to 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Move quickly into position (onside) to support in space high up the field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Keep the ball when cannot play forward, hold &amp; protect the ball while teammates support the attack</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&amp; support quickly in space to exploit opponent &amp; create chances</a:t>
            </a:r>
          </a:p>
        </p:txBody>
      </p:sp>
      <p:sp>
        <p:nvSpPr>
          <p:cNvPr id="9" name="TextBox 8"/>
          <p:cNvSpPr txBox="1"/>
          <p:nvPr/>
        </p:nvSpPr>
        <p:spPr>
          <a:xfrm>
            <a:off x="7007578" y="2658069"/>
            <a:ext cx="5029200" cy="1846659"/>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Transition Attacking to Defending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&amp; support on side of field for clearances</a:t>
            </a:r>
          </a:p>
          <a:p>
            <a:pPr marL="285750" indent="-285750">
              <a:buFont typeface="Arial" panose="020B0604020202020204" pitchFamily="34" charset="0"/>
              <a:buChar char="•"/>
            </a:pPr>
            <a:r>
              <a:rPr lang="en-US" sz="1200" dirty="0">
                <a:solidFill>
                  <a:schemeClr val="bg1"/>
                </a:solidFill>
              </a:rPr>
              <a:t>Prevent opponent from sustaining attack by playing backward</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Quick decision to pressure the ball, delay the opponents attack, or drop back.  Follow direction from teammates behind</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If closest to the situation, put pressure on the ball immediately</a:t>
            </a:r>
          </a:p>
        </p:txBody>
      </p:sp>
      <p:sp>
        <p:nvSpPr>
          <p:cNvPr id="6" name="TextBox 5"/>
          <p:cNvSpPr txBox="1"/>
          <p:nvPr/>
        </p:nvSpPr>
        <p:spPr>
          <a:xfrm>
            <a:off x="106516" y="123110"/>
            <a:ext cx="2049662" cy="923330"/>
          </a:xfrm>
          <a:prstGeom prst="rect">
            <a:avLst/>
          </a:prstGeom>
          <a:solidFill>
            <a:srgbClr val="FFFF00"/>
          </a:solidFill>
        </p:spPr>
        <p:txBody>
          <a:bodyPr wrap="square" lIns="0" rIns="0" rtlCol="0">
            <a:spAutoFit/>
          </a:bodyPr>
          <a:lstStyle/>
          <a:p>
            <a:r>
              <a:rPr lang="en-US" dirty="0"/>
              <a:t>NO. 9</a:t>
            </a:r>
          </a:p>
          <a:p>
            <a:r>
              <a:rPr lang="en-US" dirty="0"/>
              <a:t>Center Forward</a:t>
            </a:r>
          </a:p>
          <a:p>
            <a:r>
              <a:rPr lang="en-US" dirty="0"/>
              <a:t>Player Actions</a:t>
            </a:r>
          </a:p>
        </p:txBody>
      </p:sp>
      <p:sp>
        <p:nvSpPr>
          <p:cNvPr id="10" name="Bent Arrow 9"/>
          <p:cNvSpPr/>
          <p:nvPr/>
        </p:nvSpPr>
        <p:spPr>
          <a:xfrm>
            <a:off x="1512710" y="1169549"/>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2" name="Bent Arrow 11"/>
          <p:cNvSpPr/>
          <p:nvPr/>
        </p:nvSpPr>
        <p:spPr>
          <a:xfrm rot="5400000">
            <a:off x="9894710" y="1046440"/>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4" name="Bent Arrow 13"/>
          <p:cNvSpPr/>
          <p:nvPr/>
        </p:nvSpPr>
        <p:spPr>
          <a:xfrm rot="10800000">
            <a:off x="9890176" y="4972522"/>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sp>
        <p:nvSpPr>
          <p:cNvPr id="15" name="Bent Arrow 14"/>
          <p:cNvSpPr/>
          <p:nvPr/>
        </p:nvSpPr>
        <p:spPr>
          <a:xfrm rot="16200000">
            <a:off x="1483608" y="4943418"/>
            <a:ext cx="885723" cy="827516"/>
          </a:xfrm>
          <a:prstGeom prst="bentArrow">
            <a:avLst/>
          </a:prstGeom>
          <a:solidFill>
            <a:srgbClr val="FFFF00"/>
          </a:solidFill>
          <a:ln>
            <a:solidFill>
              <a:schemeClr val="tx1"/>
            </a:solidFill>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solidFill>
                <a:schemeClr val="tx1"/>
              </a:solidFill>
            </a:endParaRPr>
          </a:p>
        </p:txBody>
      </p:sp>
      <p:grpSp>
        <p:nvGrpSpPr>
          <p:cNvPr id="25" name="Group 24"/>
          <p:cNvGrpSpPr/>
          <p:nvPr/>
        </p:nvGrpSpPr>
        <p:grpSpPr>
          <a:xfrm>
            <a:off x="5565422" y="2898422"/>
            <a:ext cx="1061156" cy="1061156"/>
            <a:chOff x="5508979" y="2799644"/>
            <a:chExt cx="1061156" cy="1061156"/>
          </a:xfrm>
        </p:grpSpPr>
        <p:grpSp>
          <p:nvGrpSpPr>
            <p:cNvPr id="20" name="Group 19"/>
            <p:cNvGrpSpPr/>
            <p:nvPr/>
          </p:nvGrpSpPr>
          <p:grpSpPr>
            <a:xfrm>
              <a:off x="5508979" y="3330222"/>
              <a:ext cx="1061156" cy="0"/>
              <a:chOff x="5339644" y="3330222"/>
              <a:chExt cx="1061156" cy="0"/>
            </a:xfrm>
          </p:grpSpPr>
          <p:cxnSp>
            <p:nvCxnSpPr>
              <p:cNvPr id="18" name="Straight Arrow Connector 17"/>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nvGrpSpPr>
            <p:cNvPr id="21" name="Group 20"/>
            <p:cNvGrpSpPr/>
            <p:nvPr/>
          </p:nvGrpSpPr>
          <p:grpSpPr>
            <a:xfrm rot="16200000">
              <a:off x="5531555" y="3330222"/>
              <a:ext cx="1061156" cy="0"/>
              <a:chOff x="5339644" y="3330222"/>
              <a:chExt cx="1061156" cy="0"/>
            </a:xfrm>
          </p:grpSpPr>
          <p:cxnSp>
            <p:nvCxnSpPr>
              <p:cNvPr id="22" name="Straight Arrow Connector 21"/>
              <p:cNvCxnSpPr/>
              <p:nvPr/>
            </p:nvCxnSpPr>
            <p:spPr>
              <a:xfrm>
                <a:off x="56444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5339644" y="3330222"/>
                <a:ext cx="756356" cy="0"/>
              </a:xfrm>
              <a:prstGeom prst="straightConnector1">
                <a:avLst/>
              </a:prstGeom>
              <a:ln w="76200">
                <a:solidFill>
                  <a:srgbClr val="FFFF00"/>
                </a:solidFill>
                <a:tailEnd type="triangle"/>
              </a:ln>
            </p:spPr>
            <p:style>
              <a:lnRef idx="1">
                <a:schemeClr val="accent1"/>
              </a:lnRef>
              <a:fillRef idx="0">
                <a:schemeClr val="accent1"/>
              </a:fillRef>
              <a:effectRef idx="1">
                <a:schemeClr val="accent1"/>
              </a:effectRef>
              <a:fontRef idx="minor">
                <a:schemeClr val="tx1"/>
              </a:fontRef>
            </p:style>
          </p:cxnSp>
        </p:grpSp>
      </p:grpSp>
      <p:sp>
        <p:nvSpPr>
          <p:cNvPr id="4" name="TextBox 3"/>
          <p:cNvSpPr txBox="1"/>
          <p:nvPr/>
        </p:nvSpPr>
        <p:spPr>
          <a:xfrm>
            <a:off x="2669822" y="101601"/>
            <a:ext cx="6852356" cy="2031325"/>
          </a:xfrm>
          <a:prstGeom prst="rect">
            <a:avLst/>
          </a:prstGeom>
          <a:solidFill>
            <a:schemeClr val="tx1"/>
          </a:solidFill>
          <a:ln>
            <a:solidFill>
              <a:srgbClr val="FFFF00"/>
            </a:solidFill>
          </a:ln>
        </p:spPr>
        <p:txBody>
          <a:bodyPr wrap="square" lIns="0" tIns="0" rIns="0" bIns="0" rtlCol="0">
            <a:spAutoFit/>
          </a:bodyPr>
          <a:lstStyle/>
          <a:p>
            <a:pPr algn="ctr"/>
            <a:r>
              <a:rPr lang="en-US" dirty="0">
                <a:solidFill>
                  <a:schemeClr val="bg1"/>
                </a:solidFill>
              </a:rPr>
              <a:t>Attacking</a:t>
            </a:r>
          </a:p>
          <a:p>
            <a:r>
              <a:rPr lang="en-US" sz="1400" dirty="0">
                <a:solidFill>
                  <a:schemeClr val="bg1"/>
                </a:solidFill>
              </a:rPr>
              <a:t>DEFENSIVE 1/3:</a:t>
            </a:r>
          </a:p>
          <a:p>
            <a:pPr marL="285750" indent="-285750">
              <a:buFont typeface="Arial" panose="020B0604020202020204" pitchFamily="34" charset="0"/>
              <a:buChar char="•"/>
            </a:pPr>
            <a:r>
              <a:rPr lang="en-US" sz="1200" dirty="0">
                <a:solidFill>
                  <a:schemeClr val="bg1"/>
                </a:solidFill>
              </a:rPr>
              <a:t>Position high &amp; centrally as a target to occupy the opposition 4 &amp; 5, to receive, hold/protect, lay-off the ball &amp; create space for teammates (also for middle third to help team progress)</a:t>
            </a:r>
          </a:p>
          <a:p>
            <a:r>
              <a:rPr lang="en-US" sz="1400" dirty="0">
                <a:solidFill>
                  <a:schemeClr val="bg1"/>
                </a:solidFill>
              </a:rPr>
              <a:t>MIDDLE 1/3:</a:t>
            </a:r>
          </a:p>
          <a:p>
            <a:pPr marL="285750" indent="-285750">
              <a:buFont typeface="Arial" panose="020B0604020202020204" pitchFamily="34" charset="0"/>
              <a:buChar char="•"/>
            </a:pPr>
            <a:r>
              <a:rPr lang="en-US" sz="1200" dirty="0">
                <a:solidFill>
                  <a:schemeClr val="bg1"/>
                </a:solidFill>
              </a:rPr>
              <a:t>Make varied forward runs in space behind the defensive line of the opponent</a:t>
            </a:r>
          </a:p>
          <a:p>
            <a:pPr marL="285750" indent="-285750">
              <a:buFont typeface="Arial" panose="020B0604020202020204" pitchFamily="34" charset="0"/>
              <a:buChar char="•"/>
            </a:pPr>
            <a:r>
              <a:rPr lang="en-US" sz="1200" dirty="0">
                <a:solidFill>
                  <a:schemeClr val="bg1"/>
                </a:solidFill>
              </a:rPr>
              <a:t>Pass or dribble forward to create 1v1 or 2v1 in central areas</a:t>
            </a:r>
          </a:p>
          <a:p>
            <a:r>
              <a:rPr lang="en-US" sz="1400" dirty="0">
                <a:solidFill>
                  <a:schemeClr val="bg1"/>
                </a:solidFill>
              </a:rPr>
              <a:t>OFFENSIVE 1/3:</a:t>
            </a:r>
          </a:p>
          <a:p>
            <a:pPr marL="285750" indent="-285750">
              <a:buFont typeface="Arial" panose="020B0604020202020204" pitchFamily="34" charset="0"/>
              <a:buChar char="•"/>
            </a:pPr>
            <a:r>
              <a:rPr lang="en-US" sz="1200" dirty="0">
                <a:solidFill>
                  <a:schemeClr val="bg1"/>
                </a:solidFill>
              </a:rPr>
              <a:t>Position to support, unmark, with varied, well timed runs in the box, near the goal to finish chances, or create chances for teammates</a:t>
            </a:r>
          </a:p>
        </p:txBody>
      </p:sp>
      <p:pic>
        <p:nvPicPr>
          <p:cNvPr id="24" name="Picture 23">
            <a:extLst>
              <a:ext uri="{FF2B5EF4-FFF2-40B4-BE49-F238E27FC236}">
                <a16:creationId xmlns:a16="http://schemas.microsoft.com/office/drawing/2014/main" id="{FDF886E3-9E12-A047-8B2E-A74C9496AFDC}"/>
              </a:ext>
            </a:extLst>
          </p:cNvPr>
          <p:cNvPicPr>
            <a:picLocks noChangeAspect="1"/>
          </p:cNvPicPr>
          <p:nvPr/>
        </p:nvPicPr>
        <p:blipFill>
          <a:blip r:embed="rId3"/>
          <a:stretch>
            <a:fillRect/>
          </a:stretch>
        </p:blipFill>
        <p:spPr>
          <a:xfrm>
            <a:off x="11474376" y="6167416"/>
            <a:ext cx="563825" cy="563825"/>
          </a:xfrm>
          <a:prstGeom prst="rect">
            <a:avLst/>
          </a:prstGeom>
        </p:spPr>
      </p:pic>
    </p:spTree>
    <p:extLst>
      <p:ext uri="{BB962C8B-B14F-4D97-AF65-F5344CB8AC3E}">
        <p14:creationId xmlns:p14="http://schemas.microsoft.com/office/powerpoint/2010/main" val="27355590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20"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1"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56190" cy="1446550"/>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Maintain possession for team</a:t>
            </a:r>
          </a:p>
          <a:p>
            <a:pPr marL="457200" indent="-457200">
              <a:buChar char="•"/>
            </a:pPr>
            <a:r>
              <a:rPr lang="en-US" sz="1200" dirty="0">
                <a:solidFill>
                  <a:schemeClr val="bg1"/>
                </a:solidFill>
                <a:uFillTx/>
              </a:rPr>
              <a:t>Occupy half space </a:t>
            </a:r>
          </a:p>
          <a:p>
            <a:pPr marL="457200" indent="-457200">
              <a:buChar char="•"/>
            </a:pPr>
            <a:r>
              <a:rPr lang="en-US" sz="1200" dirty="0">
                <a:solidFill>
                  <a:schemeClr val="bg1"/>
                </a:solidFill>
                <a:uFillTx/>
              </a:rPr>
              <a:t>Stretch opponent backline </a:t>
            </a:r>
          </a:p>
          <a:p>
            <a:pPr marL="457200" indent="-457200">
              <a:buChar char="•"/>
            </a:pPr>
            <a:r>
              <a:rPr lang="en-US" sz="1200" dirty="0">
                <a:solidFill>
                  <a:schemeClr val="bg1"/>
                </a:solidFill>
                <a:uFillTx/>
              </a:rPr>
              <a:t>Eliminate defenders on pass or dribble</a:t>
            </a: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Isolation on opposite side</a:t>
            </a:r>
          </a:p>
        </p:txBody>
      </p:sp>
      <p:sp>
        <p:nvSpPr>
          <p:cNvPr id="5" name="TextBox 4"/>
          <p:cNvSpPr txBox="1">
            <a:spLocks/>
          </p:cNvSpPr>
          <p:nvPr/>
        </p:nvSpPr>
        <p:spPr>
          <a:xfrm>
            <a:off x="4892881" y="0"/>
            <a:ext cx="3383280" cy="1469633"/>
          </a:xfrm>
          <a:prstGeom prst="rect">
            <a:avLst/>
          </a:prstGeom>
          <a:noFill/>
        </p:spPr>
        <p:txBody>
          <a:bodyPr wrap="square" rtlCol="0">
            <a:spAutoFit/>
          </a:bodyPr>
          <a:lstStyle/>
          <a:p>
            <a:pPr algn="ctr"/>
            <a:r>
              <a:rPr sz="1600" b="1" i="0" u="sng" strike="noStrike" baseline="0" dirty="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050" dirty="0">
                <a:solidFill>
                  <a:schemeClr val="bg1"/>
                </a:solidFill>
                <a:uFillTx/>
              </a:rPr>
              <a:t>Maintain possession for team </a:t>
            </a:r>
          </a:p>
          <a:p>
            <a:pPr marL="457200" indent="-457200">
              <a:buChar char="•"/>
            </a:pPr>
            <a:r>
              <a:rPr lang="en-US" sz="1050" dirty="0">
                <a:solidFill>
                  <a:schemeClr val="bg1"/>
                </a:solidFill>
                <a:uFillTx/>
              </a:rPr>
              <a:t>Eliminate defenders on pass or dribble </a:t>
            </a:r>
          </a:p>
          <a:p>
            <a:pPr marL="457200" indent="-457200">
              <a:buChar char="•"/>
            </a:pPr>
            <a:r>
              <a:rPr lang="en-US" sz="1050" dirty="0">
                <a:solidFill>
                  <a:schemeClr val="bg1"/>
                </a:solidFill>
                <a:uFillTx/>
              </a:rPr>
              <a:t>Occupy half space </a:t>
            </a:r>
            <a:endParaRPr lang="en-US" sz="1050" b="1" u="sng" dirty="0">
              <a:solidFill>
                <a:schemeClr val="bg1"/>
              </a:solidFill>
              <a:uFillTx/>
            </a:endParaRPr>
          </a:p>
          <a:p>
            <a:pPr marL="457200" indent="-457200">
              <a:buChar char="•"/>
            </a:pPr>
            <a:r>
              <a:rPr lang="en-US" sz="1050" dirty="0">
                <a:solidFill>
                  <a:schemeClr val="bg1"/>
                </a:solidFill>
                <a:uFillTx/>
              </a:rPr>
              <a:t>Create overloads</a:t>
            </a:r>
          </a:p>
          <a:p>
            <a:pPr marL="457200" indent="-457200">
              <a:buChar char="•"/>
            </a:pPr>
            <a:r>
              <a:rPr lang="en-US" sz="1050" dirty="0">
                <a:solidFill>
                  <a:schemeClr val="bg1"/>
                </a:solidFill>
                <a:uFillTx/>
              </a:rPr>
              <a:t>Penetrate opponent in half space / box </a:t>
            </a:r>
          </a:p>
          <a:p>
            <a:pPr marL="457200" indent="-457200">
              <a:buChar char="•"/>
            </a:pPr>
            <a:r>
              <a:rPr lang="en-US" sz="1050" dirty="0">
                <a:solidFill>
                  <a:schemeClr val="bg1"/>
                </a:solidFill>
                <a:uFillTx/>
              </a:rPr>
              <a:t>Score and assist goals</a:t>
            </a:r>
          </a:p>
          <a:p>
            <a:pPr marL="457200" indent="-457200">
              <a:buChar char="•"/>
            </a:pPr>
            <a:r>
              <a:rPr lang="en-US" sz="1050" dirty="0">
                <a:solidFill>
                  <a:schemeClr val="bg1"/>
                </a:solidFill>
                <a:uFillTx/>
              </a:rPr>
              <a:t>Stretch opponent backline</a:t>
            </a:r>
          </a:p>
        </p:txBody>
      </p:sp>
      <p:sp>
        <p:nvSpPr>
          <p:cNvPr id="6" name="TextBox 5"/>
          <p:cNvSpPr txBox="1">
            <a:spLocks/>
          </p:cNvSpPr>
          <p:nvPr/>
        </p:nvSpPr>
        <p:spPr>
          <a:xfrm>
            <a:off x="8563225" y="0"/>
            <a:ext cx="3367905" cy="1631216"/>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Score and assist goals </a:t>
            </a:r>
          </a:p>
          <a:p>
            <a:pPr marL="457200" indent="-457200">
              <a:buChar char="•"/>
            </a:pPr>
            <a:r>
              <a:rPr lang="en-US" sz="1200" dirty="0">
                <a:solidFill>
                  <a:schemeClr val="bg1"/>
                </a:solidFill>
                <a:uFillTx/>
              </a:rPr>
              <a:t>Eliminate defenders on pass or dribble </a:t>
            </a:r>
          </a:p>
          <a:p>
            <a:pPr marL="457200" indent="-457200">
              <a:buChar char="•"/>
            </a:pPr>
            <a:r>
              <a:rPr lang="en-US" sz="1200" dirty="0">
                <a:solidFill>
                  <a:schemeClr val="bg1"/>
                </a:solidFill>
                <a:uFillTx/>
              </a:rPr>
              <a:t>Dribble forward </a:t>
            </a:r>
          </a:p>
          <a:p>
            <a:pPr marL="457200" indent="-457200">
              <a:buChar char="•"/>
            </a:pPr>
            <a:r>
              <a:rPr lang="en-US" sz="1200" dirty="0">
                <a:solidFill>
                  <a:schemeClr val="bg1"/>
                </a:solidFill>
                <a:uFillTx/>
              </a:rPr>
              <a:t>Create overloads</a:t>
            </a:r>
          </a:p>
          <a:p>
            <a:pPr marL="457200" indent="-457200">
              <a:buChar char="•"/>
            </a:pPr>
            <a:r>
              <a:rPr lang="en-US" sz="1200" dirty="0">
                <a:solidFill>
                  <a:schemeClr val="bg1"/>
                </a:solidFill>
                <a:uFillTx/>
              </a:rPr>
              <a:t>Penetrate opponent in half space / box </a:t>
            </a:r>
          </a:p>
          <a:p>
            <a:pPr marL="457200" indent="-457200">
              <a:buChar char="•"/>
            </a:pPr>
            <a:r>
              <a:rPr lang="en-US" sz="1200" dirty="0">
                <a:solidFill>
                  <a:schemeClr val="bg1"/>
                </a:solidFill>
                <a:uFillTx/>
              </a:rPr>
              <a:t>Dynamic runs in the box </a:t>
            </a:r>
          </a:p>
          <a:p>
            <a:pPr marL="457200" indent="-457200">
              <a:buChar char="•"/>
            </a:pPr>
            <a:r>
              <a:rPr lang="en-US" sz="1200" dirty="0">
                <a:solidFill>
                  <a:schemeClr val="bg1"/>
                </a:solidFill>
                <a:uFillTx/>
              </a:rPr>
              <a:t>Stretch opponent backline – create space</a:t>
            </a:r>
          </a:p>
        </p:txBody>
      </p:sp>
      <p:sp>
        <p:nvSpPr>
          <p:cNvPr id="64" name="TextBox 63"/>
          <p:cNvSpPr txBox="1">
            <a:spLocks/>
          </p:cNvSpPr>
          <p:nvPr/>
        </p:nvSpPr>
        <p:spPr>
          <a:xfrm>
            <a:off x="9173299" y="1711394"/>
            <a:ext cx="2132379"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Chance Creation/Scoring Phase</a:t>
            </a:r>
          </a:p>
        </p:txBody>
      </p:sp>
      <p:sp>
        <p:nvSpPr>
          <p:cNvPr id="65" name="TextBox 64"/>
          <p:cNvSpPr txBox="1">
            <a:spLocks/>
          </p:cNvSpPr>
          <p:nvPr/>
        </p:nvSpPr>
        <p:spPr>
          <a:xfrm>
            <a:off x="5795543" y="1551314"/>
            <a:ext cx="145539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Advancement Phase</a:t>
            </a:r>
          </a:p>
        </p:txBody>
      </p:sp>
      <p:sp>
        <p:nvSpPr>
          <p:cNvPr id="66" name="TextBox 65"/>
          <p:cNvSpPr txBox="1">
            <a:spLocks/>
          </p:cNvSpPr>
          <p:nvPr/>
        </p:nvSpPr>
        <p:spPr>
          <a:xfrm>
            <a:off x="2105365" y="1711394"/>
            <a:ext cx="1203278" cy="461665"/>
          </a:xfrm>
          <a:prstGeom prst="rect">
            <a:avLst/>
          </a:prstGeom>
          <a:noFill/>
        </p:spPr>
        <p:txBody>
          <a:bodyPr wrap="none" rtlCol="0">
            <a:spAutoFit/>
          </a:bodyPr>
          <a:lstStyle/>
          <a:p>
            <a:pPr algn="ctr"/>
            <a:r>
              <a:rPr lang="en-US" sz="1200" b="1" u="sng" dirty="0">
                <a:solidFill>
                  <a:srgbClr val="CC9900"/>
                </a:solidFill>
                <a:uFillTx/>
              </a:rPr>
              <a:t>Offensive Phase</a:t>
            </a:r>
          </a:p>
          <a:p>
            <a:pPr algn="ctr"/>
            <a:r>
              <a:rPr lang="en-US" sz="1200" dirty="0">
                <a:solidFill>
                  <a:srgbClr val="CC9900"/>
                </a:solidFill>
                <a:uFillTx/>
              </a:rPr>
              <a:t>Build Out</a:t>
            </a:r>
          </a:p>
        </p:txBody>
      </p:sp>
      <p:sp>
        <p:nvSpPr>
          <p:cNvPr id="15" name="Isosceles Triangle 14"/>
          <p:cNvSpPr>
            <a:spLocks noChangeAspect="1"/>
          </p:cNvSpPr>
          <p:nvPr/>
        </p:nvSpPr>
        <p:spPr>
          <a:xfrm>
            <a:off x="2693712" y="4542961"/>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6" name="Isosceles Triangle 15"/>
          <p:cNvSpPr>
            <a:spLocks noChangeAspect="1"/>
          </p:cNvSpPr>
          <p:nvPr/>
        </p:nvSpPr>
        <p:spPr>
          <a:xfrm>
            <a:off x="6486280" y="3765207"/>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7" name="Isosceles Triangle 16"/>
          <p:cNvSpPr>
            <a:spLocks noChangeAspect="1"/>
          </p:cNvSpPr>
          <p:nvPr/>
        </p:nvSpPr>
        <p:spPr>
          <a:xfrm>
            <a:off x="10133417" y="316813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8" name="TextBox 17"/>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#9</a:t>
            </a:r>
          </a:p>
          <a:p>
            <a:pPr algn="ctr"/>
            <a:r>
              <a:rPr lang="en-US" sz="2400" dirty="0">
                <a:solidFill>
                  <a:srgbClr val="CC9900"/>
                </a:solidFill>
                <a:uFillTx/>
              </a:rPr>
              <a:t>(FWD)</a:t>
            </a:r>
          </a:p>
          <a:p>
            <a:pPr algn="ctr"/>
            <a:endParaRPr lang="en-US" sz="3200" dirty="0">
              <a:solidFill>
                <a:schemeClr val="bg1"/>
              </a:solidFill>
              <a:uFillTx/>
            </a:endParaRPr>
          </a:p>
          <a:p>
            <a:pPr algn="ctr"/>
            <a:r>
              <a:rPr lang="en-US" sz="3200" dirty="0">
                <a:solidFill>
                  <a:schemeClr val="bg1"/>
                </a:solidFill>
                <a:uFillTx/>
              </a:rPr>
              <a:t>O</a:t>
            </a:r>
          </a:p>
          <a:p>
            <a:pPr algn="ctr"/>
            <a:r>
              <a:rPr lang="en-US" sz="3200" dirty="0">
                <a:solidFill>
                  <a:schemeClr val="bg1"/>
                </a:solidFill>
                <a:uFillTx/>
              </a:rPr>
              <a:t>F</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sp>
        <p:nvSpPr>
          <p:cNvPr id="23" name="Freeform 22"/>
          <p:cNvSpPr>
            <a:spLocks/>
          </p:cNvSpPr>
          <p:nvPr/>
        </p:nvSpPr>
        <p:spPr>
          <a:xfrm>
            <a:off x="2729093" y="4089548"/>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24" name="Straight Arrow Connector 23"/>
          <p:cNvCxnSpPr/>
          <p:nvPr/>
        </p:nvCxnSpPr>
        <p:spPr>
          <a:xfrm flipH="1">
            <a:off x="2621613" y="4837181"/>
            <a:ext cx="118676" cy="30813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H="1" flipV="1">
            <a:off x="2323110" y="4312829"/>
            <a:ext cx="314265" cy="28669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a:off x="2816427" y="4850956"/>
            <a:ext cx="142262" cy="26759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H="1" flipV="1">
            <a:off x="2384780" y="4125576"/>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2480242" y="4795342"/>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2866099" y="4795342"/>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2935378" y="4127710"/>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V="1">
            <a:off x="2958689" y="4338149"/>
            <a:ext cx="302464" cy="2848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
        <p:nvSpPr>
          <p:cNvPr id="42" name="Freeform 41"/>
          <p:cNvSpPr>
            <a:spLocks/>
          </p:cNvSpPr>
          <p:nvPr/>
        </p:nvSpPr>
        <p:spPr>
          <a:xfrm>
            <a:off x="6512046" y="3311794"/>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43" name="Straight Arrow Connector 42"/>
          <p:cNvCxnSpPr/>
          <p:nvPr/>
        </p:nvCxnSpPr>
        <p:spPr>
          <a:xfrm flipH="1">
            <a:off x="6404566" y="4059427"/>
            <a:ext cx="118676" cy="308137"/>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H="1" flipV="1">
            <a:off x="6106063" y="3535075"/>
            <a:ext cx="314265" cy="286695"/>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a:off x="6599380" y="4073202"/>
            <a:ext cx="142262" cy="26759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flipV="1">
            <a:off x="6167733" y="3347822"/>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flipH="1">
            <a:off x="6263195" y="4017588"/>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a:off x="6649052" y="4017588"/>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flipV="1">
            <a:off x="6718331" y="3349956"/>
            <a:ext cx="313811"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flipV="1">
            <a:off x="6741642" y="3560395"/>
            <a:ext cx="302464" cy="284822"/>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6698421" y="3311794"/>
            <a:ext cx="0"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54" name="Freeform 53"/>
          <p:cNvSpPr>
            <a:spLocks/>
          </p:cNvSpPr>
          <p:nvPr/>
        </p:nvSpPr>
        <p:spPr>
          <a:xfrm>
            <a:off x="10159183" y="2714722"/>
            <a:ext cx="111513" cy="425981"/>
          </a:xfrm>
          <a:custGeom>
            <a:avLst/>
            <a:gdLst>
              <a:gd name="connsiteX0" fmla="*/ 64676 w 849642"/>
              <a:gd name="connsiteY0" fmla="*/ 1847272 h 1847272"/>
              <a:gd name="connsiteX1" fmla="*/ 757403 w 849642"/>
              <a:gd name="connsiteY1" fmla="*/ 1588654 h 1847272"/>
              <a:gd name="connsiteX2" fmla="*/ 21 w 849642"/>
              <a:gd name="connsiteY2" fmla="*/ 1385454 h 1847272"/>
              <a:gd name="connsiteX3" fmla="*/ 785112 w 849642"/>
              <a:gd name="connsiteY3" fmla="*/ 1173018 h 1847272"/>
              <a:gd name="connsiteX4" fmla="*/ 9258 w 849642"/>
              <a:gd name="connsiteY4" fmla="*/ 942109 h 1847272"/>
              <a:gd name="connsiteX5" fmla="*/ 812821 w 849642"/>
              <a:gd name="connsiteY5" fmla="*/ 711200 h 1847272"/>
              <a:gd name="connsiteX6" fmla="*/ 46203 w 849642"/>
              <a:gd name="connsiteY6" fmla="*/ 471054 h 1847272"/>
              <a:gd name="connsiteX7" fmla="*/ 840530 w 849642"/>
              <a:gd name="connsiteY7" fmla="*/ 230909 h 1847272"/>
              <a:gd name="connsiteX8" fmla="*/ 406421 w 849642"/>
              <a:gd name="connsiteY8" fmla="*/ 0 h 184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642" h="1847272">
                <a:moveTo>
                  <a:pt x="64676" y="1847272"/>
                </a:moveTo>
                <a:cubicBezTo>
                  <a:pt x="416427" y="1756448"/>
                  <a:pt x="768179" y="1665624"/>
                  <a:pt x="757403" y="1588654"/>
                </a:cubicBezTo>
                <a:cubicBezTo>
                  <a:pt x="746627" y="1511684"/>
                  <a:pt x="-4597" y="1454727"/>
                  <a:pt x="21" y="1385454"/>
                </a:cubicBezTo>
                <a:cubicBezTo>
                  <a:pt x="4639" y="1316181"/>
                  <a:pt x="783573" y="1246909"/>
                  <a:pt x="785112" y="1173018"/>
                </a:cubicBezTo>
                <a:cubicBezTo>
                  <a:pt x="786651" y="1099127"/>
                  <a:pt x="4640" y="1019079"/>
                  <a:pt x="9258" y="942109"/>
                </a:cubicBezTo>
                <a:cubicBezTo>
                  <a:pt x="13876" y="865139"/>
                  <a:pt x="806664" y="789709"/>
                  <a:pt x="812821" y="711200"/>
                </a:cubicBezTo>
                <a:cubicBezTo>
                  <a:pt x="818978" y="632691"/>
                  <a:pt x="41585" y="551102"/>
                  <a:pt x="46203" y="471054"/>
                </a:cubicBezTo>
                <a:cubicBezTo>
                  <a:pt x="50821" y="391006"/>
                  <a:pt x="780494" y="309418"/>
                  <a:pt x="840530" y="230909"/>
                </a:cubicBezTo>
                <a:cubicBezTo>
                  <a:pt x="900566" y="152400"/>
                  <a:pt x="653493" y="76200"/>
                  <a:pt x="406421" y="0"/>
                </a:cubicBezTo>
              </a:path>
            </a:pathLst>
          </a:custGeom>
          <a:noFill/>
          <a:ln>
            <a:solidFill>
              <a:schemeClr val="tx1"/>
            </a:solidFill>
            <a:headEnd type="none" w="med" len="med"/>
            <a:tailEnd type="triangle" w="med" len="med"/>
          </a:ln>
        </p:spPr>
        <p:style>
          <a:lnRef idx="1">
            <a:schemeClr val="accent1"/>
          </a:lnRef>
          <a:fillRef idx="1">
            <a:schemeClr val="accent1"/>
          </a:fillRef>
          <a:effectRef idx="1">
            <a:schemeClr val="accent1"/>
          </a:effectRef>
          <a:fontRef idx="minor">
            <a:schemeClr val="lt1"/>
          </a:fontRef>
        </p:style>
        <p:txBody>
          <a:bodyPr rtlCol="0" anchor="ctr"/>
          <a:lstStyle/>
          <a:p>
            <a:pPr algn="ctr"/>
            <a:endParaRPr lang="en-US">
              <a:uFillTx/>
            </a:endParaRPr>
          </a:p>
        </p:txBody>
      </p:sp>
      <p:cxnSp>
        <p:nvCxnSpPr>
          <p:cNvPr id="58" name="Straight Arrow Connector 57"/>
          <p:cNvCxnSpPr/>
          <p:nvPr/>
        </p:nvCxnSpPr>
        <p:spPr>
          <a:xfrm flipH="1" flipV="1">
            <a:off x="9757064" y="2952126"/>
            <a:ext cx="354734" cy="272527"/>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flipH="1">
            <a:off x="9910332" y="3420516"/>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a:off x="10296189" y="3420516"/>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1" name="Straight Arrow Connector 60"/>
          <p:cNvCxnSpPr/>
          <p:nvPr/>
        </p:nvCxnSpPr>
        <p:spPr>
          <a:xfrm flipV="1">
            <a:off x="10345636" y="2941429"/>
            <a:ext cx="362196" cy="27229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3" name="Straight Arrow Connector 62"/>
          <p:cNvCxnSpPr/>
          <p:nvPr/>
        </p:nvCxnSpPr>
        <p:spPr>
          <a:xfrm flipV="1">
            <a:off x="10345558" y="2714722"/>
            <a:ext cx="0" cy="398484"/>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flipV="1">
            <a:off x="10111798" y="2510761"/>
            <a:ext cx="0" cy="616193"/>
          </a:xfrm>
          <a:prstGeom prst="straightConnector1">
            <a:avLst/>
          </a:prstGeom>
          <a:ln>
            <a:solidFill>
              <a:schemeClr val="tx1"/>
            </a:solidFill>
            <a:prstDash val="solid"/>
            <a:tailEnd type="triangle"/>
          </a:ln>
        </p:spPr>
        <p:style>
          <a:lnRef idx="1">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6512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4"/>
          <p:cNvPicPr>
            <a:picLocks noChangeArrowheads="1"/>
          </p:cNvPicPr>
          <p:nvPr/>
        </p:nvPicPr>
        <p:blipFill rotWithShape="1">
          <a:blip r:embed="rId2" cstate="email"/>
          <a:srcRect/>
          <a:stretch/>
        </p:blipFill>
        <p:spPr bwMode="auto">
          <a:xfrm>
            <a:off x="8547850" y="2103120"/>
            <a:ext cx="3383280" cy="4754880"/>
          </a:xfrm>
          <a:prstGeom prst="rect">
            <a:avLst/>
          </a:prstGeom>
          <a:noFill/>
          <a:ln>
            <a:noFill/>
          </a:ln>
        </p:spPr>
      </p:pic>
      <p:pic>
        <p:nvPicPr>
          <p:cNvPr id="19" name="Picture 4"/>
          <p:cNvPicPr>
            <a:picLocks noChangeArrowheads="1"/>
          </p:cNvPicPr>
          <p:nvPr/>
        </p:nvPicPr>
        <p:blipFill rotWithShape="1">
          <a:blip r:embed="rId2" cstate="email"/>
          <a:srcRect/>
          <a:stretch/>
        </p:blipFill>
        <p:spPr bwMode="auto">
          <a:xfrm>
            <a:off x="1108143" y="2103120"/>
            <a:ext cx="3383280" cy="4754880"/>
          </a:xfrm>
          <a:prstGeom prst="rect">
            <a:avLst/>
          </a:prstGeom>
          <a:noFill/>
          <a:ln>
            <a:noFill/>
          </a:ln>
        </p:spPr>
      </p:pic>
      <p:pic>
        <p:nvPicPr>
          <p:cNvPr id="20" name="Picture 4"/>
          <p:cNvPicPr>
            <a:picLocks noChangeArrowheads="1"/>
          </p:cNvPicPr>
          <p:nvPr/>
        </p:nvPicPr>
        <p:blipFill rotWithShape="1">
          <a:blip r:embed="rId2" cstate="email"/>
          <a:srcRect/>
          <a:stretch/>
        </p:blipFill>
        <p:spPr bwMode="auto">
          <a:xfrm>
            <a:off x="4892881" y="2103120"/>
            <a:ext cx="3383280" cy="4754880"/>
          </a:xfrm>
          <a:prstGeom prst="rect">
            <a:avLst/>
          </a:prstGeom>
          <a:noFill/>
          <a:ln>
            <a:noFill/>
          </a:ln>
        </p:spPr>
      </p:pic>
      <p:sp>
        <p:nvSpPr>
          <p:cNvPr id="8" name="TextBox 7"/>
          <p:cNvSpPr txBox="1">
            <a:spLocks/>
          </p:cNvSpPr>
          <p:nvPr/>
        </p:nvSpPr>
        <p:spPr>
          <a:xfrm>
            <a:off x="1108143" y="0"/>
            <a:ext cx="3383280" cy="1261884"/>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Force play to one side of field </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Limit opponent #6 time on ball</a:t>
            </a:r>
          </a:p>
          <a:p>
            <a:pPr marL="457200" indent="-457200">
              <a:buChar char="•"/>
            </a:pPr>
            <a:r>
              <a:rPr lang="en-US" sz="1200" dirty="0">
                <a:solidFill>
                  <a:schemeClr val="bg1"/>
                </a:solidFill>
                <a:uFillTx/>
              </a:rPr>
              <a:t>Back pressure opponent midfield </a:t>
            </a:r>
          </a:p>
          <a:p>
            <a:pPr marL="457200" indent="-457200">
              <a:buChar char="•"/>
            </a:pPr>
            <a:r>
              <a:rPr lang="en-US" sz="1200" dirty="0">
                <a:solidFill>
                  <a:schemeClr val="bg1"/>
                </a:solidFill>
                <a:uFillTx/>
              </a:rPr>
              <a:t>Recover the ball </a:t>
            </a:r>
          </a:p>
        </p:txBody>
      </p:sp>
      <p:sp>
        <p:nvSpPr>
          <p:cNvPr id="5" name="TextBox 4"/>
          <p:cNvSpPr txBox="1">
            <a:spLocks/>
          </p:cNvSpPr>
          <p:nvPr/>
        </p:nvSpPr>
        <p:spPr>
          <a:xfrm>
            <a:off x="4892881" y="0"/>
            <a:ext cx="3383280" cy="1261884"/>
          </a:xfrm>
          <a:prstGeom prst="rect">
            <a:avLst/>
          </a:prstGeom>
          <a:noFill/>
        </p:spPr>
        <p:txBody>
          <a:bodyPr wrap="square"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Make play predictable </a:t>
            </a:r>
          </a:p>
          <a:p>
            <a:pPr marL="457200" indent="-457200">
              <a:buChar char="•"/>
            </a:pPr>
            <a:r>
              <a:rPr lang="en-US" sz="1200" dirty="0">
                <a:solidFill>
                  <a:schemeClr val="bg1"/>
                </a:solidFill>
                <a:uFillTx/>
              </a:rPr>
              <a:t>Force play to one side of the field </a:t>
            </a:r>
          </a:p>
          <a:p>
            <a:pPr marL="457200" indent="-457200">
              <a:buChar char="•"/>
            </a:pPr>
            <a:r>
              <a:rPr lang="en-US" sz="1200" dirty="0">
                <a:solidFill>
                  <a:schemeClr val="bg1"/>
                </a:solidFill>
                <a:uFillTx/>
              </a:rPr>
              <a:t>Pressure after first pass between CB</a:t>
            </a:r>
          </a:p>
          <a:p>
            <a:pPr marL="457200" indent="-457200">
              <a:buChar char="•"/>
            </a:pPr>
            <a:r>
              <a:rPr lang="en-US" sz="1200" dirty="0">
                <a:solidFill>
                  <a:schemeClr val="bg1"/>
                </a:solidFill>
                <a:uFillTx/>
              </a:rPr>
              <a:t>Back pressure opponent #6 </a:t>
            </a:r>
          </a:p>
          <a:p>
            <a:pPr marL="457200" indent="-457200">
              <a:buChar char="•"/>
            </a:pPr>
            <a:r>
              <a:rPr lang="en-US" sz="1200" dirty="0">
                <a:solidFill>
                  <a:schemeClr val="bg1"/>
                </a:solidFill>
                <a:uFillTx/>
              </a:rPr>
              <a:t>Limit central penetration </a:t>
            </a:r>
          </a:p>
        </p:txBody>
      </p:sp>
      <p:sp>
        <p:nvSpPr>
          <p:cNvPr id="6" name="TextBox 5"/>
          <p:cNvSpPr txBox="1">
            <a:spLocks/>
          </p:cNvSpPr>
          <p:nvPr/>
        </p:nvSpPr>
        <p:spPr>
          <a:xfrm>
            <a:off x="8547850" y="0"/>
            <a:ext cx="3383279" cy="1446550"/>
          </a:xfrm>
          <a:prstGeom prst="rect">
            <a:avLst/>
          </a:prstGeom>
          <a:noFill/>
        </p:spPr>
        <p:txBody>
          <a:bodyPr wrap="square" rIns="0" rtlCol="0">
            <a:spAutoFit/>
          </a:bodyPr>
          <a:lstStyle/>
          <a:p>
            <a:pPr algn="ctr"/>
            <a:r>
              <a:rPr sz="1600" b="1" i="0" u="sng" strike="noStrike" baseline="0">
                <a:solidFill>
                  <a:srgbClr val="FFFFFF"/>
                </a:solidFill>
                <a:uFillTx/>
                <a:latin typeface="Calibri" charset="0"/>
              </a:rPr>
              <a:t>Principles and Player Qualities</a:t>
            </a:r>
            <a:r>
              <a:rPr lang="en-US" sz="1600" b="1" u="sng" dirty="0">
                <a:solidFill>
                  <a:schemeClr val="bg1"/>
                </a:solidFill>
                <a:uFillTx/>
              </a:rPr>
              <a:t>: </a:t>
            </a:r>
          </a:p>
          <a:p>
            <a:pPr marL="457200" indent="-457200">
              <a:buChar char="•"/>
            </a:pPr>
            <a:r>
              <a:rPr lang="en-US" sz="1200" dirty="0">
                <a:solidFill>
                  <a:schemeClr val="bg1"/>
                </a:solidFill>
                <a:uFillTx/>
              </a:rPr>
              <a:t>Make play predictable</a:t>
            </a:r>
          </a:p>
          <a:p>
            <a:pPr marL="457200" indent="-457200">
              <a:buChar char="•"/>
            </a:pPr>
            <a:r>
              <a:rPr lang="en-US" sz="1200" dirty="0">
                <a:solidFill>
                  <a:schemeClr val="bg1"/>
                </a:solidFill>
                <a:uFillTx/>
              </a:rPr>
              <a:t>Force play to one side of the field </a:t>
            </a:r>
          </a:p>
          <a:p>
            <a:pPr marL="457200" indent="-457200">
              <a:buChar char="•"/>
            </a:pPr>
            <a:r>
              <a:rPr lang="en-US" sz="1200" dirty="0">
                <a:solidFill>
                  <a:schemeClr val="bg1"/>
                </a:solidFill>
                <a:uFillTx/>
              </a:rPr>
              <a:t>Recover the ball and attack</a:t>
            </a:r>
          </a:p>
          <a:p>
            <a:pPr marL="457200" indent="-457200">
              <a:buChar char="•"/>
            </a:pPr>
            <a:r>
              <a:rPr lang="en-US" sz="1200" dirty="0">
                <a:solidFill>
                  <a:schemeClr val="bg1"/>
                </a:solidFill>
                <a:uFillTx/>
              </a:rPr>
              <a:t>Connected sub-groups </a:t>
            </a:r>
          </a:p>
          <a:p>
            <a:pPr marL="457200" indent="-457200">
              <a:buChar char="•"/>
            </a:pPr>
            <a:r>
              <a:rPr lang="en-US" sz="1200" dirty="0">
                <a:solidFill>
                  <a:schemeClr val="bg1"/>
                </a:solidFill>
                <a:uFillTx/>
              </a:rPr>
              <a:t>Limit central penetration </a:t>
            </a:r>
          </a:p>
          <a:p>
            <a:pPr marL="457200" indent="-457200">
              <a:buChar char="•"/>
            </a:pPr>
            <a:r>
              <a:rPr lang="en-US" sz="1200" dirty="0">
                <a:solidFill>
                  <a:schemeClr val="bg1"/>
                </a:solidFill>
                <a:uFillTx/>
              </a:rPr>
              <a:t>Pressure after first pass from CB</a:t>
            </a:r>
          </a:p>
        </p:txBody>
      </p:sp>
      <p:sp>
        <p:nvSpPr>
          <p:cNvPr id="66" name="TextBox 65"/>
          <p:cNvSpPr txBox="1">
            <a:spLocks/>
          </p:cNvSpPr>
          <p:nvPr/>
        </p:nvSpPr>
        <p:spPr>
          <a:xfrm>
            <a:off x="2094721"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Defensive Third</a:t>
            </a:r>
          </a:p>
        </p:txBody>
      </p:sp>
      <p:sp>
        <p:nvSpPr>
          <p:cNvPr id="42" name="TextBox 41"/>
          <p:cNvSpPr txBox="1">
            <a:spLocks/>
          </p:cNvSpPr>
          <p:nvPr/>
        </p:nvSpPr>
        <p:spPr>
          <a:xfrm>
            <a:off x="9627205"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Press</a:t>
            </a:r>
          </a:p>
        </p:txBody>
      </p:sp>
      <p:sp>
        <p:nvSpPr>
          <p:cNvPr id="43" name="TextBox 42"/>
          <p:cNvSpPr txBox="1">
            <a:spLocks/>
          </p:cNvSpPr>
          <p:nvPr/>
        </p:nvSpPr>
        <p:spPr>
          <a:xfrm>
            <a:off x="5980068" y="1711394"/>
            <a:ext cx="1224566" cy="461665"/>
          </a:xfrm>
          <a:prstGeom prst="rect">
            <a:avLst/>
          </a:prstGeom>
          <a:noFill/>
        </p:spPr>
        <p:txBody>
          <a:bodyPr wrap="none" rtlCol="0">
            <a:spAutoFit/>
          </a:bodyPr>
          <a:lstStyle/>
          <a:p>
            <a:pPr algn="ctr"/>
            <a:r>
              <a:rPr lang="en-US" sz="1200" b="1" u="sng" dirty="0">
                <a:solidFill>
                  <a:srgbClr val="CC9900"/>
                </a:solidFill>
                <a:uFillTx/>
              </a:rPr>
              <a:t>Defensive Phase</a:t>
            </a:r>
          </a:p>
          <a:p>
            <a:pPr algn="ctr"/>
            <a:r>
              <a:rPr lang="en-US" sz="1200" dirty="0">
                <a:solidFill>
                  <a:srgbClr val="CC9900"/>
                </a:solidFill>
                <a:uFillTx/>
              </a:rPr>
              <a:t>Middle Block</a:t>
            </a:r>
          </a:p>
        </p:txBody>
      </p:sp>
      <p:sp>
        <p:nvSpPr>
          <p:cNvPr id="38" name="Isosceles Triangle 37"/>
          <p:cNvSpPr>
            <a:spLocks noChangeAspect="1"/>
          </p:cNvSpPr>
          <p:nvPr/>
        </p:nvSpPr>
        <p:spPr>
          <a:xfrm>
            <a:off x="2693712" y="4542961"/>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39" name="Isosceles Triangle 38"/>
          <p:cNvSpPr>
            <a:spLocks noChangeAspect="1"/>
          </p:cNvSpPr>
          <p:nvPr/>
        </p:nvSpPr>
        <p:spPr>
          <a:xfrm>
            <a:off x="6495200" y="3912426"/>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40" name="Isosceles Triangle 39"/>
          <p:cNvSpPr>
            <a:spLocks noChangeAspect="1"/>
          </p:cNvSpPr>
          <p:nvPr/>
        </p:nvSpPr>
        <p:spPr>
          <a:xfrm>
            <a:off x="10133417" y="3184395"/>
            <a:ext cx="212141" cy="183862"/>
          </a:xfrm>
          <a:prstGeom prst="triangle">
            <a:avLst/>
          </a:prstGeom>
          <a:solidFill>
            <a:schemeClr val="tx1"/>
          </a:solidFill>
          <a:ln>
            <a:solidFill>
              <a:srgbClr val="CC9900"/>
            </a:solidFill>
          </a:ln>
        </p:spPr>
        <p:style>
          <a:lnRef idx="1">
            <a:schemeClr val="accent1"/>
          </a:lnRef>
          <a:fillRef idx="1">
            <a:schemeClr val="accent1"/>
          </a:fillRef>
          <a:effectRef idx="1">
            <a:schemeClr val="accent1"/>
          </a:effectRef>
          <a:fontRef idx="minor">
            <a:schemeClr val="lt1"/>
          </a:fontRef>
        </p:style>
        <p:txBody>
          <a:bodyPr lIns="0" tIns="0" rIns="0" bIns="0" rtlCol="0" anchor="ctr">
            <a:normAutofit fontScale="40000" lnSpcReduction="20000"/>
          </a:bodyPr>
          <a:lstStyle/>
          <a:p>
            <a:pPr algn="ctr"/>
            <a:r>
              <a:rPr lang="en-US" dirty="0">
                <a:solidFill>
                  <a:srgbClr val="CC9900"/>
                </a:solidFill>
                <a:uFillTx/>
              </a:rPr>
              <a:t>9</a:t>
            </a:r>
          </a:p>
        </p:txBody>
      </p:sp>
      <p:sp>
        <p:nvSpPr>
          <p:cNvPr id="17" name="TextBox 16"/>
          <p:cNvSpPr txBox="1">
            <a:spLocks/>
          </p:cNvSpPr>
          <p:nvPr/>
        </p:nvSpPr>
        <p:spPr>
          <a:xfrm>
            <a:off x="110867" y="597456"/>
            <a:ext cx="802743" cy="5663089"/>
          </a:xfrm>
          <a:prstGeom prst="rect">
            <a:avLst/>
          </a:prstGeom>
          <a:noFill/>
        </p:spPr>
        <p:txBody>
          <a:bodyPr wrap="square" lIns="0" tIns="0" rIns="0" bIns="0" rtlCol="0">
            <a:spAutoFit/>
          </a:bodyPr>
          <a:lstStyle/>
          <a:p>
            <a:pPr algn="ctr"/>
            <a:r>
              <a:rPr lang="en-US" sz="2400" dirty="0">
                <a:solidFill>
                  <a:srgbClr val="CC9900"/>
                </a:solidFill>
                <a:uFillTx/>
              </a:rPr>
              <a:t>#9</a:t>
            </a:r>
          </a:p>
          <a:p>
            <a:pPr algn="ctr"/>
            <a:r>
              <a:rPr lang="en-US" sz="2400" dirty="0">
                <a:solidFill>
                  <a:srgbClr val="CC9900"/>
                </a:solidFill>
                <a:uFillTx/>
              </a:rPr>
              <a:t>(FWD)</a:t>
            </a:r>
          </a:p>
          <a:p>
            <a:pPr algn="ctr"/>
            <a:endParaRPr lang="en-US" sz="3200" dirty="0">
              <a:solidFill>
                <a:schemeClr val="bg1"/>
              </a:solidFill>
              <a:uFillTx/>
            </a:endParaRPr>
          </a:p>
          <a:p>
            <a:pPr algn="ctr"/>
            <a:r>
              <a:rPr lang="en-US" sz="3200" dirty="0">
                <a:solidFill>
                  <a:schemeClr val="bg1"/>
                </a:solidFill>
                <a:uFillTx/>
              </a:rPr>
              <a:t>D</a:t>
            </a:r>
          </a:p>
          <a:p>
            <a:pPr algn="ctr"/>
            <a:r>
              <a:rPr lang="en-US" sz="3200" dirty="0">
                <a:solidFill>
                  <a:schemeClr val="bg1"/>
                </a:solidFill>
                <a:uFillTx/>
              </a:rPr>
              <a:t>E</a:t>
            </a:r>
          </a:p>
          <a:p>
            <a:pPr algn="ctr"/>
            <a:r>
              <a:rPr lang="en-US" sz="3200" dirty="0">
                <a:solidFill>
                  <a:schemeClr val="bg1"/>
                </a:solidFill>
                <a:uFillTx/>
              </a:rPr>
              <a:t>F</a:t>
            </a:r>
          </a:p>
          <a:p>
            <a:pPr algn="ctr"/>
            <a:r>
              <a:rPr lang="en-US" sz="3200" dirty="0">
                <a:solidFill>
                  <a:schemeClr val="bg1"/>
                </a:solidFill>
                <a:uFillTx/>
              </a:rPr>
              <a:t>E</a:t>
            </a:r>
          </a:p>
          <a:p>
            <a:pPr algn="ctr"/>
            <a:r>
              <a:rPr lang="en-US" sz="3200" dirty="0">
                <a:solidFill>
                  <a:schemeClr val="bg1"/>
                </a:solidFill>
                <a:uFillTx/>
              </a:rPr>
              <a:t>N</a:t>
            </a:r>
          </a:p>
          <a:p>
            <a:pPr algn="ctr"/>
            <a:r>
              <a:rPr lang="en-US" sz="3200" dirty="0">
                <a:solidFill>
                  <a:schemeClr val="bg1"/>
                </a:solidFill>
                <a:uFillTx/>
              </a:rPr>
              <a:t>S</a:t>
            </a:r>
          </a:p>
          <a:p>
            <a:pPr algn="ctr"/>
            <a:r>
              <a:rPr lang="en-US" sz="3200" dirty="0">
                <a:solidFill>
                  <a:schemeClr val="bg1"/>
                </a:solidFill>
                <a:uFillTx/>
              </a:rPr>
              <a:t>I</a:t>
            </a:r>
          </a:p>
          <a:p>
            <a:pPr algn="ctr"/>
            <a:r>
              <a:rPr lang="en-US" sz="3200" dirty="0">
                <a:solidFill>
                  <a:schemeClr val="bg1"/>
                </a:solidFill>
                <a:uFillTx/>
              </a:rPr>
              <a:t>V</a:t>
            </a:r>
          </a:p>
          <a:p>
            <a:pPr algn="ctr"/>
            <a:r>
              <a:rPr lang="en-US" sz="3200" dirty="0">
                <a:solidFill>
                  <a:schemeClr val="bg1"/>
                </a:solidFill>
                <a:uFillTx/>
              </a:rPr>
              <a:t>E</a:t>
            </a:r>
          </a:p>
        </p:txBody>
      </p:sp>
      <p:cxnSp>
        <p:nvCxnSpPr>
          <p:cNvPr id="22" name="Straight Arrow Connector 21"/>
          <p:cNvCxnSpPr/>
          <p:nvPr/>
        </p:nvCxnSpPr>
        <p:spPr>
          <a:xfrm flipH="1" flipV="1">
            <a:off x="2094721" y="4511069"/>
            <a:ext cx="552869" cy="123823"/>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2480242" y="4795342"/>
            <a:ext cx="226762"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a:off x="2935378" y="4788002"/>
            <a:ext cx="242363" cy="259835"/>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flipV="1">
            <a:off x="2916408" y="4572980"/>
            <a:ext cx="496193" cy="10682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2799782" y="4823110"/>
            <a:ext cx="0" cy="29543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6601271" y="4185121"/>
            <a:ext cx="0" cy="295439"/>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V="1">
            <a:off x="6658867" y="3719945"/>
            <a:ext cx="449932" cy="24589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flipH="1" flipV="1">
            <a:off x="6082921" y="3719945"/>
            <a:ext cx="462345" cy="22747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36" name="TextBox 35"/>
          <p:cNvSpPr txBox="1">
            <a:spLocks/>
          </p:cNvSpPr>
          <p:nvPr/>
        </p:nvSpPr>
        <p:spPr>
          <a:xfrm>
            <a:off x="5420435" y="3132160"/>
            <a:ext cx="2343832" cy="472194"/>
          </a:xfrm>
          <a:prstGeom prst="rect">
            <a:avLst/>
          </a:prstGeom>
          <a:ln w="19050">
            <a:solidFill>
              <a:srgbClr val="CC9900"/>
            </a:solidFill>
          </a:ln>
        </p:spPr>
        <p:txBody>
          <a:bodyPr wrap="square" rtlCol="0" anchor="ctr">
            <a:noAutofit/>
          </a:bodyPr>
          <a:lstStyle/>
          <a:p>
            <a:pPr algn="ctr"/>
            <a:r>
              <a:rPr lang="en-US" sz="1100" dirty="0">
                <a:uFillTx/>
              </a:rPr>
              <a:t>Make Play Predictable</a:t>
            </a:r>
          </a:p>
          <a:p>
            <a:pPr algn="ctr"/>
            <a:r>
              <a:rPr lang="en-US" sz="1100" dirty="0">
                <a:uFillTx/>
              </a:rPr>
              <a:t>Force to one side of field, recover ball</a:t>
            </a:r>
          </a:p>
        </p:txBody>
      </p:sp>
      <p:sp>
        <p:nvSpPr>
          <p:cNvPr id="44" name="TextBox 43"/>
          <p:cNvSpPr txBox="1">
            <a:spLocks/>
          </p:cNvSpPr>
          <p:nvPr/>
        </p:nvSpPr>
        <p:spPr>
          <a:xfrm>
            <a:off x="9067571" y="3475223"/>
            <a:ext cx="2343832" cy="472194"/>
          </a:xfrm>
          <a:prstGeom prst="rect">
            <a:avLst/>
          </a:prstGeom>
          <a:ln w="19050">
            <a:solidFill>
              <a:srgbClr val="CC9900"/>
            </a:solidFill>
          </a:ln>
        </p:spPr>
        <p:txBody>
          <a:bodyPr wrap="square" rtlCol="0" anchor="ctr">
            <a:noAutofit/>
          </a:bodyPr>
          <a:lstStyle/>
          <a:p>
            <a:pPr algn="ctr"/>
            <a:r>
              <a:rPr lang="en-US" sz="1100" dirty="0">
                <a:uFillTx/>
              </a:rPr>
              <a:t>Make Play Predictable</a:t>
            </a:r>
          </a:p>
          <a:p>
            <a:pPr algn="ctr"/>
            <a:r>
              <a:rPr lang="en-US" sz="1100" dirty="0">
                <a:uFillTx/>
              </a:rPr>
              <a:t>Force to one side of field, recover ball</a:t>
            </a:r>
          </a:p>
        </p:txBody>
      </p:sp>
      <p:cxnSp>
        <p:nvCxnSpPr>
          <p:cNvPr id="45" name="Straight Arrow Connector 44"/>
          <p:cNvCxnSpPr/>
          <p:nvPr/>
        </p:nvCxnSpPr>
        <p:spPr>
          <a:xfrm flipV="1">
            <a:off x="10392281" y="3086100"/>
            <a:ext cx="653255" cy="221242"/>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H="1" flipV="1">
            <a:off x="9544050" y="3086100"/>
            <a:ext cx="562572" cy="231441"/>
          </a:xfrm>
          <a:prstGeom prst="straightConnector1">
            <a:avLst/>
          </a:prstGeom>
          <a:ln>
            <a:solidFill>
              <a:schemeClr val="tx1"/>
            </a:solidFill>
            <a:prstDash val="dash"/>
            <a:tailEnd type="triangle"/>
          </a:ln>
        </p:spPr>
        <p:style>
          <a:lnRef idx="1">
            <a:schemeClr val="accent1"/>
          </a:lnRef>
          <a:fillRef idx="0">
            <a:schemeClr val="accent1"/>
          </a:fillRef>
          <a:effectRef idx="1">
            <a:schemeClr val="accent1"/>
          </a:effectRef>
          <a:fontRef idx="minor">
            <a:schemeClr val="tx1"/>
          </a:fontRef>
        </p:style>
      </p:cxnSp>
      <p:sp>
        <p:nvSpPr>
          <p:cNvPr id="27" name="Arc 26"/>
          <p:cNvSpPr>
            <a:spLocks/>
          </p:cNvSpPr>
          <p:nvPr/>
        </p:nvSpPr>
        <p:spPr>
          <a:xfrm rot="15194468">
            <a:off x="10392096" y="2667100"/>
            <a:ext cx="639041" cy="837998"/>
          </a:xfrm>
          <a:prstGeom prst="arc">
            <a:avLst>
              <a:gd name="adj1" fmla="val 16200000"/>
              <a:gd name="adj2" fmla="val 2595941"/>
            </a:avLst>
          </a:prstGeom>
          <a:ln>
            <a:solidFill>
              <a:schemeClr val="tx1"/>
            </a:solidFill>
            <a:prstDash val="dash"/>
            <a:headEnd type="none" w="med" len="med"/>
            <a:tailEnd type="triangl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
        <p:nvSpPr>
          <p:cNvPr id="47" name="Arc 46"/>
          <p:cNvSpPr>
            <a:spLocks/>
          </p:cNvSpPr>
          <p:nvPr/>
        </p:nvSpPr>
        <p:spPr>
          <a:xfrm rot="6405532" flipH="1">
            <a:off x="9443581" y="2667100"/>
            <a:ext cx="639041" cy="837998"/>
          </a:xfrm>
          <a:prstGeom prst="arc">
            <a:avLst>
              <a:gd name="adj1" fmla="val 16200000"/>
              <a:gd name="adj2" fmla="val 2595941"/>
            </a:avLst>
          </a:prstGeom>
          <a:ln>
            <a:solidFill>
              <a:schemeClr val="tx1"/>
            </a:solidFill>
            <a:prstDash val="dash"/>
            <a:headEnd type="none" w="med" len="med"/>
            <a:tailEnd type="triangle" w="med" len="med"/>
          </a:ln>
        </p:spPr>
        <p:style>
          <a:lnRef idx="1">
            <a:schemeClr val="accent1"/>
          </a:lnRef>
          <a:fillRef idx="0">
            <a:schemeClr val="accent1"/>
          </a:fillRef>
          <a:effectRef idx="1">
            <a:schemeClr val="accent1"/>
          </a:effectRef>
          <a:fontRef idx="minor">
            <a:schemeClr val="tx1"/>
          </a:fontRef>
        </p:style>
        <p:txBody>
          <a:bodyPr rtlCol="0" anchor="ctr"/>
          <a:lstStyle/>
          <a:p>
            <a:pPr algn="ctr"/>
            <a:endParaRPr lang="en-US">
              <a:uFillTx/>
            </a:endParaRPr>
          </a:p>
        </p:txBody>
      </p:sp>
    </p:spTree>
    <p:extLst>
      <p:ext uri="{BB962C8B-B14F-4D97-AF65-F5344CB8AC3E}">
        <p14:creationId xmlns:p14="http://schemas.microsoft.com/office/powerpoint/2010/main" val="35540662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5675</TotalTime>
  <Words>7343</Words>
  <Application>Microsoft Macintosh PowerPoint</Application>
  <PresentationFormat>Widescreen</PresentationFormat>
  <Paragraphs>1385</Paragraphs>
  <Slides>49</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Arial Rounded MT Bold</vt:lpstr>
      <vt:lpstr>Calibri</vt:lpstr>
      <vt:lpstr>Calibri Light</vt:lpstr>
      <vt:lpstr>Copperplate Gothic Bold</vt:lpstr>
      <vt:lpstr>Helvetica Light</vt:lpstr>
      <vt:lpstr>USSF 90 Min Display Light</vt:lpstr>
      <vt:lpstr>USSF 90 Min Display Medium</vt:lpstr>
      <vt:lpstr>Office Theme</vt:lpstr>
      <vt:lpstr>PowerPoint Presentation</vt:lpstr>
      <vt:lpstr>PowerPoint Presentation</vt:lpstr>
      <vt:lpstr>PowerPoint Presentation</vt:lpstr>
      <vt:lpstr>PowerPoint Presentation</vt:lpstr>
      <vt:lpstr>TRAINING ENVIRONMENT</vt:lpstr>
      <vt:lpstr>SC WAVE DNA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marcio leite</dc:creator>
  <cp:lastModifiedBy>Daniel Mattos</cp:lastModifiedBy>
  <cp:revision>7</cp:revision>
  <dcterms:created xsi:type="dcterms:W3CDTF">2023-06-11T21:01:13Z</dcterms:created>
  <dcterms:modified xsi:type="dcterms:W3CDTF">2024-08-24T15:54:49Z</dcterms:modified>
</cp:coreProperties>
</file>