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pic>
        <p:nvPicPr>
          <p:cNvPr id="2" name="Picture 1" descr="brazil_cover.jpeg"/>
          <p:cNvPicPr>
            <a:picLocks noChangeAspect="1"/>
          </p:cNvPicPr>
          <p:nvPr/>
        </p:nvPicPr>
        <p:blipFill>
          <a:blip r:embed="rId2"/>
          <a:stretch>
            <a:fillRect/>
          </a:stretch>
        </p:blipFill>
        <p:spPr>
          <a:xfrm>
            <a:off x="7982712" y="0"/>
            <a:ext cx="4206240" cy="6858000"/>
          </a:xfrm>
          <a:prstGeom prst="rect">
            <a:avLst/>
          </a:prstGeom>
        </p:spPr>
      </p:pic>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927848" y="0"/>
            <a:ext cx="54864"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 y="0"/>
            <a:ext cx="7818120" cy="18288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wave-logo.png"/>
          <p:cNvPicPr>
            <a:picLocks noChangeAspect="1"/>
          </p:cNvPicPr>
          <p:nvPr/>
        </p:nvPicPr>
        <p:blipFill>
          <a:blip r:embed="rId3"/>
          <a:stretch>
            <a:fillRect/>
          </a:stretch>
        </p:blipFill>
        <p:spPr>
          <a:xfrm>
            <a:off x="411480" y="182880"/>
            <a:ext cx="1600200" cy="1463040"/>
          </a:xfrm>
          <a:prstGeom prst="rect">
            <a:avLst/>
          </a:prstGeom>
        </p:spPr>
      </p:pic>
      <p:sp>
        <p:nvSpPr>
          <p:cNvPr id="8" name="TextBox 7"/>
          <p:cNvSpPr txBox="1"/>
          <p:nvPr/>
        </p:nvSpPr>
        <p:spPr>
          <a:xfrm>
            <a:off x="2194560" y="384048"/>
            <a:ext cx="5559552" cy="457200"/>
          </a:xfrm>
          <a:prstGeom prst="rect">
            <a:avLst/>
          </a:prstGeom>
          <a:noFill/>
        </p:spPr>
        <p:txBody>
          <a:bodyPr wrap="square">
            <a:spAutoFit/>
          </a:bodyPr>
          <a:lstStyle/>
          <a:p>
            <a:pPr algn="l"/>
            <a:r>
              <a:rPr sz="1400" b="1">
                <a:solidFill>
                  <a:srgbClr val="00D4E4"/>
                </a:solidFill>
                <a:latin typeface="Inter"/>
              </a:rPr>
              <a:t>SC WAVE SOCCER CLUB</a:t>
            </a:r>
          </a:p>
        </p:txBody>
      </p:sp>
      <p:sp>
        <p:nvSpPr>
          <p:cNvPr id="9" name="TextBox 8"/>
          <p:cNvSpPr txBox="1"/>
          <p:nvPr/>
        </p:nvSpPr>
        <p:spPr>
          <a:xfrm>
            <a:off x="2194560" y="841248"/>
            <a:ext cx="5559552" cy="365760"/>
          </a:xfrm>
          <a:prstGeom prst="rect">
            <a:avLst/>
          </a:prstGeom>
          <a:noFill/>
        </p:spPr>
        <p:txBody>
          <a:bodyPr wrap="square">
            <a:spAutoFit/>
          </a:bodyPr>
          <a:lstStyle/>
          <a:p>
            <a:pPr algn="l"/>
            <a:r>
              <a:rPr sz="1100" b="0">
                <a:solidFill>
                  <a:srgbClr val="AAAAAA"/>
                </a:solidFill>
                <a:latin typeface="Inter"/>
              </a:rPr>
              <a:t>MLS NEXT  ·  Player Development</a:t>
            </a:r>
          </a:p>
        </p:txBody>
      </p:sp>
      <p:sp>
        <p:nvSpPr>
          <p:cNvPr id="10" name="TextBox 9"/>
          <p:cNvSpPr txBox="1"/>
          <p:nvPr/>
        </p:nvSpPr>
        <p:spPr>
          <a:xfrm>
            <a:off x="457200" y="2103120"/>
            <a:ext cx="7296912" cy="1280160"/>
          </a:xfrm>
          <a:prstGeom prst="rect">
            <a:avLst/>
          </a:prstGeom>
          <a:noFill/>
        </p:spPr>
        <p:txBody>
          <a:bodyPr wrap="square">
            <a:spAutoFit/>
          </a:bodyPr>
          <a:lstStyle/>
          <a:p>
            <a:pPr algn="l"/>
            <a:r>
              <a:rPr sz="7000" b="1">
                <a:solidFill>
                  <a:srgbClr val="F5C518"/>
                </a:solidFill>
                <a:latin typeface="Barlow Condensed"/>
              </a:rPr>
              <a:t>CLUB GAME MODEL</a:t>
            </a:r>
          </a:p>
        </p:txBody>
      </p:sp>
      <p:pic>
        <p:nvPicPr>
          <p:cNvPr id="11" name="Picture 10" descr="mlsnext-logo.png"/>
          <p:cNvPicPr>
            <a:picLocks noChangeAspect="1"/>
          </p:cNvPicPr>
          <p:nvPr/>
        </p:nvPicPr>
        <p:blipFill>
          <a:blip r:embed="rId4"/>
          <a:stretch>
            <a:fillRect/>
          </a:stretch>
        </p:blipFill>
        <p:spPr>
          <a:xfrm>
            <a:off x="457200" y="6016752"/>
            <a:ext cx="2651760" cy="685800"/>
          </a:xfrm>
          <a:prstGeom prst="rect">
            <a:avLst/>
          </a:prstGeom>
        </p:spPr>
      </p:pic>
      <p:sp>
        <p:nvSpPr>
          <p:cNvPr id="12" name="TextBox 11"/>
          <p:cNvSpPr txBox="1"/>
          <p:nvPr/>
        </p:nvSpPr>
        <p:spPr>
          <a:xfrm>
            <a:off x="3291840" y="6080760"/>
            <a:ext cx="4919472" cy="548640"/>
          </a:xfrm>
          <a:prstGeom prst="rect">
            <a:avLst/>
          </a:prstGeom>
          <a:noFill/>
        </p:spPr>
        <p:txBody>
          <a:bodyPr wrap="square">
            <a:spAutoFit/>
          </a:bodyPr>
          <a:lstStyle/>
          <a:p>
            <a:pPr algn="l"/>
            <a:r>
              <a:rPr sz="1200" b="0">
                <a:solidFill>
                  <a:srgbClr val="AAAAAA"/>
                </a:solidFill>
                <a:latin typeface="Inter"/>
              </a:rPr>
              <a:t>2025 — 2026 SEASON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MISSION &amp; VISION</a:t>
            </a:r>
          </a:p>
        </p:txBody>
      </p:sp>
      <p:sp>
        <p:nvSpPr>
          <p:cNvPr id="4" name="Rectangle 3"/>
          <p:cNvSpPr/>
          <p:nvPr/>
        </p:nvSpPr>
        <p:spPr>
          <a:xfrm>
            <a:off x="457200" y="1024128"/>
            <a:ext cx="5440680" cy="5120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24128"/>
            <a:ext cx="73152" cy="51206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52144"/>
            <a:ext cx="5166360" cy="402336"/>
          </a:xfrm>
          <a:prstGeom prst="rect">
            <a:avLst/>
          </a:prstGeom>
          <a:noFill/>
        </p:spPr>
        <p:txBody>
          <a:bodyPr wrap="square">
            <a:spAutoFit/>
          </a:bodyPr>
          <a:lstStyle/>
          <a:p>
            <a:pPr algn="l"/>
            <a:r>
              <a:rPr sz="2400" b="1">
                <a:solidFill>
                  <a:srgbClr val="F5C518"/>
                </a:solidFill>
                <a:latin typeface="Barlow Condensed"/>
              </a:rPr>
              <a:t>MISSION</a:t>
            </a:r>
          </a:p>
        </p:txBody>
      </p:sp>
      <p:sp>
        <p:nvSpPr>
          <p:cNvPr id="7" name="TextBox 6"/>
          <p:cNvSpPr txBox="1"/>
          <p:nvPr/>
        </p:nvSpPr>
        <p:spPr>
          <a:xfrm>
            <a:off x="640080" y="1627632"/>
            <a:ext cx="5166360" cy="4462272"/>
          </a:xfrm>
          <a:prstGeom prst="rect">
            <a:avLst/>
          </a:prstGeom>
          <a:noFill/>
        </p:spPr>
        <p:txBody>
          <a:bodyPr wrap="square">
            <a:spAutoFit/>
          </a:bodyPr>
          <a:lstStyle/>
          <a:p>
            <a:pPr algn="l"/>
            <a:r>
              <a:rPr sz="1350" b="0">
                <a:solidFill>
                  <a:srgbClr val="F2F2F0"/>
                </a:solidFill>
                <a:latin typeface="Inter"/>
              </a:rPr>
              <a:t>SC Wave provides an enjoyable and positive environment for soccer players. Our mission is to promote individual development of all our players and assist them to reach their full potential, both within the game and outside of the game of soccer.</a:t>
            </a:r>
          </a:p>
          <a:p>
            <a:pPr algn="l"/>
            <a:r>
              <a:rPr sz="1350" b="0">
                <a:solidFill>
                  <a:srgbClr val="F2F2F0"/>
                </a:solidFill>
                <a:latin typeface="Inter"/>
              </a:rPr>
              <a:t/>
            </a:r>
          </a:p>
          <a:p>
            <a:pPr algn="l"/>
            <a:r>
              <a:rPr sz="1350" b="0">
                <a:solidFill>
                  <a:srgbClr val="F2F2F0"/>
                </a:solidFill>
                <a:latin typeface="Inter"/>
              </a:rPr>
              <a:t>Our players focus on proper preparation through discipline, determination, dedication, hard work and teamwork while playing with a passion and competing every time they step on the field.</a:t>
            </a:r>
          </a:p>
        </p:txBody>
      </p:sp>
      <p:sp>
        <p:nvSpPr>
          <p:cNvPr id="8" name="Rectangle 7"/>
          <p:cNvSpPr/>
          <p:nvPr/>
        </p:nvSpPr>
        <p:spPr>
          <a:xfrm>
            <a:off x="6062472" y="1024128"/>
            <a:ext cx="5669280" cy="5120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62472" y="1024128"/>
            <a:ext cx="73152" cy="5120640"/>
          </a:xfrm>
          <a:prstGeom prst="rect">
            <a:avLst/>
          </a:prstGeom>
          <a:solidFill>
            <a:srgbClr val="00D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152144"/>
            <a:ext cx="5394960" cy="402336"/>
          </a:xfrm>
          <a:prstGeom prst="rect">
            <a:avLst/>
          </a:prstGeom>
          <a:noFill/>
        </p:spPr>
        <p:txBody>
          <a:bodyPr wrap="square">
            <a:spAutoFit/>
          </a:bodyPr>
          <a:lstStyle/>
          <a:p>
            <a:pPr algn="l"/>
            <a:r>
              <a:rPr sz="2400" b="1">
                <a:solidFill>
                  <a:srgbClr val="00D4E4"/>
                </a:solidFill>
                <a:latin typeface="Barlow Condensed"/>
              </a:rPr>
              <a:t>VISION</a:t>
            </a:r>
          </a:p>
        </p:txBody>
      </p:sp>
      <p:sp>
        <p:nvSpPr>
          <p:cNvPr id="11" name="TextBox 10"/>
          <p:cNvSpPr txBox="1"/>
          <p:nvPr/>
        </p:nvSpPr>
        <p:spPr>
          <a:xfrm>
            <a:off x="6245352" y="1627632"/>
            <a:ext cx="5394960" cy="4462272"/>
          </a:xfrm>
          <a:prstGeom prst="rect">
            <a:avLst/>
          </a:prstGeom>
          <a:noFill/>
        </p:spPr>
        <p:txBody>
          <a:bodyPr wrap="square">
            <a:spAutoFit/>
          </a:bodyPr>
          <a:lstStyle/>
          <a:p>
            <a:pPr algn="l"/>
            <a:r>
              <a:rPr sz="1350" b="0">
                <a:solidFill>
                  <a:srgbClr val="F2F2F0"/>
                </a:solidFill>
                <a:latin typeface="Inter"/>
              </a:rPr>
              <a:t>SC Wave will develop complete soccer players with excellent soccer intelligence, technical skills, and a competitive mentality.</a:t>
            </a:r>
          </a:p>
          <a:p>
            <a:pPr algn="l"/>
            <a:r>
              <a:rPr sz="1350" b="0">
                <a:solidFill>
                  <a:srgbClr val="F2F2F0"/>
                </a:solidFill>
                <a:latin typeface="Inter"/>
              </a:rPr>
              <a:t/>
            </a:r>
          </a:p>
          <a:p>
            <a:pPr algn="l"/>
            <a:r>
              <a:rPr sz="1350" b="0">
                <a:solidFill>
                  <a:srgbClr val="F2F2F0"/>
                </a:solidFill>
                <a:latin typeface="Inter"/>
              </a:rPr>
              <a:t>Players will learn to love the game and will compete at their appropriate level, while experiencing life-lessons beyond the game.</a:t>
            </a:r>
          </a:p>
          <a:p>
            <a:pPr algn="l"/>
            <a:r>
              <a:rPr sz="1350" b="0">
                <a:solidFill>
                  <a:srgbClr val="F2F2F0"/>
                </a:solidFill>
                <a:latin typeface="Inter"/>
              </a:rPr>
              <a:t/>
            </a:r>
          </a:p>
          <a:p>
            <a:pPr algn="l"/>
            <a:r>
              <a:rPr sz="1350" b="0">
                <a:solidFill>
                  <a:srgbClr val="F2F2F0"/>
                </a:solidFill>
                <a:latin typeface="Inter"/>
              </a:rPr>
              <a:t>We aim to prepare our players to the next level of College Soccer and in some instances professional soccer.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CLUB VALUES</a:t>
            </a:r>
          </a:p>
        </p:txBody>
      </p:sp>
      <p:sp>
        <p:nvSpPr>
          <p:cNvPr id="4" name="Rectangle 3"/>
          <p:cNvSpPr/>
          <p:nvPr/>
        </p:nvSpPr>
        <p:spPr>
          <a:xfrm>
            <a:off x="457200" y="1024128"/>
            <a:ext cx="2152497" cy="50749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24128"/>
            <a:ext cx="2152497"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152144"/>
            <a:ext cx="1896465" cy="594360"/>
          </a:xfrm>
          <a:prstGeom prst="rect">
            <a:avLst/>
          </a:prstGeom>
          <a:noFill/>
        </p:spPr>
        <p:txBody>
          <a:bodyPr wrap="square">
            <a:spAutoFit/>
          </a:bodyPr>
          <a:lstStyle/>
          <a:p>
            <a:pPr algn="l"/>
            <a:r>
              <a:rPr sz="2000" b="1">
                <a:solidFill>
                  <a:srgbClr val="F5C518"/>
                </a:solidFill>
                <a:latin typeface="Barlow Condensed"/>
              </a:rPr>
              <a:t>MERITOCRACY</a:t>
            </a:r>
          </a:p>
        </p:txBody>
      </p:sp>
      <p:sp>
        <p:nvSpPr>
          <p:cNvPr id="7" name="TextBox 6"/>
          <p:cNvSpPr txBox="1"/>
          <p:nvPr/>
        </p:nvSpPr>
        <p:spPr>
          <a:xfrm>
            <a:off x="585216" y="1828800"/>
            <a:ext cx="1896465" cy="4160520"/>
          </a:xfrm>
          <a:prstGeom prst="rect">
            <a:avLst/>
          </a:prstGeom>
          <a:noFill/>
        </p:spPr>
        <p:txBody>
          <a:bodyPr wrap="square">
            <a:spAutoFit/>
          </a:bodyPr>
          <a:lstStyle/>
          <a:p>
            <a:pPr algn="l"/>
            <a:r>
              <a:rPr sz="1200" b="0">
                <a:solidFill>
                  <a:srgbClr val="F2F2F0"/>
                </a:solidFill>
                <a:latin typeface="Inter"/>
              </a:rPr>
              <a:t>Our attitudes and behaviors reflect what we deserve.</a:t>
            </a:r>
          </a:p>
        </p:txBody>
      </p:sp>
      <p:sp>
        <p:nvSpPr>
          <p:cNvPr id="8" name="Rectangle 7"/>
          <p:cNvSpPr/>
          <p:nvPr/>
        </p:nvSpPr>
        <p:spPr>
          <a:xfrm>
            <a:off x="2737713" y="1024128"/>
            <a:ext cx="2152497" cy="50749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37713" y="1024128"/>
            <a:ext cx="2152497"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65729" y="1152144"/>
            <a:ext cx="1896465" cy="594360"/>
          </a:xfrm>
          <a:prstGeom prst="rect">
            <a:avLst/>
          </a:prstGeom>
          <a:noFill/>
        </p:spPr>
        <p:txBody>
          <a:bodyPr wrap="square">
            <a:spAutoFit/>
          </a:bodyPr>
          <a:lstStyle/>
          <a:p>
            <a:pPr algn="l"/>
            <a:r>
              <a:rPr sz="2000" b="1">
                <a:solidFill>
                  <a:srgbClr val="F5C518"/>
                </a:solidFill>
                <a:latin typeface="Barlow Condensed"/>
              </a:rPr>
              <a:t>TEAM SPIRIT</a:t>
            </a:r>
          </a:p>
        </p:txBody>
      </p:sp>
      <p:sp>
        <p:nvSpPr>
          <p:cNvPr id="11" name="TextBox 10"/>
          <p:cNvSpPr txBox="1"/>
          <p:nvPr/>
        </p:nvSpPr>
        <p:spPr>
          <a:xfrm>
            <a:off x="2865729" y="1828800"/>
            <a:ext cx="1896465" cy="4160520"/>
          </a:xfrm>
          <a:prstGeom prst="rect">
            <a:avLst/>
          </a:prstGeom>
          <a:noFill/>
        </p:spPr>
        <p:txBody>
          <a:bodyPr wrap="square">
            <a:spAutoFit/>
          </a:bodyPr>
          <a:lstStyle/>
          <a:p>
            <a:pPr algn="l"/>
            <a:r>
              <a:rPr sz="1200" b="0">
                <a:solidFill>
                  <a:srgbClr val="F2F2F0"/>
                </a:solidFill>
                <a:latin typeface="Inter"/>
              </a:rPr>
              <a:t>Collective achievements generate individual benefits.</a:t>
            </a:r>
          </a:p>
        </p:txBody>
      </p:sp>
      <p:sp>
        <p:nvSpPr>
          <p:cNvPr id="12" name="Rectangle 11"/>
          <p:cNvSpPr/>
          <p:nvPr/>
        </p:nvSpPr>
        <p:spPr>
          <a:xfrm>
            <a:off x="5018226" y="1024128"/>
            <a:ext cx="2152497" cy="50749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18226" y="1024128"/>
            <a:ext cx="2152497"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46242" y="1152144"/>
            <a:ext cx="1896465" cy="594360"/>
          </a:xfrm>
          <a:prstGeom prst="rect">
            <a:avLst/>
          </a:prstGeom>
          <a:noFill/>
        </p:spPr>
        <p:txBody>
          <a:bodyPr wrap="square">
            <a:spAutoFit/>
          </a:bodyPr>
          <a:lstStyle/>
          <a:p>
            <a:pPr algn="l"/>
            <a:r>
              <a:rPr sz="2000" b="1">
                <a:solidFill>
                  <a:srgbClr val="F5C518"/>
                </a:solidFill>
                <a:latin typeface="Barlow Condensed"/>
              </a:rPr>
              <a:t>RESPECT</a:t>
            </a:r>
          </a:p>
        </p:txBody>
      </p:sp>
      <p:sp>
        <p:nvSpPr>
          <p:cNvPr id="15" name="TextBox 14"/>
          <p:cNvSpPr txBox="1"/>
          <p:nvPr/>
        </p:nvSpPr>
        <p:spPr>
          <a:xfrm>
            <a:off x="5146242" y="1828800"/>
            <a:ext cx="1896465" cy="4160520"/>
          </a:xfrm>
          <a:prstGeom prst="rect">
            <a:avLst/>
          </a:prstGeom>
          <a:noFill/>
        </p:spPr>
        <p:txBody>
          <a:bodyPr wrap="square">
            <a:spAutoFit/>
          </a:bodyPr>
          <a:lstStyle/>
          <a:p>
            <a:pPr algn="l"/>
            <a:r>
              <a:rPr sz="1200" b="0">
                <a:solidFill>
                  <a:srgbClr val="F2F2F0"/>
                </a:solidFill>
                <a:latin typeface="Inter"/>
              </a:rPr>
              <a:t>We respect the environment — referees, opponents, teammates and facilities. We are proud to represent the club and our community.</a:t>
            </a:r>
          </a:p>
        </p:txBody>
      </p:sp>
      <p:sp>
        <p:nvSpPr>
          <p:cNvPr id="16" name="Rectangle 15"/>
          <p:cNvSpPr/>
          <p:nvPr/>
        </p:nvSpPr>
        <p:spPr>
          <a:xfrm>
            <a:off x="7298739" y="1024128"/>
            <a:ext cx="2152497" cy="50749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98739" y="1024128"/>
            <a:ext cx="2152497"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6755" y="1152144"/>
            <a:ext cx="1896465" cy="594360"/>
          </a:xfrm>
          <a:prstGeom prst="rect">
            <a:avLst/>
          </a:prstGeom>
          <a:noFill/>
        </p:spPr>
        <p:txBody>
          <a:bodyPr wrap="square">
            <a:spAutoFit/>
          </a:bodyPr>
          <a:lstStyle/>
          <a:p>
            <a:pPr algn="l"/>
            <a:r>
              <a:rPr sz="2000" b="1">
                <a:solidFill>
                  <a:srgbClr val="F5C518"/>
                </a:solidFill>
                <a:latin typeface="Barlow Condensed"/>
              </a:rPr>
              <a:t>RESILIENCE</a:t>
            </a:r>
          </a:p>
        </p:txBody>
      </p:sp>
      <p:sp>
        <p:nvSpPr>
          <p:cNvPr id="19" name="TextBox 18"/>
          <p:cNvSpPr txBox="1"/>
          <p:nvPr/>
        </p:nvSpPr>
        <p:spPr>
          <a:xfrm>
            <a:off x="7426755" y="1828800"/>
            <a:ext cx="1896465" cy="4160520"/>
          </a:xfrm>
          <a:prstGeom prst="rect">
            <a:avLst/>
          </a:prstGeom>
          <a:noFill/>
        </p:spPr>
        <p:txBody>
          <a:bodyPr wrap="square">
            <a:spAutoFit/>
          </a:bodyPr>
          <a:lstStyle/>
          <a:p>
            <a:pPr algn="l"/>
            <a:r>
              <a:rPr sz="1200" b="0">
                <a:solidFill>
                  <a:srgbClr val="F2F2F0"/>
                </a:solidFill>
                <a:latin typeface="Inter"/>
              </a:rPr>
              <a:t>Giving up is not an option. You fail only when you quit.</a:t>
            </a:r>
          </a:p>
        </p:txBody>
      </p:sp>
      <p:sp>
        <p:nvSpPr>
          <p:cNvPr id="20" name="Rectangle 19"/>
          <p:cNvSpPr/>
          <p:nvPr/>
        </p:nvSpPr>
        <p:spPr>
          <a:xfrm>
            <a:off x="9579252" y="1024128"/>
            <a:ext cx="2152497" cy="50749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79252" y="1024128"/>
            <a:ext cx="2152497"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07268" y="1152144"/>
            <a:ext cx="1896465" cy="594360"/>
          </a:xfrm>
          <a:prstGeom prst="rect">
            <a:avLst/>
          </a:prstGeom>
          <a:noFill/>
        </p:spPr>
        <p:txBody>
          <a:bodyPr wrap="square">
            <a:spAutoFit/>
          </a:bodyPr>
          <a:lstStyle/>
          <a:p>
            <a:pPr algn="l"/>
            <a:r>
              <a:rPr sz="2000" b="1">
                <a:solidFill>
                  <a:srgbClr val="F5C518"/>
                </a:solidFill>
                <a:latin typeface="Barlow Condensed"/>
              </a:rPr>
              <a:t>CREATIVITY</a:t>
            </a:r>
          </a:p>
        </p:txBody>
      </p:sp>
      <p:sp>
        <p:nvSpPr>
          <p:cNvPr id="23" name="TextBox 22"/>
          <p:cNvSpPr txBox="1"/>
          <p:nvPr/>
        </p:nvSpPr>
        <p:spPr>
          <a:xfrm>
            <a:off x="9707268" y="1828800"/>
            <a:ext cx="1896465" cy="4160520"/>
          </a:xfrm>
          <a:prstGeom prst="rect">
            <a:avLst/>
          </a:prstGeom>
          <a:noFill/>
        </p:spPr>
        <p:txBody>
          <a:bodyPr wrap="square">
            <a:spAutoFit/>
          </a:bodyPr>
          <a:lstStyle/>
          <a:p>
            <a:pPr algn="l"/>
            <a:r>
              <a:rPr sz="1200" b="0">
                <a:solidFill>
                  <a:srgbClr val="F2F2F0"/>
                </a:solidFill>
                <a:latin typeface="Inter"/>
              </a:rPr>
              <a:t>We are brave and confident to create and generate something unpredictable.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PLAYER PATHWAY</a:t>
            </a:r>
          </a:p>
        </p:txBody>
      </p:sp>
      <p:sp>
        <p:nvSpPr>
          <p:cNvPr id="4" name="Rectangle 3"/>
          <p:cNvSpPr/>
          <p:nvPr/>
        </p:nvSpPr>
        <p:spPr>
          <a:xfrm>
            <a:off x="3291840" y="1024128"/>
            <a:ext cx="4297680" cy="512064"/>
          </a:xfrm>
          <a:prstGeom prst="rect">
            <a:avLst/>
          </a:prstGeom>
          <a:solidFill>
            <a:srgbClr val="F5C518"/>
          </a:solidFill>
          <a:ln w="19050">
            <a:solidFill>
              <a:srgbClr val="F5C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91840" y="1133856"/>
            <a:ext cx="4297680" cy="402336"/>
          </a:xfrm>
          <a:prstGeom prst="rect">
            <a:avLst/>
          </a:prstGeom>
          <a:noFill/>
        </p:spPr>
        <p:txBody>
          <a:bodyPr wrap="square">
            <a:spAutoFit/>
          </a:bodyPr>
          <a:lstStyle/>
          <a:p>
            <a:pPr algn="ctr"/>
            <a:r>
              <a:rPr sz="2100" b="1">
                <a:solidFill>
                  <a:srgbClr val="0D0D0D"/>
                </a:solidFill>
                <a:latin typeface="Barlow Condensed"/>
              </a:rPr>
              <a:t>COLLEGE &amp; PRO</a:t>
            </a:r>
          </a:p>
        </p:txBody>
      </p:sp>
      <p:sp>
        <p:nvSpPr>
          <p:cNvPr id="6" name="Rectangle 5"/>
          <p:cNvSpPr/>
          <p:nvPr/>
        </p:nvSpPr>
        <p:spPr>
          <a:xfrm>
            <a:off x="5426964" y="1536192"/>
            <a:ext cx="27432" cy="82296"/>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91840" y="1618488"/>
            <a:ext cx="4297680" cy="512064"/>
          </a:xfrm>
          <a:prstGeom prst="rect">
            <a:avLst/>
          </a:prstGeom>
          <a:solidFill>
            <a:srgbClr val="00D4E4"/>
          </a:solidFill>
          <a:ln w="19050">
            <a:solidFill>
              <a:srgbClr val="F5C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728216"/>
            <a:ext cx="4297680" cy="402336"/>
          </a:xfrm>
          <a:prstGeom prst="rect">
            <a:avLst/>
          </a:prstGeom>
          <a:noFill/>
        </p:spPr>
        <p:txBody>
          <a:bodyPr wrap="square">
            <a:spAutoFit/>
          </a:bodyPr>
          <a:lstStyle/>
          <a:p>
            <a:pPr algn="ctr"/>
            <a:r>
              <a:rPr sz="2100" b="1">
                <a:solidFill>
                  <a:srgbClr val="0D0D0D"/>
                </a:solidFill>
                <a:latin typeface="Barlow Condensed"/>
              </a:rPr>
              <a:t>GA &amp; MLS NEXT</a:t>
            </a:r>
          </a:p>
        </p:txBody>
      </p:sp>
      <p:sp>
        <p:nvSpPr>
          <p:cNvPr id="9" name="Rectangle 8"/>
          <p:cNvSpPr/>
          <p:nvPr/>
        </p:nvSpPr>
        <p:spPr>
          <a:xfrm>
            <a:off x="5426964" y="2130552"/>
            <a:ext cx="27432" cy="82296"/>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91840" y="2212848"/>
            <a:ext cx="4297680" cy="512064"/>
          </a:xfrm>
          <a:prstGeom prst="rect">
            <a:avLst/>
          </a:prstGeom>
          <a:solidFill>
            <a:srgbClr val="F5C518"/>
          </a:solidFill>
          <a:ln w="19050">
            <a:solidFill>
              <a:srgbClr val="F5C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2322576"/>
            <a:ext cx="4297680" cy="402336"/>
          </a:xfrm>
          <a:prstGeom prst="rect">
            <a:avLst/>
          </a:prstGeom>
          <a:noFill/>
        </p:spPr>
        <p:txBody>
          <a:bodyPr wrap="square">
            <a:spAutoFit/>
          </a:bodyPr>
          <a:lstStyle/>
          <a:p>
            <a:pPr algn="ctr"/>
            <a:r>
              <a:rPr sz="2100" b="1">
                <a:solidFill>
                  <a:srgbClr val="0D0D0D"/>
                </a:solidFill>
                <a:latin typeface="Barlow Condensed"/>
              </a:rPr>
              <a:t>REGIONAL LEVEL</a:t>
            </a:r>
          </a:p>
        </p:txBody>
      </p:sp>
      <p:sp>
        <p:nvSpPr>
          <p:cNvPr id="12" name="Rectangle 11"/>
          <p:cNvSpPr/>
          <p:nvPr/>
        </p:nvSpPr>
        <p:spPr>
          <a:xfrm>
            <a:off x="5426964" y="2724912"/>
            <a:ext cx="27432" cy="82296"/>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40" y="2807208"/>
            <a:ext cx="4297680" cy="512064"/>
          </a:xfrm>
          <a:prstGeom prst="rect">
            <a:avLst/>
          </a:prstGeom>
          <a:solidFill>
            <a:srgbClr val="F5C518"/>
          </a:solidFill>
          <a:ln w="19050">
            <a:solidFill>
              <a:srgbClr val="F5C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2916936"/>
            <a:ext cx="4297680" cy="402336"/>
          </a:xfrm>
          <a:prstGeom prst="rect">
            <a:avLst/>
          </a:prstGeom>
          <a:noFill/>
        </p:spPr>
        <p:txBody>
          <a:bodyPr wrap="square">
            <a:spAutoFit/>
          </a:bodyPr>
          <a:lstStyle/>
          <a:p>
            <a:pPr algn="ctr"/>
            <a:r>
              <a:rPr sz="2100" b="1">
                <a:solidFill>
                  <a:srgbClr val="0D0D0D"/>
                </a:solidFill>
                <a:latin typeface="Barlow Condensed"/>
              </a:rPr>
              <a:t>STATE LEVEL</a:t>
            </a:r>
          </a:p>
        </p:txBody>
      </p:sp>
      <p:sp>
        <p:nvSpPr>
          <p:cNvPr id="15" name="Rectangle 14"/>
          <p:cNvSpPr/>
          <p:nvPr/>
        </p:nvSpPr>
        <p:spPr>
          <a:xfrm>
            <a:off x="5426964" y="3319272"/>
            <a:ext cx="27432" cy="82296"/>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40" y="3401568"/>
            <a:ext cx="4297680" cy="512064"/>
          </a:xfrm>
          <a:prstGeom prst="rect">
            <a:avLst/>
          </a:prstGeom>
          <a:solidFill>
            <a:srgbClr val="1A1A1A"/>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3511296"/>
            <a:ext cx="4297680" cy="402336"/>
          </a:xfrm>
          <a:prstGeom prst="rect">
            <a:avLst/>
          </a:prstGeom>
          <a:noFill/>
        </p:spPr>
        <p:txBody>
          <a:bodyPr wrap="square">
            <a:spAutoFit/>
          </a:bodyPr>
          <a:lstStyle/>
          <a:p>
            <a:pPr algn="ctr"/>
            <a:r>
              <a:rPr sz="2100" b="1">
                <a:solidFill>
                  <a:srgbClr val="F2F2F0"/>
                </a:solidFill>
                <a:latin typeface="Barlow Condensed"/>
              </a:rPr>
              <a:t>SELECT</a:t>
            </a:r>
          </a:p>
        </p:txBody>
      </p:sp>
      <p:sp>
        <p:nvSpPr>
          <p:cNvPr id="18" name="Rectangle 17"/>
          <p:cNvSpPr/>
          <p:nvPr/>
        </p:nvSpPr>
        <p:spPr>
          <a:xfrm>
            <a:off x="5426964" y="3913632"/>
            <a:ext cx="27432" cy="82296"/>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3995928"/>
            <a:ext cx="4297680" cy="512064"/>
          </a:xfrm>
          <a:prstGeom prst="rect">
            <a:avLst/>
          </a:prstGeom>
          <a:solidFill>
            <a:srgbClr val="1A1A1A"/>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4105656"/>
            <a:ext cx="4297680" cy="402336"/>
          </a:xfrm>
          <a:prstGeom prst="rect">
            <a:avLst/>
          </a:prstGeom>
          <a:noFill/>
        </p:spPr>
        <p:txBody>
          <a:bodyPr wrap="square">
            <a:spAutoFit/>
          </a:bodyPr>
          <a:lstStyle/>
          <a:p>
            <a:pPr algn="ctr"/>
            <a:r>
              <a:rPr sz="2100" b="1">
                <a:solidFill>
                  <a:srgbClr val="F2F2F0"/>
                </a:solidFill>
                <a:latin typeface="Barlow Condensed"/>
              </a:rPr>
              <a:t>ACADEMY</a:t>
            </a:r>
          </a:p>
        </p:txBody>
      </p:sp>
      <p:sp>
        <p:nvSpPr>
          <p:cNvPr id="21" name="Rectangle 20"/>
          <p:cNvSpPr/>
          <p:nvPr/>
        </p:nvSpPr>
        <p:spPr>
          <a:xfrm>
            <a:off x="5426964" y="4507992"/>
            <a:ext cx="27432" cy="82296"/>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91840" y="4590288"/>
            <a:ext cx="4297680" cy="512064"/>
          </a:xfrm>
          <a:prstGeom prst="rect">
            <a:avLst/>
          </a:prstGeom>
          <a:solidFill>
            <a:srgbClr val="1A1A1A"/>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4700016"/>
            <a:ext cx="4297680" cy="402336"/>
          </a:xfrm>
          <a:prstGeom prst="rect">
            <a:avLst/>
          </a:prstGeom>
          <a:noFill/>
        </p:spPr>
        <p:txBody>
          <a:bodyPr wrap="square">
            <a:spAutoFit/>
          </a:bodyPr>
          <a:lstStyle/>
          <a:p>
            <a:pPr algn="ctr"/>
            <a:r>
              <a:rPr sz="2100" b="1">
                <a:solidFill>
                  <a:srgbClr val="F2F2F0"/>
                </a:solidFill>
                <a:latin typeface="Barlow Condensed"/>
              </a:rPr>
              <a:t>RECREATIONAL</a:t>
            </a:r>
          </a:p>
        </p:txBody>
      </p:sp>
      <p:pic>
        <p:nvPicPr>
          <p:cNvPr id="24" name="Picture 23" descr="gm_p1.jpeg"/>
          <p:cNvPicPr>
            <a:picLocks noChangeAspect="1"/>
          </p:cNvPicPr>
          <p:nvPr/>
        </p:nvPicPr>
        <p:blipFill>
          <a:blip r:embed="rId2"/>
          <a:stretch>
            <a:fillRect/>
          </a:stretch>
        </p:blipFill>
        <p:spPr>
          <a:xfrm>
            <a:off x="8229600" y="987552"/>
            <a:ext cx="2011680" cy="5394960"/>
          </a:xfrm>
          <a:prstGeom prst="rect">
            <a:avLst/>
          </a:prstGeom>
        </p:spPr>
      </p:pic>
      <p:pic>
        <p:nvPicPr>
          <p:cNvPr id="25" name="Picture 24" descr="gm_p2.jpeg"/>
          <p:cNvPicPr>
            <a:picLocks noChangeAspect="1"/>
          </p:cNvPicPr>
          <p:nvPr/>
        </p:nvPicPr>
        <p:blipFill>
          <a:blip r:embed="rId3"/>
          <a:stretch>
            <a:fillRect/>
          </a:stretch>
        </p:blipFill>
        <p:spPr>
          <a:xfrm>
            <a:off x="10332720" y="987552"/>
            <a:ext cx="1463040" cy="5394960"/>
          </a:xfrm>
          <a:prstGeom prst="rect">
            <a:avLst/>
          </a:prstGeom>
        </p:spPr>
      </p:pic>
      <p:sp>
        <p:nvSpPr>
          <p:cNvPr id="26" name="TextBox 25"/>
          <p:cNvSpPr txBox="1"/>
          <p:nvPr/>
        </p:nvSpPr>
        <p:spPr>
          <a:xfrm>
            <a:off x="8229600" y="6492240"/>
            <a:ext cx="2651760" cy="256032"/>
          </a:xfrm>
          <a:prstGeom prst="rect">
            <a:avLst/>
          </a:prstGeom>
          <a:noFill/>
        </p:spPr>
        <p:txBody>
          <a:bodyPr wrap="square">
            <a:spAutoFit/>
          </a:bodyPr>
          <a:lstStyle/>
          <a:p>
            <a:pPr algn="ctr"/>
            <a:r>
              <a:rPr sz="800" b="0">
                <a:solidFill>
                  <a:srgbClr val="00D4E4"/>
                </a:solidFill>
                <a:latin typeface="Inter"/>
              </a:rPr>
              <a:t>OUR PLAYERS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HOMEGROWN TRAINING ENVIRONMENT</a:t>
            </a:r>
          </a:p>
        </p:txBody>
      </p:sp>
      <p:sp>
        <p:nvSpPr>
          <p:cNvPr id="4" name="Rectangle 3"/>
          <p:cNvSpPr/>
          <p:nvPr/>
        </p:nvSpPr>
        <p:spPr>
          <a:xfrm>
            <a:off x="457200" y="1024128"/>
            <a:ext cx="3636264" cy="5166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24128"/>
            <a:ext cx="3636264" cy="5669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15568"/>
            <a:ext cx="2286000" cy="402336"/>
          </a:xfrm>
          <a:prstGeom prst="rect">
            <a:avLst/>
          </a:prstGeom>
          <a:noFill/>
        </p:spPr>
        <p:txBody>
          <a:bodyPr wrap="square">
            <a:spAutoFit/>
          </a:bodyPr>
          <a:lstStyle/>
          <a:p>
            <a:pPr algn="l"/>
            <a:r>
              <a:rPr sz="2400" b="1">
                <a:solidFill>
                  <a:srgbClr val="0D0D0D"/>
                </a:solidFill>
                <a:latin typeface="Barlow Condensed"/>
              </a:rPr>
              <a:t>FALL</a:t>
            </a:r>
          </a:p>
        </p:txBody>
      </p:sp>
      <p:sp>
        <p:nvSpPr>
          <p:cNvPr id="7" name="TextBox 6"/>
          <p:cNvSpPr txBox="1"/>
          <p:nvPr/>
        </p:nvSpPr>
        <p:spPr>
          <a:xfrm>
            <a:off x="2904744" y="1207008"/>
            <a:ext cx="1097280" cy="256032"/>
          </a:xfrm>
          <a:prstGeom prst="rect">
            <a:avLst/>
          </a:prstGeom>
          <a:noFill/>
        </p:spPr>
        <p:txBody>
          <a:bodyPr wrap="square">
            <a:spAutoFit/>
          </a:bodyPr>
          <a:lstStyle/>
          <a:p>
            <a:pPr algn="r"/>
            <a:r>
              <a:rPr sz="900" b="0">
                <a:solidFill>
                  <a:srgbClr val="0D0D0D"/>
                </a:solidFill>
                <a:latin typeface="Inter"/>
              </a:rPr>
              <a:t>Aug – Nov</a:t>
            </a:r>
          </a:p>
        </p:txBody>
      </p:sp>
      <p:sp>
        <p:nvSpPr>
          <p:cNvPr id="8" name="Rectangle 7"/>
          <p:cNvSpPr/>
          <p:nvPr/>
        </p:nvSpPr>
        <p:spPr>
          <a:xfrm>
            <a:off x="594360" y="1664208"/>
            <a:ext cx="3361944" cy="274320"/>
          </a:xfrm>
          <a:prstGeom prst="rect">
            <a:avLst/>
          </a:prstGeom>
          <a:solidFill>
            <a:srgbClr val="1C1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64208"/>
            <a:ext cx="3361944" cy="274320"/>
          </a:xfrm>
          <a:prstGeom prst="rect">
            <a:avLst/>
          </a:prstGeom>
          <a:noFill/>
        </p:spPr>
        <p:txBody>
          <a:bodyPr wrap="square">
            <a:spAutoFit/>
          </a:bodyPr>
          <a:lstStyle/>
          <a:p>
            <a:pPr algn="ctr"/>
            <a:r>
              <a:rPr sz="1200" b="1">
                <a:solidFill>
                  <a:srgbClr val="F5C518"/>
                </a:solidFill>
                <a:latin typeface="Barlow Condensed"/>
              </a:rPr>
              <a:t>4 SESSIONS / WEEK</a:t>
            </a:r>
          </a:p>
        </p:txBody>
      </p:sp>
      <p:sp>
        <p:nvSpPr>
          <p:cNvPr id="10" name="TextBox 9"/>
          <p:cNvSpPr txBox="1"/>
          <p:nvPr/>
        </p:nvSpPr>
        <p:spPr>
          <a:xfrm>
            <a:off x="594360" y="2029968"/>
            <a:ext cx="3361944" cy="201168"/>
          </a:xfrm>
          <a:prstGeom prst="rect">
            <a:avLst/>
          </a:prstGeom>
          <a:noFill/>
        </p:spPr>
        <p:txBody>
          <a:bodyPr wrap="square">
            <a:spAutoFit/>
          </a:bodyPr>
          <a:lstStyle/>
          <a:p>
            <a:pPr algn="l"/>
            <a:r>
              <a:rPr sz="900" b="1">
                <a:solidFill>
                  <a:srgbClr val="00D4E4"/>
                </a:solidFill>
                <a:latin typeface="Inter"/>
              </a:rPr>
              <a:t>MONDAY</a:t>
            </a:r>
          </a:p>
        </p:txBody>
      </p:sp>
      <p:sp>
        <p:nvSpPr>
          <p:cNvPr id="11" name="TextBox 10"/>
          <p:cNvSpPr txBox="1"/>
          <p:nvPr/>
        </p:nvSpPr>
        <p:spPr>
          <a:xfrm>
            <a:off x="594360" y="2231136"/>
            <a:ext cx="3361944" cy="594360"/>
          </a:xfrm>
          <a:prstGeom prst="rect">
            <a:avLst/>
          </a:prstGeom>
          <a:noFill/>
        </p:spPr>
        <p:txBody>
          <a:bodyPr wrap="square">
            <a:spAutoFit/>
          </a:bodyPr>
          <a:lstStyle/>
          <a:p>
            <a:pPr algn="l"/>
            <a:r>
              <a:rPr sz="1150" b="0">
                <a:solidFill>
                  <a:srgbClr val="F2F2F0"/>
                </a:solidFill>
                <a:latin typeface="Inter"/>
              </a:rPr>
              <a:t>Recovery Day — technical/skill day (free play). Tactical Focus: Individual</a:t>
            </a:r>
          </a:p>
        </p:txBody>
      </p:sp>
      <p:sp>
        <p:nvSpPr>
          <p:cNvPr id="12" name="TextBox 11"/>
          <p:cNvSpPr txBox="1"/>
          <p:nvPr/>
        </p:nvSpPr>
        <p:spPr>
          <a:xfrm>
            <a:off x="594360" y="2889504"/>
            <a:ext cx="3361944" cy="201168"/>
          </a:xfrm>
          <a:prstGeom prst="rect">
            <a:avLst/>
          </a:prstGeom>
          <a:noFill/>
        </p:spPr>
        <p:txBody>
          <a:bodyPr wrap="square">
            <a:spAutoFit/>
          </a:bodyPr>
          <a:lstStyle/>
          <a:p>
            <a:pPr algn="l"/>
            <a:r>
              <a:rPr sz="900" b="1">
                <a:solidFill>
                  <a:srgbClr val="00D4E4"/>
                </a:solidFill>
                <a:latin typeface="Inter"/>
              </a:rPr>
              <a:t>TUESDAY / WEDNESDAY</a:t>
            </a:r>
          </a:p>
        </p:txBody>
      </p:sp>
      <p:sp>
        <p:nvSpPr>
          <p:cNvPr id="13" name="TextBox 12"/>
          <p:cNvSpPr txBox="1"/>
          <p:nvPr/>
        </p:nvSpPr>
        <p:spPr>
          <a:xfrm>
            <a:off x="594360" y="3090672"/>
            <a:ext cx="3361944" cy="594360"/>
          </a:xfrm>
          <a:prstGeom prst="rect">
            <a:avLst/>
          </a:prstGeom>
          <a:noFill/>
        </p:spPr>
        <p:txBody>
          <a:bodyPr wrap="square">
            <a:spAutoFit/>
          </a:bodyPr>
          <a:lstStyle/>
          <a:p>
            <a:pPr algn="l"/>
            <a:r>
              <a:rPr sz="1150" b="0">
                <a:solidFill>
                  <a:srgbClr val="F2F2F0"/>
                </a:solidFill>
                <a:latin typeface="Inter"/>
              </a:rPr>
              <a:t>Tactical Focus: Group / Team</a:t>
            </a:r>
          </a:p>
        </p:txBody>
      </p:sp>
      <p:sp>
        <p:nvSpPr>
          <p:cNvPr id="14" name="TextBox 13"/>
          <p:cNvSpPr txBox="1"/>
          <p:nvPr/>
        </p:nvSpPr>
        <p:spPr>
          <a:xfrm>
            <a:off x="594360" y="3749040"/>
            <a:ext cx="3361944" cy="201168"/>
          </a:xfrm>
          <a:prstGeom prst="rect">
            <a:avLst/>
          </a:prstGeom>
          <a:noFill/>
        </p:spPr>
        <p:txBody>
          <a:bodyPr wrap="square">
            <a:spAutoFit/>
          </a:bodyPr>
          <a:lstStyle/>
          <a:p>
            <a:pPr algn="l"/>
            <a:r>
              <a:rPr sz="900" b="1">
                <a:solidFill>
                  <a:srgbClr val="00D4E4"/>
                </a:solidFill>
                <a:latin typeface="Inter"/>
              </a:rPr>
              <a:t>THURSDAY</a:t>
            </a:r>
          </a:p>
        </p:txBody>
      </p:sp>
      <p:sp>
        <p:nvSpPr>
          <p:cNvPr id="15" name="TextBox 14"/>
          <p:cNvSpPr txBox="1"/>
          <p:nvPr/>
        </p:nvSpPr>
        <p:spPr>
          <a:xfrm>
            <a:off x="594360" y="3950208"/>
            <a:ext cx="3361944" cy="594360"/>
          </a:xfrm>
          <a:prstGeom prst="rect">
            <a:avLst/>
          </a:prstGeom>
          <a:noFill/>
        </p:spPr>
        <p:txBody>
          <a:bodyPr wrap="square">
            <a:spAutoFit/>
          </a:bodyPr>
          <a:lstStyle/>
          <a:p>
            <a:pPr algn="l"/>
            <a:r>
              <a:rPr sz="1150" b="0">
                <a:solidFill>
                  <a:srgbClr val="F2F2F0"/>
                </a:solidFill>
                <a:latin typeface="Inter"/>
              </a:rPr>
              <a:t>Organizational Sessions — set pieces/plays, patterns, detail oriented, Game Preparation</a:t>
            </a:r>
          </a:p>
        </p:txBody>
      </p:sp>
      <p:sp>
        <p:nvSpPr>
          <p:cNvPr id="16" name="TextBox 15"/>
          <p:cNvSpPr txBox="1"/>
          <p:nvPr/>
        </p:nvSpPr>
        <p:spPr>
          <a:xfrm>
            <a:off x="594360" y="4608576"/>
            <a:ext cx="3361944" cy="201168"/>
          </a:xfrm>
          <a:prstGeom prst="rect">
            <a:avLst/>
          </a:prstGeom>
          <a:noFill/>
        </p:spPr>
        <p:txBody>
          <a:bodyPr wrap="square">
            <a:spAutoFit/>
          </a:bodyPr>
          <a:lstStyle/>
          <a:p>
            <a:pPr algn="l"/>
            <a:r>
              <a:rPr sz="900" b="1">
                <a:solidFill>
                  <a:srgbClr val="00D4E4"/>
                </a:solidFill>
                <a:latin typeface="Inter"/>
              </a:rPr>
              <a:t>LOCATION</a:t>
            </a:r>
          </a:p>
        </p:txBody>
      </p:sp>
      <p:sp>
        <p:nvSpPr>
          <p:cNvPr id="17" name="TextBox 16"/>
          <p:cNvSpPr txBox="1"/>
          <p:nvPr/>
        </p:nvSpPr>
        <p:spPr>
          <a:xfrm>
            <a:off x="594360" y="4809744"/>
            <a:ext cx="3361944" cy="594360"/>
          </a:xfrm>
          <a:prstGeom prst="rect">
            <a:avLst/>
          </a:prstGeom>
          <a:noFill/>
        </p:spPr>
        <p:txBody>
          <a:bodyPr wrap="square">
            <a:spAutoFit/>
          </a:bodyPr>
          <a:lstStyle/>
          <a:p>
            <a:pPr algn="l"/>
            <a:r>
              <a:rPr sz="1150" b="0">
                <a:solidFill>
                  <a:srgbClr val="F2F2F0"/>
                </a:solidFill>
                <a:latin typeface="Inter"/>
              </a:rPr>
              <a:t>Waukesha and/or Franklin, WI</a:t>
            </a:r>
          </a:p>
        </p:txBody>
      </p:sp>
      <p:sp>
        <p:nvSpPr>
          <p:cNvPr id="18" name="Rectangle 17"/>
          <p:cNvSpPr/>
          <p:nvPr/>
        </p:nvSpPr>
        <p:spPr>
          <a:xfrm>
            <a:off x="4276344" y="1024128"/>
            <a:ext cx="3636264" cy="5166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76344" y="1024128"/>
            <a:ext cx="3636264" cy="5669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13504" y="1115568"/>
            <a:ext cx="2286000" cy="402336"/>
          </a:xfrm>
          <a:prstGeom prst="rect">
            <a:avLst/>
          </a:prstGeom>
          <a:noFill/>
        </p:spPr>
        <p:txBody>
          <a:bodyPr wrap="square">
            <a:spAutoFit/>
          </a:bodyPr>
          <a:lstStyle/>
          <a:p>
            <a:pPr algn="l"/>
            <a:r>
              <a:rPr sz="2400" b="1">
                <a:solidFill>
                  <a:srgbClr val="0D0D0D"/>
                </a:solidFill>
                <a:latin typeface="Barlow Condensed"/>
              </a:rPr>
              <a:t>WINTER</a:t>
            </a:r>
          </a:p>
        </p:txBody>
      </p:sp>
      <p:sp>
        <p:nvSpPr>
          <p:cNvPr id="21" name="TextBox 20"/>
          <p:cNvSpPr txBox="1"/>
          <p:nvPr/>
        </p:nvSpPr>
        <p:spPr>
          <a:xfrm>
            <a:off x="6723888" y="1207008"/>
            <a:ext cx="1097280" cy="256032"/>
          </a:xfrm>
          <a:prstGeom prst="rect">
            <a:avLst/>
          </a:prstGeom>
          <a:noFill/>
        </p:spPr>
        <p:txBody>
          <a:bodyPr wrap="square">
            <a:spAutoFit/>
          </a:bodyPr>
          <a:lstStyle/>
          <a:p>
            <a:pPr algn="r"/>
            <a:r>
              <a:rPr sz="900" b="0">
                <a:solidFill>
                  <a:srgbClr val="0D0D0D"/>
                </a:solidFill>
                <a:latin typeface="Inter"/>
              </a:rPr>
              <a:t>Dec – Mar</a:t>
            </a:r>
          </a:p>
        </p:txBody>
      </p:sp>
      <p:sp>
        <p:nvSpPr>
          <p:cNvPr id="22" name="Rectangle 21"/>
          <p:cNvSpPr/>
          <p:nvPr/>
        </p:nvSpPr>
        <p:spPr>
          <a:xfrm>
            <a:off x="4413504" y="1664208"/>
            <a:ext cx="3361944" cy="274320"/>
          </a:xfrm>
          <a:prstGeom prst="rect">
            <a:avLst/>
          </a:prstGeom>
          <a:solidFill>
            <a:srgbClr val="1C1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13504" y="1664208"/>
            <a:ext cx="3361944" cy="274320"/>
          </a:xfrm>
          <a:prstGeom prst="rect">
            <a:avLst/>
          </a:prstGeom>
          <a:noFill/>
        </p:spPr>
        <p:txBody>
          <a:bodyPr wrap="square">
            <a:spAutoFit/>
          </a:bodyPr>
          <a:lstStyle/>
          <a:p>
            <a:pPr algn="ctr"/>
            <a:r>
              <a:rPr sz="1200" b="1">
                <a:solidFill>
                  <a:srgbClr val="F5C518"/>
                </a:solidFill>
                <a:latin typeface="Barlow Condensed"/>
              </a:rPr>
              <a:t>2–3 SESSIONS / WEEK</a:t>
            </a:r>
          </a:p>
        </p:txBody>
      </p:sp>
      <p:sp>
        <p:nvSpPr>
          <p:cNvPr id="24" name="TextBox 23"/>
          <p:cNvSpPr txBox="1"/>
          <p:nvPr/>
        </p:nvSpPr>
        <p:spPr>
          <a:xfrm>
            <a:off x="4413504" y="2029968"/>
            <a:ext cx="3361944" cy="201168"/>
          </a:xfrm>
          <a:prstGeom prst="rect">
            <a:avLst/>
          </a:prstGeom>
          <a:noFill/>
        </p:spPr>
        <p:txBody>
          <a:bodyPr wrap="square">
            <a:spAutoFit/>
          </a:bodyPr>
          <a:lstStyle/>
          <a:p>
            <a:pPr algn="l"/>
            <a:r>
              <a:rPr sz="900" b="1">
                <a:solidFill>
                  <a:srgbClr val="00D4E4"/>
                </a:solidFill>
                <a:latin typeface="Inter"/>
              </a:rPr>
              <a:t>U13–U16 FOCUS</a:t>
            </a:r>
          </a:p>
        </p:txBody>
      </p:sp>
      <p:sp>
        <p:nvSpPr>
          <p:cNvPr id="25" name="TextBox 24"/>
          <p:cNvSpPr txBox="1"/>
          <p:nvPr/>
        </p:nvSpPr>
        <p:spPr>
          <a:xfrm>
            <a:off x="4413504" y="2231136"/>
            <a:ext cx="3361944" cy="594360"/>
          </a:xfrm>
          <a:prstGeom prst="rect">
            <a:avLst/>
          </a:prstGeom>
          <a:noFill/>
        </p:spPr>
        <p:txBody>
          <a:bodyPr wrap="square">
            <a:spAutoFit/>
          </a:bodyPr>
          <a:lstStyle/>
          <a:p>
            <a:pPr algn="l"/>
            <a:r>
              <a:rPr sz="1150" b="0">
                <a:solidFill>
                  <a:srgbClr val="F2F2F0"/>
                </a:solidFill>
                <a:latin typeface="Inter"/>
              </a:rPr>
              <a:t>Futsal Training 1× per week — focus on technical and tactical benefits</a:t>
            </a:r>
          </a:p>
        </p:txBody>
      </p:sp>
      <p:sp>
        <p:nvSpPr>
          <p:cNvPr id="26" name="TextBox 25"/>
          <p:cNvSpPr txBox="1"/>
          <p:nvPr/>
        </p:nvSpPr>
        <p:spPr>
          <a:xfrm>
            <a:off x="4413504" y="2889504"/>
            <a:ext cx="3361944" cy="201168"/>
          </a:xfrm>
          <a:prstGeom prst="rect">
            <a:avLst/>
          </a:prstGeom>
          <a:noFill/>
        </p:spPr>
        <p:txBody>
          <a:bodyPr wrap="square">
            <a:spAutoFit/>
          </a:bodyPr>
          <a:lstStyle/>
          <a:p>
            <a:pPr algn="l"/>
            <a:r>
              <a:rPr sz="900" b="1">
                <a:solidFill>
                  <a:srgbClr val="00D4E4"/>
                </a:solidFill>
                <a:latin typeface="Inter"/>
              </a:rPr>
              <a:t>OPTIONAL PROGRAM</a:t>
            </a:r>
          </a:p>
        </p:txBody>
      </p:sp>
      <p:sp>
        <p:nvSpPr>
          <p:cNvPr id="27" name="TextBox 26"/>
          <p:cNvSpPr txBox="1"/>
          <p:nvPr/>
        </p:nvSpPr>
        <p:spPr>
          <a:xfrm>
            <a:off x="4413504" y="3090672"/>
            <a:ext cx="3361944" cy="594360"/>
          </a:xfrm>
          <a:prstGeom prst="rect">
            <a:avLst/>
          </a:prstGeom>
          <a:noFill/>
        </p:spPr>
        <p:txBody>
          <a:bodyPr wrap="square">
            <a:spAutoFit/>
          </a:bodyPr>
          <a:lstStyle/>
          <a:p>
            <a:pPr algn="l"/>
            <a:r>
              <a:rPr sz="1150" b="0">
                <a:solidFill>
                  <a:srgbClr val="F2F2F0"/>
                </a:solidFill>
                <a:latin typeface="Inter"/>
              </a:rPr>
              <a:t>Speed / Agility / Strength Program</a:t>
            </a:r>
          </a:p>
        </p:txBody>
      </p:sp>
      <p:sp>
        <p:nvSpPr>
          <p:cNvPr id="28" name="TextBox 27"/>
          <p:cNvSpPr txBox="1"/>
          <p:nvPr/>
        </p:nvSpPr>
        <p:spPr>
          <a:xfrm>
            <a:off x="4413504" y="3749040"/>
            <a:ext cx="3361944" cy="201168"/>
          </a:xfrm>
          <a:prstGeom prst="rect">
            <a:avLst/>
          </a:prstGeom>
          <a:noFill/>
        </p:spPr>
        <p:txBody>
          <a:bodyPr wrap="square">
            <a:spAutoFit/>
          </a:bodyPr>
          <a:lstStyle/>
          <a:p>
            <a:pPr algn="l"/>
            <a:r>
              <a:rPr sz="900" b="1">
                <a:solidFill>
                  <a:srgbClr val="00D4E4"/>
                </a:solidFill>
                <a:latin typeface="Inter"/>
              </a:rPr>
              <a:t>LOCATION</a:t>
            </a:r>
          </a:p>
        </p:txBody>
      </p:sp>
      <p:sp>
        <p:nvSpPr>
          <p:cNvPr id="29" name="TextBox 28"/>
          <p:cNvSpPr txBox="1"/>
          <p:nvPr/>
        </p:nvSpPr>
        <p:spPr>
          <a:xfrm>
            <a:off x="4413504" y="3950208"/>
            <a:ext cx="3361944" cy="594360"/>
          </a:xfrm>
          <a:prstGeom prst="rect">
            <a:avLst/>
          </a:prstGeom>
          <a:noFill/>
        </p:spPr>
        <p:txBody>
          <a:bodyPr wrap="square">
            <a:spAutoFit/>
          </a:bodyPr>
          <a:lstStyle/>
          <a:p>
            <a:pPr algn="l"/>
            <a:r>
              <a:rPr sz="1150" b="0">
                <a:solidFill>
                  <a:srgbClr val="F2F2F0"/>
                </a:solidFill>
                <a:latin typeface="Inter"/>
              </a:rPr>
              <a:t>MOSH (Franklin) and New Berlin, WI</a:t>
            </a:r>
          </a:p>
        </p:txBody>
      </p:sp>
      <p:sp>
        <p:nvSpPr>
          <p:cNvPr id="30" name="Rectangle 29"/>
          <p:cNvSpPr/>
          <p:nvPr/>
        </p:nvSpPr>
        <p:spPr>
          <a:xfrm>
            <a:off x="8095488" y="1024128"/>
            <a:ext cx="3636264" cy="51663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5488" y="1024128"/>
            <a:ext cx="3636264" cy="5669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1115568"/>
            <a:ext cx="2286000" cy="402336"/>
          </a:xfrm>
          <a:prstGeom prst="rect">
            <a:avLst/>
          </a:prstGeom>
          <a:noFill/>
        </p:spPr>
        <p:txBody>
          <a:bodyPr wrap="square">
            <a:spAutoFit/>
          </a:bodyPr>
          <a:lstStyle/>
          <a:p>
            <a:pPr algn="l"/>
            <a:r>
              <a:rPr sz="2400" b="1">
                <a:solidFill>
                  <a:srgbClr val="0D0D0D"/>
                </a:solidFill>
                <a:latin typeface="Barlow Condensed"/>
              </a:rPr>
              <a:t>SPRING</a:t>
            </a:r>
          </a:p>
        </p:txBody>
      </p:sp>
      <p:sp>
        <p:nvSpPr>
          <p:cNvPr id="33" name="TextBox 32"/>
          <p:cNvSpPr txBox="1"/>
          <p:nvPr/>
        </p:nvSpPr>
        <p:spPr>
          <a:xfrm>
            <a:off x="10543032" y="1207008"/>
            <a:ext cx="1097280" cy="256032"/>
          </a:xfrm>
          <a:prstGeom prst="rect">
            <a:avLst/>
          </a:prstGeom>
          <a:noFill/>
        </p:spPr>
        <p:txBody>
          <a:bodyPr wrap="square">
            <a:spAutoFit/>
          </a:bodyPr>
          <a:lstStyle/>
          <a:p>
            <a:pPr algn="r"/>
            <a:r>
              <a:rPr sz="900" b="0">
                <a:solidFill>
                  <a:srgbClr val="0D0D0D"/>
                </a:solidFill>
                <a:latin typeface="Inter"/>
              </a:rPr>
              <a:t>Apr – Jun</a:t>
            </a:r>
          </a:p>
        </p:txBody>
      </p:sp>
      <p:sp>
        <p:nvSpPr>
          <p:cNvPr id="34" name="Rectangle 33"/>
          <p:cNvSpPr/>
          <p:nvPr/>
        </p:nvSpPr>
        <p:spPr>
          <a:xfrm>
            <a:off x="8232648" y="1664208"/>
            <a:ext cx="3361944" cy="274320"/>
          </a:xfrm>
          <a:prstGeom prst="rect">
            <a:avLst/>
          </a:prstGeom>
          <a:solidFill>
            <a:srgbClr val="1C1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32648" y="1664208"/>
            <a:ext cx="3361944" cy="274320"/>
          </a:xfrm>
          <a:prstGeom prst="rect">
            <a:avLst/>
          </a:prstGeom>
          <a:noFill/>
        </p:spPr>
        <p:txBody>
          <a:bodyPr wrap="square">
            <a:spAutoFit/>
          </a:bodyPr>
          <a:lstStyle/>
          <a:p>
            <a:pPr algn="ctr"/>
            <a:r>
              <a:rPr sz="1200" b="1">
                <a:solidFill>
                  <a:srgbClr val="F5C518"/>
                </a:solidFill>
                <a:latin typeface="Barlow Condensed"/>
              </a:rPr>
              <a:t>4 SESSIONS / WEEK</a:t>
            </a:r>
          </a:p>
        </p:txBody>
      </p:sp>
      <p:sp>
        <p:nvSpPr>
          <p:cNvPr id="36" name="TextBox 35"/>
          <p:cNvSpPr txBox="1"/>
          <p:nvPr/>
        </p:nvSpPr>
        <p:spPr>
          <a:xfrm>
            <a:off x="8232648" y="2029968"/>
            <a:ext cx="3361944" cy="201168"/>
          </a:xfrm>
          <a:prstGeom prst="rect">
            <a:avLst/>
          </a:prstGeom>
          <a:noFill/>
        </p:spPr>
        <p:txBody>
          <a:bodyPr wrap="square">
            <a:spAutoFit/>
          </a:bodyPr>
          <a:lstStyle/>
          <a:p>
            <a:pPr algn="l"/>
            <a:r>
              <a:rPr sz="900" b="1">
                <a:solidFill>
                  <a:srgbClr val="00D4E4"/>
                </a:solidFill>
                <a:latin typeface="Inter"/>
              </a:rPr>
              <a:t>MONDAY</a:t>
            </a:r>
          </a:p>
        </p:txBody>
      </p:sp>
      <p:sp>
        <p:nvSpPr>
          <p:cNvPr id="37" name="TextBox 36"/>
          <p:cNvSpPr txBox="1"/>
          <p:nvPr/>
        </p:nvSpPr>
        <p:spPr>
          <a:xfrm>
            <a:off x="8232648" y="2231136"/>
            <a:ext cx="3361944" cy="594360"/>
          </a:xfrm>
          <a:prstGeom prst="rect">
            <a:avLst/>
          </a:prstGeom>
          <a:noFill/>
        </p:spPr>
        <p:txBody>
          <a:bodyPr wrap="square">
            <a:spAutoFit/>
          </a:bodyPr>
          <a:lstStyle/>
          <a:p>
            <a:pPr algn="l"/>
            <a:r>
              <a:rPr sz="1150" b="0">
                <a:solidFill>
                  <a:srgbClr val="F2F2F0"/>
                </a:solidFill>
                <a:latin typeface="Inter"/>
              </a:rPr>
              <a:t>Recovery Day — technical/skill day (free play). Tactical Focus: Individual</a:t>
            </a:r>
          </a:p>
        </p:txBody>
      </p:sp>
      <p:sp>
        <p:nvSpPr>
          <p:cNvPr id="38" name="TextBox 37"/>
          <p:cNvSpPr txBox="1"/>
          <p:nvPr/>
        </p:nvSpPr>
        <p:spPr>
          <a:xfrm>
            <a:off x="8232648" y="2889504"/>
            <a:ext cx="3361944" cy="201168"/>
          </a:xfrm>
          <a:prstGeom prst="rect">
            <a:avLst/>
          </a:prstGeom>
          <a:noFill/>
        </p:spPr>
        <p:txBody>
          <a:bodyPr wrap="square">
            <a:spAutoFit/>
          </a:bodyPr>
          <a:lstStyle/>
          <a:p>
            <a:pPr algn="l"/>
            <a:r>
              <a:rPr sz="900" b="1">
                <a:solidFill>
                  <a:srgbClr val="00D4E4"/>
                </a:solidFill>
                <a:latin typeface="Inter"/>
              </a:rPr>
              <a:t>TUESDAY / WEDNESDAY</a:t>
            </a:r>
          </a:p>
        </p:txBody>
      </p:sp>
      <p:sp>
        <p:nvSpPr>
          <p:cNvPr id="39" name="TextBox 38"/>
          <p:cNvSpPr txBox="1"/>
          <p:nvPr/>
        </p:nvSpPr>
        <p:spPr>
          <a:xfrm>
            <a:off x="8232648" y="3090672"/>
            <a:ext cx="3361944" cy="594360"/>
          </a:xfrm>
          <a:prstGeom prst="rect">
            <a:avLst/>
          </a:prstGeom>
          <a:noFill/>
        </p:spPr>
        <p:txBody>
          <a:bodyPr wrap="square">
            <a:spAutoFit/>
          </a:bodyPr>
          <a:lstStyle/>
          <a:p>
            <a:pPr algn="l"/>
            <a:r>
              <a:rPr sz="1150" b="0">
                <a:solidFill>
                  <a:srgbClr val="F2F2F0"/>
                </a:solidFill>
                <a:latin typeface="Inter"/>
              </a:rPr>
              <a:t>Tactical Focus: Group / Team</a:t>
            </a:r>
          </a:p>
        </p:txBody>
      </p:sp>
      <p:sp>
        <p:nvSpPr>
          <p:cNvPr id="40" name="TextBox 39"/>
          <p:cNvSpPr txBox="1"/>
          <p:nvPr/>
        </p:nvSpPr>
        <p:spPr>
          <a:xfrm>
            <a:off x="8232648" y="3749040"/>
            <a:ext cx="3361944" cy="201168"/>
          </a:xfrm>
          <a:prstGeom prst="rect">
            <a:avLst/>
          </a:prstGeom>
          <a:noFill/>
        </p:spPr>
        <p:txBody>
          <a:bodyPr wrap="square">
            <a:spAutoFit/>
          </a:bodyPr>
          <a:lstStyle/>
          <a:p>
            <a:pPr algn="l"/>
            <a:r>
              <a:rPr sz="900" b="1">
                <a:solidFill>
                  <a:srgbClr val="00D4E4"/>
                </a:solidFill>
                <a:latin typeface="Inter"/>
              </a:rPr>
              <a:t>THURSDAY</a:t>
            </a:r>
          </a:p>
        </p:txBody>
      </p:sp>
      <p:sp>
        <p:nvSpPr>
          <p:cNvPr id="41" name="TextBox 40"/>
          <p:cNvSpPr txBox="1"/>
          <p:nvPr/>
        </p:nvSpPr>
        <p:spPr>
          <a:xfrm>
            <a:off x="8232648" y="3950208"/>
            <a:ext cx="3361944" cy="594360"/>
          </a:xfrm>
          <a:prstGeom prst="rect">
            <a:avLst/>
          </a:prstGeom>
          <a:noFill/>
        </p:spPr>
        <p:txBody>
          <a:bodyPr wrap="square">
            <a:spAutoFit/>
          </a:bodyPr>
          <a:lstStyle/>
          <a:p>
            <a:pPr algn="l"/>
            <a:r>
              <a:rPr sz="1150" b="0">
                <a:solidFill>
                  <a:srgbClr val="F2F2F0"/>
                </a:solidFill>
                <a:latin typeface="Inter"/>
              </a:rPr>
              <a:t>Organizational Sessions — set pieces/plays, patterns, detail oriented, Game Preparation</a:t>
            </a:r>
          </a:p>
        </p:txBody>
      </p:sp>
      <p:sp>
        <p:nvSpPr>
          <p:cNvPr id="42" name="TextBox 41"/>
          <p:cNvSpPr txBox="1"/>
          <p:nvPr/>
        </p:nvSpPr>
        <p:spPr>
          <a:xfrm>
            <a:off x="8232648" y="4608576"/>
            <a:ext cx="3361944" cy="201168"/>
          </a:xfrm>
          <a:prstGeom prst="rect">
            <a:avLst/>
          </a:prstGeom>
          <a:noFill/>
        </p:spPr>
        <p:txBody>
          <a:bodyPr wrap="square">
            <a:spAutoFit/>
          </a:bodyPr>
          <a:lstStyle/>
          <a:p>
            <a:pPr algn="l"/>
            <a:r>
              <a:rPr sz="900" b="1">
                <a:solidFill>
                  <a:srgbClr val="00D4E4"/>
                </a:solidFill>
                <a:latin typeface="Inter"/>
              </a:rPr>
              <a:t>LOCATION</a:t>
            </a:r>
          </a:p>
        </p:txBody>
      </p:sp>
      <p:sp>
        <p:nvSpPr>
          <p:cNvPr id="43" name="TextBox 42"/>
          <p:cNvSpPr txBox="1"/>
          <p:nvPr/>
        </p:nvSpPr>
        <p:spPr>
          <a:xfrm>
            <a:off x="8232648" y="4809744"/>
            <a:ext cx="3361944" cy="594360"/>
          </a:xfrm>
          <a:prstGeom prst="rect">
            <a:avLst/>
          </a:prstGeom>
          <a:noFill/>
        </p:spPr>
        <p:txBody>
          <a:bodyPr wrap="square">
            <a:spAutoFit/>
          </a:bodyPr>
          <a:lstStyle/>
          <a:p>
            <a:pPr algn="l"/>
            <a:r>
              <a:rPr sz="1150" b="0">
                <a:solidFill>
                  <a:srgbClr val="F2F2F0"/>
                </a:solidFill>
                <a:latin typeface="Inter"/>
              </a:rPr>
              <a:t>Waukesha and/or Franklin, WI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SC WAVE DNA — FOUR PHASES OF PLAY</a:t>
            </a:r>
          </a:p>
        </p:txBody>
      </p:sp>
      <p:sp>
        <p:nvSpPr>
          <p:cNvPr id="4" name="Rectangle 3"/>
          <p:cNvSpPr/>
          <p:nvPr/>
        </p:nvSpPr>
        <p:spPr>
          <a:xfrm>
            <a:off x="457200" y="1024128"/>
            <a:ext cx="2722626" cy="5120640"/>
          </a:xfrm>
          <a:prstGeom prst="rect">
            <a:avLst/>
          </a:prstGeom>
          <a:solidFill>
            <a:srgbClr val="1A1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24128"/>
            <a:ext cx="2722626"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43000"/>
            <a:ext cx="2448306" cy="256032"/>
          </a:xfrm>
          <a:prstGeom prst="rect">
            <a:avLst/>
          </a:prstGeom>
          <a:noFill/>
        </p:spPr>
        <p:txBody>
          <a:bodyPr wrap="square">
            <a:spAutoFit/>
          </a:bodyPr>
          <a:lstStyle/>
          <a:p>
            <a:pPr algn="l"/>
            <a:r>
              <a:rPr sz="900" b="1">
                <a:solidFill>
                  <a:srgbClr val="F5C518"/>
                </a:solidFill>
                <a:latin typeface="Inter"/>
              </a:rPr>
              <a:t>PHASE 1</a:t>
            </a:r>
          </a:p>
        </p:txBody>
      </p:sp>
      <p:sp>
        <p:nvSpPr>
          <p:cNvPr id="7" name="TextBox 6"/>
          <p:cNvSpPr txBox="1"/>
          <p:nvPr/>
        </p:nvSpPr>
        <p:spPr>
          <a:xfrm>
            <a:off x="594360" y="1408176"/>
            <a:ext cx="2448306" cy="731520"/>
          </a:xfrm>
          <a:prstGeom prst="rect">
            <a:avLst/>
          </a:prstGeom>
          <a:noFill/>
        </p:spPr>
        <p:txBody>
          <a:bodyPr wrap="square">
            <a:spAutoFit/>
          </a:bodyPr>
          <a:lstStyle/>
          <a:p>
            <a:pPr algn="l"/>
            <a:r>
              <a:rPr sz="2200" b="1">
                <a:solidFill>
                  <a:srgbClr val="F5C518"/>
                </a:solidFill>
                <a:latin typeface="Barlow Condensed"/>
              </a:rPr>
              <a:t>ATTACKING</a:t>
            </a:r>
          </a:p>
        </p:txBody>
      </p:sp>
      <p:sp>
        <p:nvSpPr>
          <p:cNvPr id="8" name="TextBox 7"/>
          <p:cNvSpPr txBox="1"/>
          <p:nvPr/>
        </p:nvSpPr>
        <p:spPr>
          <a:xfrm>
            <a:off x="594360" y="2194560"/>
            <a:ext cx="2448306" cy="3822192"/>
          </a:xfrm>
          <a:prstGeom prst="rect">
            <a:avLst/>
          </a:prstGeom>
          <a:noFill/>
        </p:spPr>
        <p:txBody>
          <a:bodyPr wrap="square">
            <a:spAutoFit/>
          </a:bodyPr>
          <a:lstStyle/>
          <a:p>
            <a:pPr algn="l"/>
            <a:r>
              <a:rPr sz="1300" b="0">
                <a:solidFill>
                  <a:srgbClr val="F2F2F0"/>
                </a:solidFill>
                <a:latin typeface="Inter"/>
              </a:rPr>
              <a:t>Proactive and objective ball possession utilizing our positional play principles to create space and attack the opponent's goal.</a:t>
            </a:r>
          </a:p>
        </p:txBody>
      </p:sp>
      <p:sp>
        <p:nvSpPr>
          <p:cNvPr id="9" name="Rectangle 8"/>
          <p:cNvSpPr/>
          <p:nvPr/>
        </p:nvSpPr>
        <p:spPr>
          <a:xfrm>
            <a:off x="3307842" y="1024128"/>
            <a:ext cx="2722626" cy="5120640"/>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07842" y="1024128"/>
            <a:ext cx="2722626" cy="73152"/>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5002" y="1143000"/>
            <a:ext cx="2448306" cy="256032"/>
          </a:xfrm>
          <a:prstGeom prst="rect">
            <a:avLst/>
          </a:prstGeom>
          <a:noFill/>
        </p:spPr>
        <p:txBody>
          <a:bodyPr wrap="square">
            <a:spAutoFit/>
          </a:bodyPr>
          <a:lstStyle/>
          <a:p>
            <a:pPr algn="l"/>
            <a:r>
              <a:rPr sz="900" b="1">
                <a:solidFill>
                  <a:srgbClr val="FF8C42"/>
                </a:solidFill>
                <a:latin typeface="Inter"/>
              </a:rPr>
              <a:t>PHASE 2</a:t>
            </a:r>
          </a:p>
        </p:txBody>
      </p:sp>
      <p:sp>
        <p:nvSpPr>
          <p:cNvPr id="12" name="TextBox 11"/>
          <p:cNvSpPr txBox="1"/>
          <p:nvPr/>
        </p:nvSpPr>
        <p:spPr>
          <a:xfrm>
            <a:off x="3445002" y="1408176"/>
            <a:ext cx="2448306" cy="731520"/>
          </a:xfrm>
          <a:prstGeom prst="rect">
            <a:avLst/>
          </a:prstGeom>
          <a:noFill/>
        </p:spPr>
        <p:txBody>
          <a:bodyPr wrap="square">
            <a:spAutoFit/>
          </a:bodyPr>
          <a:lstStyle/>
          <a:p>
            <a:pPr algn="l"/>
            <a:r>
              <a:rPr sz="2200" b="1">
                <a:solidFill>
                  <a:srgbClr val="FF8C42"/>
                </a:solidFill>
                <a:latin typeface="Barlow Condensed"/>
              </a:rPr>
              <a:t>ATTACKING → DEFENDING</a:t>
            </a:r>
          </a:p>
        </p:txBody>
      </p:sp>
      <p:sp>
        <p:nvSpPr>
          <p:cNvPr id="13" name="TextBox 12"/>
          <p:cNvSpPr txBox="1"/>
          <p:nvPr/>
        </p:nvSpPr>
        <p:spPr>
          <a:xfrm>
            <a:off x="3445002" y="2194560"/>
            <a:ext cx="2448306" cy="3822192"/>
          </a:xfrm>
          <a:prstGeom prst="rect">
            <a:avLst/>
          </a:prstGeom>
          <a:noFill/>
        </p:spPr>
        <p:txBody>
          <a:bodyPr wrap="square">
            <a:spAutoFit/>
          </a:bodyPr>
          <a:lstStyle/>
          <a:p>
            <a:pPr algn="l"/>
            <a:r>
              <a:rPr sz="1300" b="0">
                <a:solidFill>
                  <a:srgbClr val="F2F2F0"/>
                </a:solidFill>
                <a:latin typeface="Inter"/>
              </a:rPr>
              <a:t>When losing possession, we seek to react quickly, in an organized manner, immediately to recover the ball or protect our goal.</a:t>
            </a:r>
          </a:p>
        </p:txBody>
      </p:sp>
      <p:sp>
        <p:nvSpPr>
          <p:cNvPr id="14" name="Rectangle 13"/>
          <p:cNvSpPr/>
          <p:nvPr/>
        </p:nvSpPr>
        <p:spPr>
          <a:xfrm>
            <a:off x="6158484" y="1024128"/>
            <a:ext cx="2722626" cy="5120640"/>
          </a:xfrm>
          <a:prstGeom prst="rect">
            <a:avLst/>
          </a:prstGeom>
          <a:solidFill>
            <a:srgbClr val="00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8484" y="1024128"/>
            <a:ext cx="2722626" cy="73152"/>
          </a:xfrm>
          <a:prstGeom prst="rect">
            <a:avLst/>
          </a:prstGeom>
          <a:solidFill>
            <a:srgbClr val="00D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5644" y="1143000"/>
            <a:ext cx="2448306" cy="256032"/>
          </a:xfrm>
          <a:prstGeom prst="rect">
            <a:avLst/>
          </a:prstGeom>
          <a:noFill/>
        </p:spPr>
        <p:txBody>
          <a:bodyPr wrap="square">
            <a:spAutoFit/>
          </a:bodyPr>
          <a:lstStyle/>
          <a:p>
            <a:pPr algn="l"/>
            <a:r>
              <a:rPr sz="900" b="1">
                <a:solidFill>
                  <a:srgbClr val="00D4E4"/>
                </a:solidFill>
                <a:latin typeface="Inter"/>
              </a:rPr>
              <a:t>PHASE 3</a:t>
            </a:r>
          </a:p>
        </p:txBody>
      </p:sp>
      <p:sp>
        <p:nvSpPr>
          <p:cNvPr id="17" name="TextBox 16"/>
          <p:cNvSpPr txBox="1"/>
          <p:nvPr/>
        </p:nvSpPr>
        <p:spPr>
          <a:xfrm>
            <a:off x="6295644" y="1408176"/>
            <a:ext cx="2448306" cy="731520"/>
          </a:xfrm>
          <a:prstGeom prst="rect">
            <a:avLst/>
          </a:prstGeom>
          <a:noFill/>
        </p:spPr>
        <p:txBody>
          <a:bodyPr wrap="square">
            <a:spAutoFit/>
          </a:bodyPr>
          <a:lstStyle/>
          <a:p>
            <a:pPr algn="l"/>
            <a:r>
              <a:rPr sz="2200" b="1">
                <a:solidFill>
                  <a:srgbClr val="00D4E4"/>
                </a:solidFill>
                <a:latin typeface="Barlow Condensed"/>
              </a:rPr>
              <a:t>DEFENDING</a:t>
            </a:r>
          </a:p>
        </p:txBody>
      </p:sp>
      <p:sp>
        <p:nvSpPr>
          <p:cNvPr id="18" name="TextBox 17"/>
          <p:cNvSpPr txBox="1"/>
          <p:nvPr/>
        </p:nvSpPr>
        <p:spPr>
          <a:xfrm>
            <a:off x="6295644" y="2194560"/>
            <a:ext cx="2448306" cy="3822192"/>
          </a:xfrm>
          <a:prstGeom prst="rect">
            <a:avLst/>
          </a:prstGeom>
          <a:noFill/>
        </p:spPr>
        <p:txBody>
          <a:bodyPr wrap="square">
            <a:spAutoFit/>
          </a:bodyPr>
          <a:lstStyle/>
          <a:p>
            <a:pPr algn="l"/>
            <a:r>
              <a:rPr sz="1300" b="0">
                <a:solidFill>
                  <a:srgbClr val="F2F2F0"/>
                </a:solidFill>
                <a:latin typeface="Inter"/>
              </a:rPr>
              <a:t>Defensive organization seeking to gain ball possession high up the field utilizing a mid or high compact block structure. If we can't, we will look to force opponent to pre-established trapping zones.</a:t>
            </a:r>
          </a:p>
        </p:txBody>
      </p:sp>
      <p:sp>
        <p:nvSpPr>
          <p:cNvPr id="19" name="Rectangle 18"/>
          <p:cNvSpPr/>
          <p:nvPr/>
        </p:nvSpPr>
        <p:spPr>
          <a:xfrm>
            <a:off x="9009126" y="1024128"/>
            <a:ext cx="2722626" cy="5120640"/>
          </a:xfrm>
          <a:prstGeom prst="rect">
            <a:avLst/>
          </a:prstGeom>
          <a:solidFill>
            <a:srgbClr val="0A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9126" y="1024128"/>
            <a:ext cx="2722626" cy="73152"/>
          </a:xfrm>
          <a:prstGeom prst="rect">
            <a:avLst/>
          </a:prstGeom>
          <a:solidFill>
            <a:srgbClr val="B8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6286" y="1143000"/>
            <a:ext cx="2448306" cy="256032"/>
          </a:xfrm>
          <a:prstGeom prst="rect">
            <a:avLst/>
          </a:prstGeom>
          <a:noFill/>
        </p:spPr>
        <p:txBody>
          <a:bodyPr wrap="square">
            <a:spAutoFit/>
          </a:bodyPr>
          <a:lstStyle/>
          <a:p>
            <a:pPr algn="l"/>
            <a:r>
              <a:rPr sz="900" b="1">
                <a:solidFill>
                  <a:srgbClr val="B84FFF"/>
                </a:solidFill>
                <a:latin typeface="Inter"/>
              </a:rPr>
              <a:t>PHASE 4</a:t>
            </a:r>
          </a:p>
        </p:txBody>
      </p:sp>
      <p:sp>
        <p:nvSpPr>
          <p:cNvPr id="22" name="TextBox 21"/>
          <p:cNvSpPr txBox="1"/>
          <p:nvPr/>
        </p:nvSpPr>
        <p:spPr>
          <a:xfrm>
            <a:off x="9146286" y="1408176"/>
            <a:ext cx="2448306" cy="731520"/>
          </a:xfrm>
          <a:prstGeom prst="rect">
            <a:avLst/>
          </a:prstGeom>
          <a:noFill/>
        </p:spPr>
        <p:txBody>
          <a:bodyPr wrap="square">
            <a:spAutoFit/>
          </a:bodyPr>
          <a:lstStyle/>
          <a:p>
            <a:pPr algn="l"/>
            <a:r>
              <a:rPr sz="2200" b="1">
                <a:solidFill>
                  <a:srgbClr val="B84FFF"/>
                </a:solidFill>
                <a:latin typeface="Barlow Condensed"/>
              </a:rPr>
              <a:t>DEFENDING → ATTACKING</a:t>
            </a:r>
          </a:p>
        </p:txBody>
      </p:sp>
      <p:sp>
        <p:nvSpPr>
          <p:cNvPr id="23" name="TextBox 22"/>
          <p:cNvSpPr txBox="1"/>
          <p:nvPr/>
        </p:nvSpPr>
        <p:spPr>
          <a:xfrm>
            <a:off x="9146286" y="2194560"/>
            <a:ext cx="2448306" cy="3822192"/>
          </a:xfrm>
          <a:prstGeom prst="rect">
            <a:avLst/>
          </a:prstGeom>
          <a:noFill/>
        </p:spPr>
        <p:txBody>
          <a:bodyPr wrap="square">
            <a:spAutoFit/>
          </a:bodyPr>
          <a:lstStyle/>
          <a:p>
            <a:pPr algn="l"/>
            <a:r>
              <a:rPr sz="1300" b="0">
                <a:solidFill>
                  <a:srgbClr val="F2F2F0"/>
                </a:solidFill>
                <a:latin typeface="Inter"/>
              </a:rPr>
              <a:t>Immediate reaction to vertically attack opponent if space is available or keep the ball as we restructure our attacking organization.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PLAYER DEVELOPMENT STAGES</a:t>
            </a:r>
          </a:p>
        </p:txBody>
      </p:sp>
      <p:sp>
        <p:nvSpPr>
          <p:cNvPr id="4" name="TextBox 3"/>
          <p:cNvSpPr txBox="1"/>
          <p:nvPr/>
        </p:nvSpPr>
        <p:spPr>
          <a:xfrm>
            <a:off x="457200" y="658368"/>
            <a:ext cx="11274552" cy="274320"/>
          </a:xfrm>
          <a:prstGeom prst="rect">
            <a:avLst/>
          </a:prstGeom>
          <a:noFill/>
        </p:spPr>
        <p:txBody>
          <a:bodyPr wrap="square">
            <a:spAutoFit/>
          </a:bodyPr>
          <a:lstStyle/>
          <a:p>
            <a:pPr algn="l"/>
            <a:r>
              <a:rPr sz="1200" b="0">
                <a:solidFill>
                  <a:srgbClr val="00D4E4"/>
                </a:solidFill>
                <a:latin typeface="Inter"/>
              </a:rPr>
              <a:t>Player Behaviors and Team Tactical Principles — U13 through U19 age groups</a:t>
            </a:r>
          </a:p>
        </p:txBody>
      </p:sp>
      <p:sp>
        <p:nvSpPr>
          <p:cNvPr id="5" name="Rectangle 4"/>
          <p:cNvSpPr/>
          <p:nvPr/>
        </p:nvSpPr>
        <p:spPr>
          <a:xfrm>
            <a:off x="566928" y="1024128"/>
            <a:ext cx="36576" cy="519379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4632" y="1472184"/>
            <a:ext cx="91440" cy="914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115568"/>
            <a:ext cx="1371600" cy="457200"/>
          </a:xfrm>
          <a:prstGeom prst="rect">
            <a:avLst/>
          </a:prstGeom>
          <a:noFill/>
        </p:spPr>
        <p:txBody>
          <a:bodyPr wrap="square">
            <a:spAutoFit/>
          </a:bodyPr>
          <a:lstStyle/>
          <a:p>
            <a:pPr algn="l"/>
            <a:r>
              <a:rPr sz="2400" b="1">
                <a:solidFill>
                  <a:srgbClr val="F2F2F0"/>
                </a:solidFill>
                <a:latin typeface="Barlow Condensed"/>
              </a:rPr>
              <a:t>U9</a:t>
            </a:r>
          </a:p>
        </p:txBody>
      </p:sp>
      <p:sp>
        <p:nvSpPr>
          <p:cNvPr id="8" name="TextBox 7"/>
          <p:cNvSpPr txBox="1"/>
          <p:nvPr/>
        </p:nvSpPr>
        <p:spPr>
          <a:xfrm>
            <a:off x="2377440" y="1097280"/>
            <a:ext cx="9354312" cy="347472"/>
          </a:xfrm>
          <a:prstGeom prst="rect">
            <a:avLst/>
          </a:prstGeom>
          <a:noFill/>
        </p:spPr>
        <p:txBody>
          <a:bodyPr wrap="square">
            <a:spAutoFit/>
          </a:bodyPr>
          <a:lstStyle/>
          <a:p>
            <a:pPr algn="l"/>
            <a:r>
              <a:rPr sz="1800" b="1">
                <a:solidFill>
                  <a:srgbClr val="F2F2F0"/>
                </a:solidFill>
                <a:latin typeface="Barlow Condensed"/>
              </a:rPr>
              <a:t>START OF THE PATHWAY</a:t>
            </a:r>
          </a:p>
        </p:txBody>
      </p:sp>
      <p:sp>
        <p:nvSpPr>
          <p:cNvPr id="9" name="TextBox 8"/>
          <p:cNvSpPr txBox="1"/>
          <p:nvPr/>
        </p:nvSpPr>
        <p:spPr>
          <a:xfrm>
            <a:off x="2377440" y="1481328"/>
            <a:ext cx="9171432" cy="475488"/>
          </a:xfrm>
          <a:prstGeom prst="rect">
            <a:avLst/>
          </a:prstGeom>
          <a:noFill/>
        </p:spPr>
        <p:txBody>
          <a:bodyPr wrap="square">
            <a:spAutoFit/>
          </a:bodyPr>
          <a:lstStyle/>
          <a:p>
            <a:pPr algn="l"/>
            <a:r>
              <a:rPr sz="1200" b="0">
                <a:solidFill>
                  <a:srgbClr val="AAAAAA"/>
                </a:solidFill>
                <a:latin typeface="Inter"/>
              </a:rPr>
              <a:t>Introduction to the game and the SC Wave environment.</a:t>
            </a:r>
          </a:p>
        </p:txBody>
      </p:sp>
      <p:sp>
        <p:nvSpPr>
          <p:cNvPr id="10" name="Rectangle 9"/>
          <p:cNvSpPr/>
          <p:nvPr/>
        </p:nvSpPr>
        <p:spPr>
          <a:xfrm>
            <a:off x="484632" y="2523744"/>
            <a:ext cx="91440" cy="914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167128"/>
            <a:ext cx="1371600" cy="457200"/>
          </a:xfrm>
          <a:prstGeom prst="rect">
            <a:avLst/>
          </a:prstGeom>
          <a:noFill/>
        </p:spPr>
        <p:txBody>
          <a:bodyPr wrap="square">
            <a:spAutoFit/>
          </a:bodyPr>
          <a:lstStyle/>
          <a:p>
            <a:pPr algn="l"/>
            <a:r>
              <a:rPr sz="2400" b="1">
                <a:solidFill>
                  <a:srgbClr val="F2F2F0"/>
                </a:solidFill>
                <a:latin typeface="Barlow Condensed"/>
              </a:rPr>
              <a:t>U12</a:t>
            </a:r>
          </a:p>
        </p:txBody>
      </p:sp>
      <p:sp>
        <p:nvSpPr>
          <p:cNvPr id="12" name="TextBox 11"/>
          <p:cNvSpPr txBox="1"/>
          <p:nvPr/>
        </p:nvSpPr>
        <p:spPr>
          <a:xfrm>
            <a:off x="786384" y="2697480"/>
            <a:ext cx="1371600" cy="256032"/>
          </a:xfrm>
          <a:prstGeom prst="rect">
            <a:avLst/>
          </a:prstGeom>
          <a:noFill/>
        </p:spPr>
        <p:txBody>
          <a:bodyPr wrap="square">
            <a:spAutoFit/>
          </a:bodyPr>
          <a:lstStyle/>
          <a:p>
            <a:pPr algn="l"/>
            <a:r>
              <a:rPr sz="900" b="1">
                <a:solidFill>
                  <a:srgbClr val="00D4E4"/>
                </a:solidFill>
                <a:latin typeface="Inter"/>
              </a:rPr>
              <a:t>ZONE 1</a:t>
            </a:r>
          </a:p>
        </p:txBody>
      </p:sp>
      <p:sp>
        <p:nvSpPr>
          <p:cNvPr id="13" name="TextBox 12"/>
          <p:cNvSpPr txBox="1"/>
          <p:nvPr/>
        </p:nvSpPr>
        <p:spPr>
          <a:xfrm>
            <a:off x="2377440" y="2148840"/>
            <a:ext cx="9354312" cy="347472"/>
          </a:xfrm>
          <a:prstGeom prst="rect">
            <a:avLst/>
          </a:prstGeom>
          <a:noFill/>
        </p:spPr>
        <p:txBody>
          <a:bodyPr wrap="square">
            <a:spAutoFit/>
          </a:bodyPr>
          <a:lstStyle/>
          <a:p>
            <a:pPr algn="l"/>
            <a:r>
              <a:rPr sz="1800" b="1">
                <a:solidFill>
                  <a:srgbClr val="F2F2F0"/>
                </a:solidFill>
                <a:latin typeface="Barlow Condensed"/>
              </a:rPr>
              <a:t>INTRODUCTION TO THE KEY QUALITIES</a:t>
            </a:r>
          </a:p>
        </p:txBody>
      </p:sp>
      <p:sp>
        <p:nvSpPr>
          <p:cNvPr id="14" name="TextBox 13"/>
          <p:cNvSpPr txBox="1"/>
          <p:nvPr/>
        </p:nvSpPr>
        <p:spPr>
          <a:xfrm>
            <a:off x="2377440" y="2532888"/>
            <a:ext cx="9171432" cy="475488"/>
          </a:xfrm>
          <a:prstGeom prst="rect">
            <a:avLst/>
          </a:prstGeom>
          <a:noFill/>
        </p:spPr>
        <p:txBody>
          <a:bodyPr wrap="square">
            <a:spAutoFit/>
          </a:bodyPr>
          <a:lstStyle/>
          <a:p>
            <a:pPr algn="l"/>
            <a:r>
              <a:rPr sz="1200" b="0">
                <a:solidFill>
                  <a:srgbClr val="AAAAAA"/>
                </a:solidFill>
                <a:latin typeface="Inter"/>
              </a:rPr>
              <a:t>Development of individual qualities in a team environment (not position-based). Continuous development of fundamentals.</a:t>
            </a:r>
          </a:p>
        </p:txBody>
      </p:sp>
      <p:sp>
        <p:nvSpPr>
          <p:cNvPr id="15" name="Rectangle 14"/>
          <p:cNvSpPr/>
          <p:nvPr/>
        </p:nvSpPr>
        <p:spPr>
          <a:xfrm>
            <a:off x="484632" y="3538728"/>
            <a:ext cx="164592" cy="16459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218688"/>
            <a:ext cx="1371600" cy="457200"/>
          </a:xfrm>
          <a:prstGeom prst="rect">
            <a:avLst/>
          </a:prstGeom>
          <a:noFill/>
        </p:spPr>
        <p:txBody>
          <a:bodyPr wrap="square">
            <a:spAutoFit/>
          </a:bodyPr>
          <a:lstStyle/>
          <a:p>
            <a:pPr algn="l"/>
            <a:r>
              <a:rPr sz="2400" b="1">
                <a:solidFill>
                  <a:srgbClr val="F5C518"/>
                </a:solidFill>
                <a:latin typeface="Barlow Condensed"/>
              </a:rPr>
              <a:t>U13–U14</a:t>
            </a:r>
          </a:p>
        </p:txBody>
      </p:sp>
      <p:sp>
        <p:nvSpPr>
          <p:cNvPr id="17" name="TextBox 16"/>
          <p:cNvSpPr txBox="1"/>
          <p:nvPr/>
        </p:nvSpPr>
        <p:spPr>
          <a:xfrm>
            <a:off x="786384" y="3749040"/>
            <a:ext cx="1371600" cy="256032"/>
          </a:xfrm>
          <a:prstGeom prst="rect">
            <a:avLst/>
          </a:prstGeom>
          <a:noFill/>
        </p:spPr>
        <p:txBody>
          <a:bodyPr wrap="square">
            <a:spAutoFit/>
          </a:bodyPr>
          <a:lstStyle/>
          <a:p>
            <a:pPr algn="l"/>
            <a:r>
              <a:rPr sz="900" b="1">
                <a:solidFill>
                  <a:srgbClr val="00D4E4"/>
                </a:solidFill>
                <a:latin typeface="Inter"/>
              </a:rPr>
              <a:t>ZONE 2</a:t>
            </a:r>
          </a:p>
        </p:txBody>
      </p:sp>
      <p:sp>
        <p:nvSpPr>
          <p:cNvPr id="18" name="TextBox 17"/>
          <p:cNvSpPr txBox="1"/>
          <p:nvPr/>
        </p:nvSpPr>
        <p:spPr>
          <a:xfrm>
            <a:off x="2377440" y="3200400"/>
            <a:ext cx="9354312" cy="347472"/>
          </a:xfrm>
          <a:prstGeom prst="rect">
            <a:avLst/>
          </a:prstGeom>
          <a:noFill/>
        </p:spPr>
        <p:txBody>
          <a:bodyPr wrap="square">
            <a:spAutoFit/>
          </a:bodyPr>
          <a:lstStyle/>
          <a:p>
            <a:pPr algn="l"/>
            <a:r>
              <a:rPr sz="1800" b="1">
                <a:solidFill>
                  <a:srgbClr val="FFFFFF"/>
                </a:solidFill>
                <a:latin typeface="Barlow Condensed"/>
              </a:rPr>
              <a:t>DEVELOP THE KEY QUALITIES</a:t>
            </a:r>
          </a:p>
        </p:txBody>
      </p:sp>
      <p:sp>
        <p:nvSpPr>
          <p:cNvPr id="19" name="TextBox 18"/>
          <p:cNvSpPr txBox="1"/>
          <p:nvPr/>
        </p:nvSpPr>
        <p:spPr>
          <a:xfrm>
            <a:off x="2377440" y="3584448"/>
            <a:ext cx="9171432" cy="475488"/>
          </a:xfrm>
          <a:prstGeom prst="rect">
            <a:avLst/>
          </a:prstGeom>
          <a:noFill/>
        </p:spPr>
        <p:txBody>
          <a:bodyPr wrap="square">
            <a:spAutoFit/>
          </a:bodyPr>
          <a:lstStyle/>
          <a:p>
            <a:pPr algn="l"/>
            <a:r>
              <a:rPr sz="1200" b="0">
                <a:solidFill>
                  <a:srgbClr val="AAAAAA"/>
                </a:solidFill>
                <a:latin typeface="Inter"/>
              </a:rPr>
              <a:t>Development of individual qualities in a team concept. 11v11 Introduction.  ·  Intro to Club's Game Model &amp; Principles</a:t>
            </a:r>
          </a:p>
        </p:txBody>
      </p:sp>
      <p:sp>
        <p:nvSpPr>
          <p:cNvPr id="20" name="Rectangle 19"/>
          <p:cNvSpPr/>
          <p:nvPr/>
        </p:nvSpPr>
        <p:spPr>
          <a:xfrm>
            <a:off x="484632" y="4590288"/>
            <a:ext cx="164592" cy="16459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4270248"/>
            <a:ext cx="1371600" cy="457200"/>
          </a:xfrm>
          <a:prstGeom prst="rect">
            <a:avLst/>
          </a:prstGeom>
          <a:noFill/>
        </p:spPr>
        <p:txBody>
          <a:bodyPr wrap="square">
            <a:spAutoFit/>
          </a:bodyPr>
          <a:lstStyle/>
          <a:p>
            <a:pPr algn="l"/>
            <a:r>
              <a:rPr sz="2400" b="1">
                <a:solidFill>
                  <a:srgbClr val="F5C518"/>
                </a:solidFill>
                <a:latin typeface="Barlow Condensed"/>
              </a:rPr>
              <a:t>U15–U16</a:t>
            </a:r>
          </a:p>
        </p:txBody>
      </p:sp>
      <p:sp>
        <p:nvSpPr>
          <p:cNvPr id="22" name="TextBox 21"/>
          <p:cNvSpPr txBox="1"/>
          <p:nvPr/>
        </p:nvSpPr>
        <p:spPr>
          <a:xfrm>
            <a:off x="786384" y="4800600"/>
            <a:ext cx="1371600" cy="256032"/>
          </a:xfrm>
          <a:prstGeom prst="rect">
            <a:avLst/>
          </a:prstGeom>
          <a:noFill/>
        </p:spPr>
        <p:txBody>
          <a:bodyPr wrap="square">
            <a:spAutoFit/>
          </a:bodyPr>
          <a:lstStyle/>
          <a:p>
            <a:pPr algn="l"/>
            <a:r>
              <a:rPr sz="900" b="1">
                <a:solidFill>
                  <a:srgbClr val="00D4E4"/>
                </a:solidFill>
                <a:latin typeface="Inter"/>
              </a:rPr>
              <a:t>ZONE 2</a:t>
            </a:r>
          </a:p>
        </p:txBody>
      </p:sp>
      <p:sp>
        <p:nvSpPr>
          <p:cNvPr id="23" name="TextBox 22"/>
          <p:cNvSpPr txBox="1"/>
          <p:nvPr/>
        </p:nvSpPr>
        <p:spPr>
          <a:xfrm>
            <a:off x="2377440" y="4251960"/>
            <a:ext cx="9354312" cy="347472"/>
          </a:xfrm>
          <a:prstGeom prst="rect">
            <a:avLst/>
          </a:prstGeom>
          <a:noFill/>
        </p:spPr>
        <p:txBody>
          <a:bodyPr wrap="square">
            <a:spAutoFit/>
          </a:bodyPr>
          <a:lstStyle/>
          <a:p>
            <a:pPr algn="l"/>
            <a:r>
              <a:rPr sz="1800" b="1">
                <a:solidFill>
                  <a:srgbClr val="FFFFFF"/>
                </a:solidFill>
                <a:latin typeface="Barlow Condensed"/>
              </a:rPr>
              <a:t>EXECUTE THE KEY QUALITIES SUCCESSFULLY</a:t>
            </a:r>
          </a:p>
        </p:txBody>
      </p:sp>
      <p:sp>
        <p:nvSpPr>
          <p:cNvPr id="24" name="TextBox 23"/>
          <p:cNvSpPr txBox="1"/>
          <p:nvPr/>
        </p:nvSpPr>
        <p:spPr>
          <a:xfrm>
            <a:off x="2377440" y="4636008"/>
            <a:ext cx="9171432" cy="475488"/>
          </a:xfrm>
          <a:prstGeom prst="rect">
            <a:avLst/>
          </a:prstGeom>
          <a:noFill/>
        </p:spPr>
        <p:txBody>
          <a:bodyPr wrap="square">
            <a:spAutoFit/>
          </a:bodyPr>
          <a:lstStyle/>
          <a:p>
            <a:pPr algn="l"/>
            <a:r>
              <a:rPr sz="1200" b="0">
                <a:solidFill>
                  <a:srgbClr val="AAAAAA"/>
                </a:solidFill>
                <a:latin typeface="Inter"/>
              </a:rPr>
              <a:t>Development of specific qualities in position to maximize contribution to the result.  ·  Development &amp; Performance  ·  Execute Club's Game Model &amp; Principles</a:t>
            </a:r>
          </a:p>
        </p:txBody>
      </p:sp>
      <p:sp>
        <p:nvSpPr>
          <p:cNvPr id="25" name="Rectangle 24"/>
          <p:cNvSpPr/>
          <p:nvPr/>
        </p:nvSpPr>
        <p:spPr>
          <a:xfrm>
            <a:off x="484632" y="5641848"/>
            <a:ext cx="164592" cy="16459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321808"/>
            <a:ext cx="1371600" cy="457200"/>
          </a:xfrm>
          <a:prstGeom prst="rect">
            <a:avLst/>
          </a:prstGeom>
          <a:noFill/>
        </p:spPr>
        <p:txBody>
          <a:bodyPr wrap="square">
            <a:spAutoFit/>
          </a:bodyPr>
          <a:lstStyle/>
          <a:p>
            <a:pPr algn="l"/>
            <a:r>
              <a:rPr sz="2400" b="1">
                <a:solidFill>
                  <a:srgbClr val="F5C518"/>
                </a:solidFill>
                <a:latin typeface="Barlow Condensed"/>
              </a:rPr>
              <a:t>U17–U19</a:t>
            </a:r>
          </a:p>
        </p:txBody>
      </p:sp>
      <p:sp>
        <p:nvSpPr>
          <p:cNvPr id="27" name="TextBox 26"/>
          <p:cNvSpPr txBox="1"/>
          <p:nvPr/>
        </p:nvSpPr>
        <p:spPr>
          <a:xfrm>
            <a:off x="786384" y="5852160"/>
            <a:ext cx="1371600" cy="256032"/>
          </a:xfrm>
          <a:prstGeom prst="rect">
            <a:avLst/>
          </a:prstGeom>
          <a:noFill/>
        </p:spPr>
        <p:txBody>
          <a:bodyPr wrap="square">
            <a:spAutoFit/>
          </a:bodyPr>
          <a:lstStyle/>
          <a:p>
            <a:pPr algn="l"/>
            <a:r>
              <a:rPr sz="900" b="1">
                <a:solidFill>
                  <a:srgbClr val="00D4E4"/>
                </a:solidFill>
                <a:latin typeface="Inter"/>
              </a:rPr>
              <a:t>ZONE 2</a:t>
            </a:r>
          </a:p>
        </p:txBody>
      </p:sp>
      <p:sp>
        <p:nvSpPr>
          <p:cNvPr id="28" name="TextBox 27"/>
          <p:cNvSpPr txBox="1"/>
          <p:nvPr/>
        </p:nvSpPr>
        <p:spPr>
          <a:xfrm>
            <a:off x="2377440" y="5303520"/>
            <a:ext cx="9354312" cy="347472"/>
          </a:xfrm>
          <a:prstGeom prst="rect">
            <a:avLst/>
          </a:prstGeom>
          <a:noFill/>
        </p:spPr>
        <p:txBody>
          <a:bodyPr wrap="square">
            <a:spAutoFit/>
          </a:bodyPr>
          <a:lstStyle/>
          <a:p>
            <a:pPr algn="l"/>
            <a:r>
              <a:rPr sz="1800" b="1">
                <a:solidFill>
                  <a:srgbClr val="FFFFFF"/>
                </a:solidFill>
                <a:latin typeface="Barlow Condensed"/>
              </a:rPr>
              <a:t>EXECUTE THE KEY QUALITIES SUCCESSFULLY IN ORDER TO WIN</a:t>
            </a:r>
          </a:p>
        </p:txBody>
      </p:sp>
      <p:sp>
        <p:nvSpPr>
          <p:cNvPr id="29" name="TextBox 28"/>
          <p:cNvSpPr txBox="1"/>
          <p:nvPr/>
        </p:nvSpPr>
        <p:spPr>
          <a:xfrm>
            <a:off x="2377440" y="5687568"/>
            <a:ext cx="9171432" cy="475488"/>
          </a:xfrm>
          <a:prstGeom prst="rect">
            <a:avLst/>
          </a:prstGeom>
          <a:noFill/>
        </p:spPr>
        <p:txBody>
          <a:bodyPr wrap="square">
            <a:spAutoFit/>
          </a:bodyPr>
          <a:lstStyle/>
          <a:p>
            <a:pPr algn="l"/>
            <a:r>
              <a:rPr sz="1200" b="0">
                <a:solidFill>
                  <a:srgbClr val="AAAAAA"/>
                </a:solidFill>
                <a:latin typeface="Inter"/>
              </a:rPr>
              <a:t>Development of specific qualities to be the best player in your position to win the game.  ·  Performance &amp; Results  ·  Total Implementation of Club's Game Model &amp; Principles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U-13 &amp; U-14 — ATTACKING &amp; DEFENDING</a:t>
            </a:r>
          </a:p>
        </p:txBody>
      </p:sp>
      <p:graphicFrame>
        <p:nvGraphicFramePr>
          <p:cNvPr id="4" name="Table 3"/>
          <p:cNvGraphicFramePr>
            <a:graphicFrameLocks noGrp="1"/>
          </p:cNvGraphicFramePr>
          <p:nvPr/>
        </p:nvGraphicFramePr>
        <p:xfrm>
          <a:off x="457200" y="987552"/>
          <a:ext cx="11274552" cy="5623560"/>
        </p:xfrm>
        <a:graphic>
          <a:graphicData uri="http://schemas.openxmlformats.org/drawingml/2006/table">
            <a:tbl>
              <a:tblPr firstRow="1" bandRow="1">
                <a:tableStyleId>{5C22544A-7EE6-4342-B048-85BDC9FD1C3A}</a:tableStyleId>
              </a:tblPr>
              <a:tblGrid>
                <a:gridCol w="1325880"/>
                <a:gridCol w="4974336"/>
                <a:gridCol w="4974336"/>
              </a:tblGrid>
              <a:tr h="1405890">
                <a:tc>
                  <a:txBody>
                    <a:bodyPr/>
                    <a:lstStyle/>
                    <a:p>
                      <a:pPr algn="ctr"/>
                      <a:r>
                        <a:rPr sz="1600" b="1">
                          <a:solidFill>
                            <a:srgbClr val="F2F2F0"/>
                          </a:solidFill>
                          <a:latin typeface="Barlow Condensed"/>
                        </a:rPr>
                        <a:t>ZONE</a:t>
                      </a:r>
                    </a:p>
                  </a:txBody>
                  <a:tcPr>
                    <a:solidFill>
                      <a:srgbClr val="1A1A1A"/>
                    </a:solidFill>
                  </a:tcPr>
                </a:tc>
                <a:tc>
                  <a:txBody>
                    <a:bodyPr/>
                    <a:lstStyle/>
                    <a:p>
                      <a:pPr algn="ctr"/>
                      <a:r>
                        <a:rPr sz="1600" b="1">
                          <a:solidFill>
                            <a:srgbClr val="F5C518"/>
                          </a:solidFill>
                          <a:latin typeface="Barlow Condensed"/>
                        </a:rPr>
                        <a:t>ATTACKING</a:t>
                      </a:r>
                    </a:p>
                  </a:txBody>
                  <a:tcPr>
                    <a:solidFill>
                      <a:srgbClr val="1A1200"/>
                    </a:solidFill>
                  </a:tcPr>
                </a:tc>
                <a:tc>
                  <a:txBody>
                    <a:bodyPr/>
                    <a:lstStyle/>
                    <a:p>
                      <a:pPr algn="ctr"/>
                      <a:r>
                        <a:rPr sz="1600" b="1">
                          <a:solidFill>
                            <a:srgbClr val="00D4E4"/>
                          </a:solidFill>
                          <a:latin typeface="Barlow Condensed"/>
                        </a:rPr>
                        <a:t>DEFENDING</a:t>
                      </a:r>
                    </a:p>
                  </a:txBody>
                  <a:tcPr>
                    <a:solidFill>
                      <a:srgbClr val="001A1A"/>
                    </a:solidFill>
                  </a:tcPr>
                </a:tc>
              </a:tr>
              <a:tr h="1405890">
                <a:tc>
                  <a:txBody>
                    <a:bodyPr wrap="square"/>
                    <a:lstStyle/>
                    <a:p>
                      <a:pPr algn="ctr"/>
                      <a:r>
                        <a:rPr sz="1400" b="1">
                          <a:solidFill>
                            <a:srgbClr val="F5C518"/>
                          </a:solidFill>
                          <a:latin typeface="Barlow Condensed"/>
                        </a:rPr>
                        <a:t>ATTACKING 1/3</a:t>
                      </a:r>
                    </a:p>
                  </a:txBody>
                  <a:tcPr>
                    <a:solidFill>
                      <a:srgbClr val="1E1E1E"/>
                    </a:solidFill>
                  </a:tcPr>
                </a:tc>
                <a:tc>
                  <a:txBody>
                    <a:bodyPr wrap="square"/>
                    <a:lstStyle/>
                    <a:p>
                      <a:pPr algn="l"/>
                      <a:r>
                        <a:rPr sz="1200" b="0">
                          <a:solidFill>
                            <a:srgbClr val="F2F2F0"/>
                          </a:solidFill>
                          <a:latin typeface="Inter"/>
                        </a:rPr>
                        <a:t>Different types of runs to get behind/between last line of defenders; Find key players; Find space to combine; Get numbers in the box; Move away from defender = creating space</a:t>
                      </a:r>
                    </a:p>
                  </a:txBody>
                  <a:tcPr>
                    <a:solidFill>
                      <a:srgbClr val="141414"/>
                    </a:solidFill>
                  </a:tcPr>
                </a:tc>
                <a:tc>
                  <a:txBody>
                    <a:bodyPr wrap="square"/>
                    <a:lstStyle/>
                    <a:p>
                      <a:pPr algn="l"/>
                      <a:r>
                        <a:rPr sz="1200" b="0">
                          <a:solidFill>
                            <a:srgbClr val="F2F2F0"/>
                          </a:solidFill>
                          <a:latin typeface="Inter"/>
                        </a:rPr>
                        <a:t>Mix of zonal and man to man; Pressing: Recognize moment to make play predictable; Pressure the player on the ball; Stay compact, limit space between lines and units</a:t>
                      </a:r>
                    </a:p>
                  </a:txBody>
                  <a:tcPr>
                    <a:solidFill>
                      <a:srgbClr val="141414"/>
                    </a:solidFill>
                  </a:tcPr>
                </a:tc>
              </a:tr>
              <a:tr h="1405890">
                <a:tc>
                  <a:txBody>
                    <a:bodyPr wrap="square"/>
                    <a:lstStyle/>
                    <a:p>
                      <a:pPr algn="ctr"/>
                      <a:r>
                        <a:rPr sz="1400" b="1">
                          <a:solidFill>
                            <a:srgbClr val="F5C518"/>
                          </a:solidFill>
                          <a:latin typeface="Barlow Condensed"/>
                        </a:rPr>
                        <a:t>MIDFIELD 1/3</a:t>
                      </a:r>
                    </a:p>
                  </a:txBody>
                  <a:tcPr>
                    <a:solidFill>
                      <a:srgbClr val="1E1E1E"/>
                    </a:solidFill>
                  </a:tcPr>
                </a:tc>
                <a:tc>
                  <a:txBody>
                    <a:bodyPr wrap="square"/>
                    <a:lstStyle/>
                    <a:p>
                      <a:pPr algn="l"/>
                      <a:r>
                        <a:rPr sz="1200" b="0">
                          <a:solidFill>
                            <a:srgbClr val="F2F2F0"/>
                          </a:solidFill>
                          <a:latin typeface="Inter"/>
                        </a:rPr>
                        <a:t>Movement of players to create numbers up; Full backs &amp; wingers occupying different channels; Find space to combine; Create numbers up on one side to find teammate on the other side; Move away from defender = creating space</a:t>
                      </a:r>
                    </a:p>
                  </a:txBody>
                  <a:tcPr>
                    <a:solidFill>
                      <a:srgbClr val="1C1C1C"/>
                    </a:solidFill>
                  </a:tcPr>
                </a:tc>
                <a:tc>
                  <a:txBody>
                    <a:bodyPr wrap="square"/>
                    <a:lstStyle/>
                    <a:p>
                      <a:pPr algn="l"/>
                      <a:r>
                        <a:rPr sz="1200" b="0">
                          <a:solidFill>
                            <a:srgbClr val="F2F2F0"/>
                          </a:solidFill>
                          <a:latin typeface="Inter"/>
                        </a:rPr>
                        <a:t>Keep the ball in front of us, force play wide; Pressure the player on the ball in your zone; Zonal defending – communicate player movement; Stay and keep it compact</a:t>
                      </a:r>
                    </a:p>
                  </a:txBody>
                  <a:tcPr>
                    <a:solidFill>
                      <a:srgbClr val="1C1C1C"/>
                    </a:solidFill>
                  </a:tcPr>
                </a:tc>
              </a:tr>
              <a:tr h="1405890">
                <a:tc>
                  <a:txBody>
                    <a:bodyPr wrap="square"/>
                    <a:lstStyle/>
                    <a:p>
                      <a:pPr algn="ctr"/>
                      <a:r>
                        <a:rPr sz="1400" b="1">
                          <a:solidFill>
                            <a:srgbClr val="F5C518"/>
                          </a:solidFill>
                          <a:latin typeface="Barlow Condensed"/>
                        </a:rPr>
                        <a:t>DEFENDING 1/3</a:t>
                      </a:r>
                    </a:p>
                  </a:txBody>
                  <a:tcPr>
                    <a:solidFill>
                      <a:srgbClr val="1E1E1E"/>
                    </a:solidFill>
                  </a:tcPr>
                </a:tc>
                <a:tc>
                  <a:txBody>
                    <a:bodyPr wrap="square"/>
                    <a:lstStyle/>
                    <a:p>
                      <a:pPr algn="l"/>
                      <a:r>
                        <a:rPr sz="1200" b="0">
                          <a:solidFill>
                            <a:srgbClr val="F2F2F0"/>
                          </a:solidFill>
                          <a:latin typeface="Inter"/>
                        </a:rPr>
                        <a:t>Create numbers up to move the ball forward; Beat the first defender by passing or dribbling; Create diagonal passing lanes; Find separation = creating space; Occupy 5 vertical lanes with 5 defenders</a:t>
                      </a:r>
                    </a:p>
                  </a:txBody>
                  <a:tcPr>
                    <a:solidFill>
                      <a:srgbClr val="141414"/>
                    </a:solidFill>
                  </a:tcPr>
                </a:tc>
                <a:tc>
                  <a:txBody>
                    <a:bodyPr wrap="square"/>
                    <a:lstStyle/>
                    <a:p>
                      <a:pPr algn="l"/>
                      <a:r>
                        <a:rPr sz="1200" b="0">
                          <a:solidFill>
                            <a:srgbClr val="F2F2F0"/>
                          </a:solidFill>
                          <a:latin typeface="Inter"/>
                        </a:rPr>
                        <a:t>Get compact and stay compact – don't allow passes through you; Get behind the ball, force play wide; Pressure the player on the ball; Inside the box man mark, outside the box mark space</a:t>
                      </a:r>
                    </a:p>
                  </a:txBody>
                  <a:tcPr>
                    <a:solidFill>
                      <a:srgbClr val="14141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U-13 &amp; U-14 — TRANSITIONS  (A→D  &amp;  D→A)</a:t>
            </a:r>
          </a:p>
        </p:txBody>
      </p:sp>
      <p:graphicFrame>
        <p:nvGraphicFramePr>
          <p:cNvPr id="4" name="Table 3"/>
          <p:cNvGraphicFramePr>
            <a:graphicFrameLocks noGrp="1"/>
          </p:cNvGraphicFramePr>
          <p:nvPr/>
        </p:nvGraphicFramePr>
        <p:xfrm>
          <a:off x="457200" y="987552"/>
          <a:ext cx="11274552" cy="5623560"/>
        </p:xfrm>
        <a:graphic>
          <a:graphicData uri="http://schemas.openxmlformats.org/drawingml/2006/table">
            <a:tbl>
              <a:tblPr firstRow="1" bandRow="1">
                <a:tableStyleId>{5C22544A-7EE6-4342-B048-85BDC9FD1C3A}</a:tableStyleId>
              </a:tblPr>
              <a:tblGrid>
                <a:gridCol w="1325880"/>
                <a:gridCol w="4974336"/>
                <a:gridCol w="4974336"/>
              </a:tblGrid>
              <a:tr h="1405890">
                <a:tc>
                  <a:txBody>
                    <a:bodyPr/>
                    <a:lstStyle/>
                    <a:p>
                      <a:pPr algn="ctr"/>
                      <a:r>
                        <a:rPr sz="1600" b="1">
                          <a:solidFill>
                            <a:srgbClr val="F2F2F0"/>
                          </a:solidFill>
                          <a:latin typeface="Barlow Condensed"/>
                        </a:rPr>
                        <a:t>ZONE</a:t>
                      </a:r>
                    </a:p>
                  </a:txBody>
                  <a:tcPr>
                    <a:solidFill>
                      <a:srgbClr val="1A1A1A"/>
                    </a:solidFill>
                  </a:tcPr>
                </a:tc>
                <a:tc>
                  <a:txBody>
                    <a:bodyPr/>
                    <a:lstStyle/>
                    <a:p>
                      <a:pPr algn="ctr"/>
                      <a:r>
                        <a:rPr sz="1600" b="1">
                          <a:solidFill>
                            <a:srgbClr val="FF8C42"/>
                          </a:solidFill>
                          <a:latin typeface="Barlow Condensed"/>
                        </a:rPr>
                        <a:t>TRANSITION  A→D</a:t>
                      </a:r>
                    </a:p>
                  </a:txBody>
                  <a:tcPr>
                    <a:solidFill>
                      <a:srgbClr val="1A0A00"/>
                    </a:solidFill>
                  </a:tcPr>
                </a:tc>
                <a:tc>
                  <a:txBody>
                    <a:bodyPr/>
                    <a:lstStyle/>
                    <a:p>
                      <a:pPr algn="ctr"/>
                      <a:r>
                        <a:rPr sz="1600" b="1">
                          <a:solidFill>
                            <a:srgbClr val="B84FFF"/>
                          </a:solidFill>
                          <a:latin typeface="Barlow Condensed"/>
                        </a:rPr>
                        <a:t>TRANSITION  D→A</a:t>
                      </a:r>
                    </a:p>
                  </a:txBody>
                  <a:tcPr>
                    <a:solidFill>
                      <a:srgbClr val="0A001A"/>
                    </a:solidFill>
                  </a:tcPr>
                </a:tc>
              </a:tr>
              <a:tr h="1405890">
                <a:tc>
                  <a:txBody>
                    <a:bodyPr wrap="square"/>
                    <a:lstStyle/>
                    <a:p>
                      <a:pPr algn="ctr"/>
                      <a:r>
                        <a:rPr sz="1400" b="1">
                          <a:solidFill>
                            <a:srgbClr val="F5C518"/>
                          </a:solidFill>
                          <a:latin typeface="Barlow Condensed"/>
                        </a:rPr>
                        <a:t>ATTACKING 1/3</a:t>
                      </a:r>
                    </a:p>
                  </a:txBody>
                  <a:tcPr>
                    <a:solidFill>
                      <a:srgbClr val="1E1E1E"/>
                    </a:solidFill>
                  </a:tcPr>
                </a:tc>
                <a:tc>
                  <a:txBody>
                    <a:bodyPr wrap="square"/>
                    <a:lstStyle/>
                    <a:p>
                      <a:pPr algn="l"/>
                      <a:r>
                        <a:rPr sz="1200" b="0">
                          <a:solidFill>
                            <a:srgbClr val="F2F2F0"/>
                          </a:solidFill>
                          <a:latin typeface="Inter"/>
                        </a:rPr>
                        <a:t>Pressure player immediately; Numbers behind ball; Ball orientated press; Force play back; When first pressure breaks, drop deep; No pressure, drop/delay</a:t>
                      </a:r>
                    </a:p>
                  </a:txBody>
                  <a:tcPr>
                    <a:solidFill>
                      <a:srgbClr val="141414"/>
                    </a:solidFill>
                  </a:tcPr>
                </a:tc>
                <a:tc>
                  <a:txBody>
                    <a:bodyPr wrap="square"/>
                    <a:lstStyle/>
                    <a:p>
                      <a:pPr algn="l"/>
                      <a:r>
                        <a:rPr sz="1200" b="0">
                          <a:solidFill>
                            <a:srgbClr val="F2F2F0"/>
                          </a:solidFill>
                          <a:latin typeface="Inter"/>
                        </a:rPr>
                        <a:t>Play the highest player on the field if possible; Dribble towards the goal and shoot on target</a:t>
                      </a:r>
                    </a:p>
                  </a:txBody>
                  <a:tcPr>
                    <a:solidFill>
                      <a:srgbClr val="141414"/>
                    </a:solidFill>
                  </a:tcPr>
                </a:tc>
              </a:tr>
              <a:tr h="1405890">
                <a:tc>
                  <a:txBody>
                    <a:bodyPr wrap="square"/>
                    <a:lstStyle/>
                    <a:p>
                      <a:pPr algn="ctr"/>
                      <a:r>
                        <a:rPr sz="1400" b="1">
                          <a:solidFill>
                            <a:srgbClr val="F5C518"/>
                          </a:solidFill>
                          <a:latin typeface="Barlow Condensed"/>
                        </a:rPr>
                        <a:t>MIDFIELD 1/3</a:t>
                      </a:r>
                    </a:p>
                  </a:txBody>
                  <a:tcPr>
                    <a:solidFill>
                      <a:srgbClr val="1E1E1E"/>
                    </a:solidFill>
                  </a:tcPr>
                </a:tc>
                <a:tc>
                  <a:txBody>
                    <a:bodyPr wrap="square"/>
                    <a:lstStyle/>
                    <a:p>
                      <a:pPr algn="l"/>
                      <a:r>
                        <a:rPr sz="1200" b="0">
                          <a:solidFill>
                            <a:srgbClr val="F2F2F0"/>
                          </a:solidFill>
                          <a:latin typeface="Inter"/>
                        </a:rPr>
                        <a:t>Pressure player immediately; Numbers behind ball; Ball orientated press; Force play outside; Zonal defending – don't cross in front or behind each other</a:t>
                      </a:r>
                    </a:p>
                  </a:txBody>
                  <a:tcPr>
                    <a:solidFill>
                      <a:srgbClr val="1C1C1C"/>
                    </a:solidFill>
                  </a:tcPr>
                </a:tc>
                <a:tc>
                  <a:txBody>
                    <a:bodyPr wrap="square"/>
                    <a:lstStyle/>
                    <a:p>
                      <a:pPr algn="l"/>
                      <a:r>
                        <a:rPr sz="1200" b="0">
                          <a:solidFill>
                            <a:srgbClr val="F2F2F0"/>
                          </a:solidFill>
                          <a:latin typeface="Inter"/>
                        </a:rPr>
                        <a:t>Play the first pass to the closest player ahead; Pass backwards if you cannot go forward</a:t>
                      </a:r>
                    </a:p>
                  </a:txBody>
                  <a:tcPr>
                    <a:solidFill>
                      <a:srgbClr val="1C1C1C"/>
                    </a:solidFill>
                  </a:tcPr>
                </a:tc>
              </a:tr>
              <a:tr h="1405890">
                <a:tc>
                  <a:txBody>
                    <a:bodyPr wrap="square"/>
                    <a:lstStyle/>
                    <a:p>
                      <a:pPr algn="ctr"/>
                      <a:r>
                        <a:rPr sz="1400" b="1">
                          <a:solidFill>
                            <a:srgbClr val="F5C518"/>
                          </a:solidFill>
                          <a:latin typeface="Barlow Condensed"/>
                        </a:rPr>
                        <a:t>DEFENDING 1/3</a:t>
                      </a:r>
                    </a:p>
                  </a:txBody>
                  <a:tcPr>
                    <a:solidFill>
                      <a:srgbClr val="1E1E1E"/>
                    </a:solidFill>
                  </a:tcPr>
                </a:tc>
                <a:tc>
                  <a:txBody>
                    <a:bodyPr wrap="square"/>
                    <a:lstStyle/>
                    <a:p>
                      <a:pPr algn="l"/>
                      <a:r>
                        <a:rPr sz="1200" b="0">
                          <a:solidFill>
                            <a:srgbClr val="F2F2F0"/>
                          </a:solidFill>
                          <a:latin typeface="Inter"/>
                        </a:rPr>
                        <a:t>Pressure player immediately; Numbers behind ball; Ball orientated press; Force play outside; Zonal, man to man within box; When pressure breaks, drop deep (edge of D)</a:t>
                      </a:r>
                    </a:p>
                  </a:txBody>
                  <a:tcPr>
                    <a:solidFill>
                      <a:srgbClr val="141414"/>
                    </a:solidFill>
                  </a:tcPr>
                </a:tc>
                <a:tc>
                  <a:txBody>
                    <a:bodyPr wrap="square"/>
                    <a:lstStyle/>
                    <a:p>
                      <a:pPr algn="l"/>
                      <a:r>
                        <a:rPr sz="1200" b="0">
                          <a:solidFill>
                            <a:srgbClr val="F2F2F0"/>
                          </a:solidFill>
                          <a:latin typeface="Inter"/>
                        </a:rPr>
                        <a:t>Play the first pass to the closest player ahead; Pass backwards if you cannot go forward</a:t>
                      </a:r>
                    </a:p>
                  </a:txBody>
                  <a:tcPr>
                    <a:solidFill>
                      <a:srgbClr val="141414"/>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U-15 &amp; U-16 — ATTACKING &amp; DEFENDING</a:t>
            </a:r>
          </a:p>
        </p:txBody>
      </p:sp>
      <p:graphicFrame>
        <p:nvGraphicFramePr>
          <p:cNvPr id="4" name="Table 3"/>
          <p:cNvGraphicFramePr>
            <a:graphicFrameLocks noGrp="1"/>
          </p:cNvGraphicFramePr>
          <p:nvPr/>
        </p:nvGraphicFramePr>
        <p:xfrm>
          <a:off x="457200" y="987552"/>
          <a:ext cx="11274552" cy="5623560"/>
        </p:xfrm>
        <a:graphic>
          <a:graphicData uri="http://schemas.openxmlformats.org/drawingml/2006/table">
            <a:tbl>
              <a:tblPr firstRow="1" bandRow="1">
                <a:tableStyleId>{5C22544A-7EE6-4342-B048-85BDC9FD1C3A}</a:tableStyleId>
              </a:tblPr>
              <a:tblGrid>
                <a:gridCol w="1325880"/>
                <a:gridCol w="4974336"/>
                <a:gridCol w="4974336"/>
              </a:tblGrid>
              <a:tr h="1405890">
                <a:tc>
                  <a:txBody>
                    <a:bodyPr/>
                    <a:lstStyle/>
                    <a:p>
                      <a:pPr algn="ctr"/>
                      <a:r>
                        <a:rPr sz="1600" b="1">
                          <a:solidFill>
                            <a:srgbClr val="F2F2F0"/>
                          </a:solidFill>
                          <a:latin typeface="Barlow Condensed"/>
                        </a:rPr>
                        <a:t>ZONE</a:t>
                      </a:r>
                    </a:p>
                  </a:txBody>
                  <a:tcPr>
                    <a:solidFill>
                      <a:srgbClr val="1A1A1A"/>
                    </a:solidFill>
                  </a:tcPr>
                </a:tc>
                <a:tc>
                  <a:txBody>
                    <a:bodyPr/>
                    <a:lstStyle/>
                    <a:p>
                      <a:pPr algn="ctr"/>
                      <a:r>
                        <a:rPr sz="1600" b="1">
                          <a:solidFill>
                            <a:srgbClr val="F5C518"/>
                          </a:solidFill>
                          <a:latin typeface="Barlow Condensed"/>
                        </a:rPr>
                        <a:t>ATTACKING</a:t>
                      </a:r>
                    </a:p>
                  </a:txBody>
                  <a:tcPr>
                    <a:solidFill>
                      <a:srgbClr val="1A1200"/>
                    </a:solidFill>
                  </a:tcPr>
                </a:tc>
                <a:tc>
                  <a:txBody>
                    <a:bodyPr/>
                    <a:lstStyle/>
                    <a:p>
                      <a:pPr algn="ctr"/>
                      <a:r>
                        <a:rPr sz="1600" b="1">
                          <a:solidFill>
                            <a:srgbClr val="00D4E4"/>
                          </a:solidFill>
                          <a:latin typeface="Barlow Condensed"/>
                        </a:rPr>
                        <a:t>DEFENDING</a:t>
                      </a:r>
                    </a:p>
                  </a:txBody>
                  <a:tcPr>
                    <a:solidFill>
                      <a:srgbClr val="001A1A"/>
                    </a:solidFill>
                  </a:tcPr>
                </a:tc>
              </a:tr>
              <a:tr h="1405890">
                <a:tc>
                  <a:txBody>
                    <a:bodyPr wrap="square"/>
                    <a:lstStyle/>
                    <a:p>
                      <a:pPr algn="ctr"/>
                      <a:r>
                        <a:rPr sz="1400" b="1">
                          <a:solidFill>
                            <a:srgbClr val="F5C518"/>
                          </a:solidFill>
                          <a:latin typeface="Barlow Condensed"/>
                        </a:rPr>
                        <a:t>ATTACKING 1/3</a:t>
                      </a:r>
                    </a:p>
                  </a:txBody>
                  <a:tcPr>
                    <a:solidFill>
                      <a:srgbClr val="1E1E1E"/>
                    </a:solidFill>
                  </a:tcPr>
                </a:tc>
                <a:tc>
                  <a:txBody>
                    <a:bodyPr wrap="square"/>
                    <a:lstStyle/>
                    <a:p>
                      <a:pPr algn="l"/>
                      <a:r>
                        <a:rPr sz="1200" b="0">
                          <a:solidFill>
                            <a:srgbClr val="F2F2F0"/>
                          </a:solidFill>
                          <a:latin typeface="Inter"/>
                        </a:rPr>
                        <a:t>Vary the type of runs to get behind/between last defenders; Find key players; Utilize space and triangulate to create passing options; Get numbers in the box; Find separation = creating space</a:t>
                      </a:r>
                    </a:p>
                  </a:txBody>
                  <a:tcPr>
                    <a:solidFill>
                      <a:srgbClr val="141414"/>
                    </a:solidFill>
                  </a:tcPr>
                </a:tc>
                <a:tc>
                  <a:txBody>
                    <a:bodyPr wrap="square"/>
                    <a:lstStyle/>
                    <a:p>
                      <a:pPr algn="l"/>
                      <a:r>
                        <a:rPr sz="1200" b="0">
                          <a:solidFill>
                            <a:srgbClr val="F2F2F0"/>
                          </a:solidFill>
                          <a:latin typeface="Inter"/>
                        </a:rPr>
                        <a:t>Stay compact — Vertical 5–7 yds, Horizontal 3–5 yds; Get behind the ball, force play wide; Pressure the player on the ball; In box man&gt;zone, outside the box zone&gt;man</a:t>
                      </a:r>
                    </a:p>
                  </a:txBody>
                  <a:tcPr>
                    <a:solidFill>
                      <a:srgbClr val="141414"/>
                    </a:solidFill>
                  </a:tcPr>
                </a:tc>
              </a:tr>
              <a:tr h="1405890">
                <a:tc>
                  <a:txBody>
                    <a:bodyPr wrap="square"/>
                    <a:lstStyle/>
                    <a:p>
                      <a:pPr algn="ctr"/>
                      <a:r>
                        <a:rPr sz="1400" b="1">
                          <a:solidFill>
                            <a:srgbClr val="F5C518"/>
                          </a:solidFill>
                          <a:latin typeface="Barlow Condensed"/>
                        </a:rPr>
                        <a:t>MIDFIELD 1/3</a:t>
                      </a:r>
                    </a:p>
                  </a:txBody>
                  <a:tcPr>
                    <a:solidFill>
                      <a:srgbClr val="1E1E1E"/>
                    </a:solidFill>
                  </a:tcPr>
                </a:tc>
                <a:tc>
                  <a:txBody>
                    <a:bodyPr wrap="square"/>
                    <a:lstStyle/>
                    <a:p>
                      <a:pPr algn="l"/>
                      <a:r>
                        <a:rPr sz="1200" b="0">
                          <a:solidFill>
                            <a:srgbClr val="F2F2F0"/>
                          </a:solidFill>
                          <a:latin typeface="Inter"/>
                        </a:rPr>
                        <a:t>Movement of players to create numbers up; Wide players occupying different channels (full backs/wingers); Utilize space and triangulate; Create #s up one side to exploit opposite side isolation (1v1, open space)</a:t>
                      </a:r>
                    </a:p>
                  </a:txBody>
                  <a:tcPr>
                    <a:solidFill>
                      <a:srgbClr val="1C1C1C"/>
                    </a:solidFill>
                  </a:tcPr>
                </a:tc>
                <a:tc>
                  <a:txBody>
                    <a:bodyPr wrap="square"/>
                    <a:lstStyle/>
                    <a:p>
                      <a:pPr algn="l"/>
                      <a:r>
                        <a:rPr sz="1200" b="0">
                          <a:solidFill>
                            <a:srgbClr val="F2F2F0"/>
                          </a:solidFill>
                          <a:latin typeface="Inter"/>
                        </a:rPr>
                        <a:t>Keep ball in front, force play wide; Pressure player in your zone; Zonal defending – don't cross in front or behind; Stay compact — Vertical 8–10 yds, Horizontal 5–7 yds</a:t>
                      </a:r>
                    </a:p>
                  </a:txBody>
                  <a:tcPr>
                    <a:solidFill>
                      <a:srgbClr val="1C1C1C"/>
                    </a:solidFill>
                  </a:tcPr>
                </a:tc>
              </a:tr>
              <a:tr h="1405890">
                <a:tc>
                  <a:txBody>
                    <a:bodyPr wrap="square"/>
                    <a:lstStyle/>
                    <a:p>
                      <a:pPr algn="ctr"/>
                      <a:r>
                        <a:rPr sz="1400" b="1">
                          <a:solidFill>
                            <a:srgbClr val="F5C518"/>
                          </a:solidFill>
                          <a:latin typeface="Barlow Condensed"/>
                        </a:rPr>
                        <a:t>DEFENDING 1/3</a:t>
                      </a:r>
                    </a:p>
                  </a:txBody>
                  <a:tcPr>
                    <a:solidFill>
                      <a:srgbClr val="1E1E1E"/>
                    </a:solidFill>
                  </a:tcPr>
                </a:tc>
                <a:tc>
                  <a:txBody>
                    <a:bodyPr wrap="square"/>
                    <a:lstStyle/>
                    <a:p>
                      <a:pPr algn="l"/>
                      <a:r>
                        <a:rPr sz="1200" b="0">
                          <a:solidFill>
                            <a:srgbClr val="F2F2F0"/>
                          </a:solidFill>
                          <a:latin typeface="Inter"/>
                        </a:rPr>
                        <a:t>Create numbers up to advance ball; Break first line of defenders on dribble or pass; Create diagonal passing lanes; Getting unmarked; Occupy 5 vertical lanes with 5 defenders (Appropriate spacing of back 5)</a:t>
                      </a:r>
                    </a:p>
                  </a:txBody>
                  <a:tcPr>
                    <a:solidFill>
                      <a:srgbClr val="141414"/>
                    </a:solidFill>
                  </a:tcPr>
                </a:tc>
                <a:tc>
                  <a:txBody>
                    <a:bodyPr wrap="square"/>
                    <a:lstStyle/>
                    <a:p>
                      <a:pPr algn="l"/>
                      <a:r>
                        <a:rPr sz="1200" b="0">
                          <a:solidFill>
                            <a:srgbClr val="F2F2F0"/>
                          </a:solidFill>
                          <a:latin typeface="Inter"/>
                        </a:rPr>
                        <a:t>Stay compact — Vertical 5–7 yds, Horizontal 3–5 yds; Get behind the ball, force play wide; Pressure the player on the ball; In box man&gt;zone, outside the box zone&gt;man</a:t>
                      </a:r>
                    </a:p>
                  </a:txBody>
                  <a:tcPr>
                    <a:solidFill>
                      <a:srgbClr val="141414"/>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U-15 &amp; U-16 — TRANSITIONS  (A→D  &amp;  D→A)</a:t>
            </a:r>
          </a:p>
        </p:txBody>
      </p:sp>
      <p:graphicFrame>
        <p:nvGraphicFramePr>
          <p:cNvPr id="4" name="Table 3"/>
          <p:cNvGraphicFramePr>
            <a:graphicFrameLocks noGrp="1"/>
          </p:cNvGraphicFramePr>
          <p:nvPr/>
        </p:nvGraphicFramePr>
        <p:xfrm>
          <a:off x="457200" y="987552"/>
          <a:ext cx="11274552" cy="5623560"/>
        </p:xfrm>
        <a:graphic>
          <a:graphicData uri="http://schemas.openxmlformats.org/drawingml/2006/table">
            <a:tbl>
              <a:tblPr firstRow="1" bandRow="1">
                <a:tableStyleId>{5C22544A-7EE6-4342-B048-85BDC9FD1C3A}</a:tableStyleId>
              </a:tblPr>
              <a:tblGrid>
                <a:gridCol w="1325880"/>
                <a:gridCol w="4974336"/>
                <a:gridCol w="4974336"/>
              </a:tblGrid>
              <a:tr h="1405890">
                <a:tc>
                  <a:txBody>
                    <a:bodyPr/>
                    <a:lstStyle/>
                    <a:p>
                      <a:pPr algn="ctr"/>
                      <a:r>
                        <a:rPr sz="1600" b="1">
                          <a:solidFill>
                            <a:srgbClr val="F2F2F0"/>
                          </a:solidFill>
                          <a:latin typeface="Barlow Condensed"/>
                        </a:rPr>
                        <a:t>ZONE</a:t>
                      </a:r>
                    </a:p>
                  </a:txBody>
                  <a:tcPr>
                    <a:solidFill>
                      <a:srgbClr val="1A1A1A"/>
                    </a:solidFill>
                  </a:tcPr>
                </a:tc>
                <a:tc>
                  <a:txBody>
                    <a:bodyPr/>
                    <a:lstStyle/>
                    <a:p>
                      <a:pPr algn="ctr"/>
                      <a:r>
                        <a:rPr sz="1600" b="1">
                          <a:solidFill>
                            <a:srgbClr val="FF8C42"/>
                          </a:solidFill>
                          <a:latin typeface="Barlow Condensed"/>
                        </a:rPr>
                        <a:t>TRANSITION  A→D</a:t>
                      </a:r>
                    </a:p>
                  </a:txBody>
                  <a:tcPr>
                    <a:solidFill>
                      <a:srgbClr val="1A0A00"/>
                    </a:solidFill>
                  </a:tcPr>
                </a:tc>
                <a:tc>
                  <a:txBody>
                    <a:bodyPr/>
                    <a:lstStyle/>
                    <a:p>
                      <a:pPr algn="ctr"/>
                      <a:r>
                        <a:rPr sz="1600" b="1">
                          <a:solidFill>
                            <a:srgbClr val="B84FFF"/>
                          </a:solidFill>
                          <a:latin typeface="Barlow Condensed"/>
                        </a:rPr>
                        <a:t>TRANSITION  D→A</a:t>
                      </a:r>
                    </a:p>
                  </a:txBody>
                  <a:tcPr>
                    <a:solidFill>
                      <a:srgbClr val="0A001A"/>
                    </a:solidFill>
                  </a:tcPr>
                </a:tc>
              </a:tr>
              <a:tr h="1405890">
                <a:tc>
                  <a:txBody>
                    <a:bodyPr wrap="square"/>
                    <a:lstStyle/>
                    <a:p>
                      <a:pPr algn="ctr"/>
                      <a:r>
                        <a:rPr sz="1400" b="1">
                          <a:solidFill>
                            <a:srgbClr val="F5C518"/>
                          </a:solidFill>
                          <a:latin typeface="Barlow Condensed"/>
                        </a:rPr>
                        <a:t>ATTACKING 1/3</a:t>
                      </a:r>
                    </a:p>
                  </a:txBody>
                  <a:tcPr>
                    <a:solidFill>
                      <a:srgbClr val="1E1E1E"/>
                    </a:solidFill>
                  </a:tcPr>
                </a:tc>
                <a:tc>
                  <a:txBody>
                    <a:bodyPr wrap="square"/>
                    <a:lstStyle/>
                    <a:p>
                      <a:pPr algn="l"/>
                      <a:r>
                        <a:rPr sz="1200" b="0">
                          <a:solidFill>
                            <a:srgbClr val="F2F2F0"/>
                          </a:solidFill>
                          <a:latin typeface="Inter"/>
                        </a:rPr>
                        <a:t>Pressure player immediately; Numbers behind ball; Ball orientated press; Force play back; When first pressure breaks, drop deep; No pressure, drop/delay</a:t>
                      </a:r>
                    </a:p>
                  </a:txBody>
                  <a:tcPr>
                    <a:solidFill>
                      <a:srgbClr val="141414"/>
                    </a:solidFill>
                  </a:tcPr>
                </a:tc>
                <a:tc>
                  <a:txBody>
                    <a:bodyPr wrap="square"/>
                    <a:lstStyle/>
                    <a:p>
                      <a:pPr algn="l"/>
                      <a:r>
                        <a:rPr sz="1200" b="0">
                          <a:solidFill>
                            <a:srgbClr val="F2F2F0"/>
                          </a:solidFill>
                          <a:latin typeface="Inter"/>
                        </a:rPr>
                        <a:t>Play the most goal dangerous pass immediately; Dribble toward goal and shoot on target</a:t>
                      </a:r>
                    </a:p>
                  </a:txBody>
                  <a:tcPr>
                    <a:solidFill>
                      <a:srgbClr val="141414"/>
                    </a:solidFill>
                  </a:tcPr>
                </a:tc>
              </a:tr>
              <a:tr h="1405890">
                <a:tc>
                  <a:txBody>
                    <a:bodyPr wrap="square"/>
                    <a:lstStyle/>
                    <a:p>
                      <a:pPr algn="ctr"/>
                      <a:r>
                        <a:rPr sz="1400" b="1">
                          <a:solidFill>
                            <a:srgbClr val="F5C518"/>
                          </a:solidFill>
                          <a:latin typeface="Barlow Condensed"/>
                        </a:rPr>
                        <a:t>MIDFIELD 1/3</a:t>
                      </a:r>
                    </a:p>
                  </a:txBody>
                  <a:tcPr>
                    <a:solidFill>
                      <a:srgbClr val="1E1E1E"/>
                    </a:solidFill>
                  </a:tcPr>
                </a:tc>
                <a:tc>
                  <a:txBody>
                    <a:bodyPr wrap="square"/>
                    <a:lstStyle/>
                    <a:p>
                      <a:pPr algn="l"/>
                      <a:r>
                        <a:rPr sz="1200" b="0">
                          <a:solidFill>
                            <a:srgbClr val="F2F2F0"/>
                          </a:solidFill>
                          <a:latin typeface="Inter"/>
                        </a:rPr>
                        <a:t>Pressure player immediately; Numbers behind ball; Ball orientated press; Force play outside; Zonal defending – don't cross in front or behind each other</a:t>
                      </a:r>
                    </a:p>
                  </a:txBody>
                  <a:tcPr>
                    <a:solidFill>
                      <a:srgbClr val="1C1C1C"/>
                    </a:solidFill>
                  </a:tcPr>
                </a:tc>
                <a:tc>
                  <a:txBody>
                    <a:bodyPr wrap="square"/>
                    <a:lstStyle/>
                    <a:p>
                      <a:pPr algn="l"/>
                      <a:r>
                        <a:rPr sz="1200" b="0">
                          <a:solidFill>
                            <a:srgbClr val="F2F2F0"/>
                          </a:solidFill>
                          <a:latin typeface="Inter"/>
                        </a:rPr>
                        <a:t>Play the first pass to the closest player ahead; Keep the ball if you can't play forward</a:t>
                      </a:r>
                    </a:p>
                  </a:txBody>
                  <a:tcPr>
                    <a:solidFill>
                      <a:srgbClr val="1C1C1C"/>
                    </a:solidFill>
                  </a:tcPr>
                </a:tc>
              </a:tr>
              <a:tr h="1405890">
                <a:tc>
                  <a:txBody>
                    <a:bodyPr wrap="square"/>
                    <a:lstStyle/>
                    <a:p>
                      <a:pPr algn="ctr"/>
                      <a:r>
                        <a:rPr sz="1400" b="1">
                          <a:solidFill>
                            <a:srgbClr val="F5C518"/>
                          </a:solidFill>
                          <a:latin typeface="Barlow Condensed"/>
                        </a:rPr>
                        <a:t>DEFENDING 1/3</a:t>
                      </a:r>
                    </a:p>
                  </a:txBody>
                  <a:tcPr>
                    <a:solidFill>
                      <a:srgbClr val="1E1E1E"/>
                    </a:solidFill>
                  </a:tcPr>
                </a:tc>
                <a:tc>
                  <a:txBody>
                    <a:bodyPr wrap="square"/>
                    <a:lstStyle/>
                    <a:p>
                      <a:pPr algn="l"/>
                      <a:r>
                        <a:rPr sz="1200" b="0">
                          <a:solidFill>
                            <a:srgbClr val="F2F2F0"/>
                          </a:solidFill>
                          <a:latin typeface="Inter"/>
                        </a:rPr>
                        <a:t>Pressure the ball immediately; Numbers behind ball; Ball orientated press; Force play outside; Zonal, man to man within box; When pressure breaks, drop deep (edge of D)</a:t>
                      </a:r>
                    </a:p>
                  </a:txBody>
                  <a:tcPr>
                    <a:solidFill>
                      <a:srgbClr val="141414"/>
                    </a:solidFill>
                  </a:tcPr>
                </a:tc>
                <a:tc>
                  <a:txBody>
                    <a:bodyPr wrap="square"/>
                    <a:lstStyle/>
                    <a:p>
                      <a:pPr algn="l"/>
                      <a:r>
                        <a:rPr sz="1200" b="0">
                          <a:solidFill>
                            <a:srgbClr val="F2F2F0"/>
                          </a:solidFill>
                          <a:latin typeface="Inter"/>
                        </a:rPr>
                        <a:t>Play the first pass to the closest player ahead; Keep the ball if you can't play forward</a:t>
                      </a:r>
                    </a:p>
                  </a:txBody>
                  <a:tcPr>
                    <a:solidFill>
                      <a:srgbClr val="14141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U-17, U-18 &amp; U-19 — ATTACKING &amp; DEFENDING</a:t>
            </a:r>
          </a:p>
        </p:txBody>
      </p:sp>
      <p:graphicFrame>
        <p:nvGraphicFramePr>
          <p:cNvPr id="4" name="Table 3"/>
          <p:cNvGraphicFramePr>
            <a:graphicFrameLocks noGrp="1"/>
          </p:cNvGraphicFramePr>
          <p:nvPr/>
        </p:nvGraphicFramePr>
        <p:xfrm>
          <a:off x="457200" y="987552"/>
          <a:ext cx="11274552" cy="5623560"/>
        </p:xfrm>
        <a:graphic>
          <a:graphicData uri="http://schemas.openxmlformats.org/drawingml/2006/table">
            <a:tbl>
              <a:tblPr firstRow="1" bandRow="1">
                <a:tableStyleId>{5C22544A-7EE6-4342-B048-85BDC9FD1C3A}</a:tableStyleId>
              </a:tblPr>
              <a:tblGrid>
                <a:gridCol w="1325880"/>
                <a:gridCol w="4974336"/>
                <a:gridCol w="4974336"/>
              </a:tblGrid>
              <a:tr h="1405890">
                <a:tc>
                  <a:txBody>
                    <a:bodyPr/>
                    <a:lstStyle/>
                    <a:p>
                      <a:pPr algn="ctr"/>
                      <a:r>
                        <a:rPr sz="1600" b="1">
                          <a:solidFill>
                            <a:srgbClr val="F2F2F0"/>
                          </a:solidFill>
                          <a:latin typeface="Barlow Condensed"/>
                        </a:rPr>
                        <a:t>ZONE</a:t>
                      </a:r>
                    </a:p>
                  </a:txBody>
                  <a:tcPr>
                    <a:solidFill>
                      <a:srgbClr val="1A1A1A"/>
                    </a:solidFill>
                  </a:tcPr>
                </a:tc>
                <a:tc>
                  <a:txBody>
                    <a:bodyPr/>
                    <a:lstStyle/>
                    <a:p>
                      <a:pPr algn="ctr"/>
                      <a:r>
                        <a:rPr sz="1600" b="1">
                          <a:solidFill>
                            <a:srgbClr val="F5C518"/>
                          </a:solidFill>
                          <a:latin typeface="Barlow Condensed"/>
                        </a:rPr>
                        <a:t>ATTACKING</a:t>
                      </a:r>
                    </a:p>
                  </a:txBody>
                  <a:tcPr>
                    <a:solidFill>
                      <a:srgbClr val="1A1200"/>
                    </a:solidFill>
                  </a:tcPr>
                </a:tc>
                <a:tc>
                  <a:txBody>
                    <a:bodyPr/>
                    <a:lstStyle/>
                    <a:p>
                      <a:pPr algn="ctr"/>
                      <a:r>
                        <a:rPr sz="1600" b="1">
                          <a:solidFill>
                            <a:srgbClr val="00D4E4"/>
                          </a:solidFill>
                          <a:latin typeface="Barlow Condensed"/>
                        </a:rPr>
                        <a:t>DEFENDING</a:t>
                      </a:r>
                    </a:p>
                  </a:txBody>
                  <a:tcPr>
                    <a:solidFill>
                      <a:srgbClr val="001A1A"/>
                    </a:solidFill>
                  </a:tcPr>
                </a:tc>
              </a:tr>
              <a:tr h="1405890">
                <a:tc>
                  <a:txBody>
                    <a:bodyPr wrap="square"/>
                    <a:lstStyle/>
                    <a:p>
                      <a:pPr algn="ctr"/>
                      <a:r>
                        <a:rPr sz="1400" b="1">
                          <a:solidFill>
                            <a:srgbClr val="F5C518"/>
                          </a:solidFill>
                          <a:latin typeface="Barlow Condensed"/>
                        </a:rPr>
                        <a:t>ATTACKING 1/3</a:t>
                      </a:r>
                    </a:p>
                  </a:txBody>
                  <a:tcPr>
                    <a:solidFill>
                      <a:srgbClr val="1E1E1E"/>
                    </a:solidFill>
                  </a:tcPr>
                </a:tc>
                <a:tc>
                  <a:txBody>
                    <a:bodyPr wrap="square"/>
                    <a:lstStyle/>
                    <a:p>
                      <a:pPr algn="l"/>
                      <a:r>
                        <a:rPr sz="1200" b="0">
                          <a:solidFill>
                            <a:srgbClr val="F2F2F0"/>
                          </a:solidFill>
                          <a:latin typeface="Inter"/>
                        </a:rPr>
                        <a:t>Vary the type of runs to get behind/between last defenders; Find key players; Utilize space and triangulate to create passing options; Get numbers in the box; Find separation = creating space</a:t>
                      </a:r>
                    </a:p>
                  </a:txBody>
                  <a:tcPr>
                    <a:solidFill>
                      <a:srgbClr val="141414"/>
                    </a:solidFill>
                  </a:tcPr>
                </a:tc>
                <a:tc>
                  <a:txBody>
                    <a:bodyPr wrap="square"/>
                    <a:lstStyle/>
                    <a:p>
                      <a:pPr algn="l"/>
                      <a:r>
                        <a:rPr sz="1200" b="0">
                          <a:solidFill>
                            <a:srgbClr val="F2F2F0"/>
                          </a:solidFill>
                          <a:latin typeface="Inter"/>
                        </a:rPr>
                        <a:t>Stay compact — Vertical 5–7 yds, Horizontal 3–5 yds; Get behind the ball, force play wide; Pressure the player on the ball; In box man&gt;zone, outside the box zone&gt;man</a:t>
                      </a:r>
                    </a:p>
                  </a:txBody>
                  <a:tcPr>
                    <a:solidFill>
                      <a:srgbClr val="141414"/>
                    </a:solidFill>
                  </a:tcPr>
                </a:tc>
              </a:tr>
              <a:tr h="1405890">
                <a:tc>
                  <a:txBody>
                    <a:bodyPr wrap="square"/>
                    <a:lstStyle/>
                    <a:p>
                      <a:pPr algn="ctr"/>
                      <a:r>
                        <a:rPr sz="1400" b="1">
                          <a:solidFill>
                            <a:srgbClr val="F5C518"/>
                          </a:solidFill>
                          <a:latin typeface="Barlow Condensed"/>
                        </a:rPr>
                        <a:t>MIDFIELD 1/3</a:t>
                      </a:r>
                    </a:p>
                  </a:txBody>
                  <a:tcPr>
                    <a:solidFill>
                      <a:srgbClr val="1E1E1E"/>
                    </a:solidFill>
                  </a:tcPr>
                </a:tc>
                <a:tc>
                  <a:txBody>
                    <a:bodyPr wrap="square"/>
                    <a:lstStyle/>
                    <a:p>
                      <a:pPr algn="l"/>
                      <a:r>
                        <a:rPr sz="1200" b="0">
                          <a:solidFill>
                            <a:srgbClr val="F2F2F0"/>
                          </a:solidFill>
                          <a:latin typeface="Inter"/>
                        </a:rPr>
                        <a:t>Movement of players to create numbers up; Wide players occupying different channels (full backs/wingers); Utilize space and triangulate; Create #s up one side to exploit opposite side isolation (1v1, open space)</a:t>
                      </a:r>
                    </a:p>
                  </a:txBody>
                  <a:tcPr>
                    <a:solidFill>
                      <a:srgbClr val="1C1C1C"/>
                    </a:solidFill>
                  </a:tcPr>
                </a:tc>
                <a:tc>
                  <a:txBody>
                    <a:bodyPr wrap="square"/>
                    <a:lstStyle/>
                    <a:p>
                      <a:pPr algn="l"/>
                      <a:r>
                        <a:rPr sz="1200" b="0">
                          <a:solidFill>
                            <a:srgbClr val="F2F2F0"/>
                          </a:solidFill>
                          <a:latin typeface="Inter"/>
                        </a:rPr>
                        <a:t>Keep ball in front, force play wide; Pressure player in your zone; Zonal defending – don't cross in front or behind; Stay compact — Vertical 8–10 yds, Horizontal 5–7 yds</a:t>
                      </a:r>
                    </a:p>
                  </a:txBody>
                  <a:tcPr>
                    <a:solidFill>
                      <a:srgbClr val="1C1C1C"/>
                    </a:solidFill>
                  </a:tcPr>
                </a:tc>
              </a:tr>
              <a:tr h="1405890">
                <a:tc>
                  <a:txBody>
                    <a:bodyPr wrap="square"/>
                    <a:lstStyle/>
                    <a:p>
                      <a:pPr algn="ctr"/>
                      <a:r>
                        <a:rPr sz="1400" b="1">
                          <a:solidFill>
                            <a:srgbClr val="F5C518"/>
                          </a:solidFill>
                          <a:latin typeface="Barlow Condensed"/>
                        </a:rPr>
                        <a:t>DEFENDING 1/3</a:t>
                      </a:r>
                    </a:p>
                  </a:txBody>
                  <a:tcPr>
                    <a:solidFill>
                      <a:srgbClr val="1E1E1E"/>
                    </a:solidFill>
                  </a:tcPr>
                </a:tc>
                <a:tc>
                  <a:txBody>
                    <a:bodyPr wrap="square"/>
                    <a:lstStyle/>
                    <a:p>
                      <a:pPr algn="l"/>
                      <a:r>
                        <a:rPr sz="1200" b="0">
                          <a:solidFill>
                            <a:srgbClr val="F2F2F0"/>
                          </a:solidFill>
                          <a:latin typeface="Inter"/>
                        </a:rPr>
                        <a:t>Create numbers up to advance ball; Break first line of defenders on dribble or pass; Create diagonal passing lanes; Getting unmarked; Occupy 5 vertical lanes with 5 defenders (Appropriate spacing of back 5)</a:t>
                      </a:r>
                    </a:p>
                  </a:txBody>
                  <a:tcPr>
                    <a:solidFill>
                      <a:srgbClr val="141414"/>
                    </a:solidFill>
                  </a:tcPr>
                </a:tc>
                <a:tc>
                  <a:txBody>
                    <a:bodyPr wrap="square"/>
                    <a:lstStyle/>
                    <a:p>
                      <a:pPr algn="l"/>
                      <a:r>
                        <a:rPr sz="1200" b="0">
                          <a:solidFill>
                            <a:srgbClr val="F2F2F0"/>
                          </a:solidFill>
                          <a:latin typeface="Inter"/>
                        </a:rPr>
                        <a:t>Stay compact — Vertical 5–7 yds, Horizontal 3–5 yds; Get behind the ball, force play wide; Pressure the player on the ball; In box man&gt;zone, outside the box zone&gt;man</a:t>
                      </a:r>
                    </a:p>
                  </a:txBody>
                  <a:tcPr>
                    <a:solidFill>
                      <a:srgbClr val="141414"/>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48640"/>
          </a:xfrm>
          <a:prstGeom prst="rect">
            <a:avLst/>
          </a:prstGeom>
          <a:noFill/>
        </p:spPr>
        <p:txBody>
          <a:bodyPr wrap="square">
            <a:spAutoFit/>
          </a:bodyPr>
          <a:lstStyle/>
          <a:p>
            <a:pPr algn="l"/>
            <a:r>
              <a:rPr sz="3600" b="1">
                <a:solidFill>
                  <a:srgbClr val="F5C518"/>
                </a:solidFill>
                <a:latin typeface="Barlow Condensed"/>
              </a:rPr>
              <a:t>U-17, U-18 &amp; U-19 — TRANSITIONS  (A→D  &amp;  D→A)</a:t>
            </a:r>
          </a:p>
        </p:txBody>
      </p:sp>
      <p:graphicFrame>
        <p:nvGraphicFramePr>
          <p:cNvPr id="4" name="Table 3"/>
          <p:cNvGraphicFramePr>
            <a:graphicFrameLocks noGrp="1"/>
          </p:cNvGraphicFramePr>
          <p:nvPr/>
        </p:nvGraphicFramePr>
        <p:xfrm>
          <a:off x="457200" y="987552"/>
          <a:ext cx="11274552" cy="5623560"/>
        </p:xfrm>
        <a:graphic>
          <a:graphicData uri="http://schemas.openxmlformats.org/drawingml/2006/table">
            <a:tbl>
              <a:tblPr firstRow="1" bandRow="1">
                <a:tableStyleId>{5C22544A-7EE6-4342-B048-85BDC9FD1C3A}</a:tableStyleId>
              </a:tblPr>
              <a:tblGrid>
                <a:gridCol w="1325880"/>
                <a:gridCol w="4974336"/>
                <a:gridCol w="4974336"/>
              </a:tblGrid>
              <a:tr h="1405890">
                <a:tc>
                  <a:txBody>
                    <a:bodyPr/>
                    <a:lstStyle/>
                    <a:p>
                      <a:pPr algn="ctr"/>
                      <a:r>
                        <a:rPr sz="1600" b="1">
                          <a:solidFill>
                            <a:srgbClr val="F2F2F0"/>
                          </a:solidFill>
                          <a:latin typeface="Barlow Condensed"/>
                        </a:rPr>
                        <a:t>ZONE</a:t>
                      </a:r>
                    </a:p>
                  </a:txBody>
                  <a:tcPr>
                    <a:solidFill>
                      <a:srgbClr val="1A1A1A"/>
                    </a:solidFill>
                  </a:tcPr>
                </a:tc>
                <a:tc>
                  <a:txBody>
                    <a:bodyPr/>
                    <a:lstStyle/>
                    <a:p>
                      <a:pPr algn="ctr"/>
                      <a:r>
                        <a:rPr sz="1600" b="1">
                          <a:solidFill>
                            <a:srgbClr val="FF8C42"/>
                          </a:solidFill>
                          <a:latin typeface="Barlow Condensed"/>
                        </a:rPr>
                        <a:t>TRANSITION  A→D</a:t>
                      </a:r>
                    </a:p>
                  </a:txBody>
                  <a:tcPr>
                    <a:solidFill>
                      <a:srgbClr val="1A0A00"/>
                    </a:solidFill>
                  </a:tcPr>
                </a:tc>
                <a:tc>
                  <a:txBody>
                    <a:bodyPr/>
                    <a:lstStyle/>
                    <a:p>
                      <a:pPr algn="ctr"/>
                      <a:r>
                        <a:rPr sz="1600" b="1">
                          <a:solidFill>
                            <a:srgbClr val="B84FFF"/>
                          </a:solidFill>
                          <a:latin typeface="Barlow Condensed"/>
                        </a:rPr>
                        <a:t>TRANSITION  D→A</a:t>
                      </a:r>
                    </a:p>
                  </a:txBody>
                  <a:tcPr>
                    <a:solidFill>
                      <a:srgbClr val="0A001A"/>
                    </a:solidFill>
                  </a:tcPr>
                </a:tc>
              </a:tr>
              <a:tr h="1405890">
                <a:tc>
                  <a:txBody>
                    <a:bodyPr wrap="square"/>
                    <a:lstStyle/>
                    <a:p>
                      <a:pPr algn="ctr"/>
                      <a:r>
                        <a:rPr sz="1400" b="1">
                          <a:solidFill>
                            <a:srgbClr val="F5C518"/>
                          </a:solidFill>
                          <a:latin typeface="Barlow Condensed"/>
                        </a:rPr>
                        <a:t>ATTACKING 1/3</a:t>
                      </a:r>
                    </a:p>
                  </a:txBody>
                  <a:tcPr>
                    <a:solidFill>
                      <a:srgbClr val="1E1E1E"/>
                    </a:solidFill>
                  </a:tcPr>
                </a:tc>
                <a:tc>
                  <a:txBody>
                    <a:bodyPr wrap="square"/>
                    <a:lstStyle/>
                    <a:p>
                      <a:pPr algn="l"/>
                      <a:r>
                        <a:rPr sz="1200" b="0">
                          <a:solidFill>
                            <a:srgbClr val="F2F2F0"/>
                          </a:solidFill>
                          <a:latin typeface="Inter"/>
                        </a:rPr>
                        <a:t>Pressure player immediately; Numbers behind ball; Ball orientated press; Force play back; When first pressure breaks, drop deep; No pressure, drop/delay</a:t>
                      </a:r>
                    </a:p>
                  </a:txBody>
                  <a:tcPr>
                    <a:solidFill>
                      <a:srgbClr val="141414"/>
                    </a:solidFill>
                  </a:tcPr>
                </a:tc>
                <a:tc>
                  <a:txBody>
                    <a:bodyPr wrap="square"/>
                    <a:lstStyle/>
                    <a:p>
                      <a:pPr algn="l"/>
                      <a:r>
                        <a:rPr sz="1200" b="0">
                          <a:solidFill>
                            <a:srgbClr val="F2F2F0"/>
                          </a:solidFill>
                          <a:latin typeface="Inter"/>
                        </a:rPr>
                        <a:t>Play the most goal dangerous pass immediately; Dribble toward goal and shoot on target</a:t>
                      </a:r>
                    </a:p>
                  </a:txBody>
                  <a:tcPr>
                    <a:solidFill>
                      <a:srgbClr val="141414"/>
                    </a:solidFill>
                  </a:tcPr>
                </a:tc>
              </a:tr>
              <a:tr h="1405890">
                <a:tc>
                  <a:txBody>
                    <a:bodyPr wrap="square"/>
                    <a:lstStyle/>
                    <a:p>
                      <a:pPr algn="ctr"/>
                      <a:r>
                        <a:rPr sz="1400" b="1">
                          <a:solidFill>
                            <a:srgbClr val="F5C518"/>
                          </a:solidFill>
                          <a:latin typeface="Barlow Condensed"/>
                        </a:rPr>
                        <a:t>MIDFIELD 1/3</a:t>
                      </a:r>
                    </a:p>
                  </a:txBody>
                  <a:tcPr>
                    <a:solidFill>
                      <a:srgbClr val="1E1E1E"/>
                    </a:solidFill>
                  </a:tcPr>
                </a:tc>
                <a:tc>
                  <a:txBody>
                    <a:bodyPr wrap="square"/>
                    <a:lstStyle/>
                    <a:p>
                      <a:pPr algn="l"/>
                      <a:r>
                        <a:rPr sz="1200" b="0">
                          <a:solidFill>
                            <a:srgbClr val="F2F2F0"/>
                          </a:solidFill>
                          <a:latin typeface="Inter"/>
                        </a:rPr>
                        <a:t>Pressure player immediately; Numbers behind ball; Ball orientated press; Force play outside; Zonal defending – don't cross in front or behind each other</a:t>
                      </a:r>
                    </a:p>
                  </a:txBody>
                  <a:tcPr>
                    <a:solidFill>
                      <a:srgbClr val="1C1C1C"/>
                    </a:solidFill>
                  </a:tcPr>
                </a:tc>
                <a:tc>
                  <a:txBody>
                    <a:bodyPr wrap="square"/>
                    <a:lstStyle/>
                    <a:p>
                      <a:pPr algn="l"/>
                      <a:r>
                        <a:rPr sz="1200" b="0">
                          <a:solidFill>
                            <a:srgbClr val="F2F2F0"/>
                          </a:solidFill>
                          <a:latin typeface="Inter"/>
                        </a:rPr>
                        <a:t>Play the first pass to the closest player ahead; Keep the ball if you can't play forward</a:t>
                      </a:r>
                    </a:p>
                  </a:txBody>
                  <a:tcPr>
                    <a:solidFill>
                      <a:srgbClr val="1C1C1C"/>
                    </a:solidFill>
                  </a:tcPr>
                </a:tc>
              </a:tr>
              <a:tr h="1405890">
                <a:tc>
                  <a:txBody>
                    <a:bodyPr wrap="square"/>
                    <a:lstStyle/>
                    <a:p>
                      <a:pPr algn="ctr"/>
                      <a:r>
                        <a:rPr sz="1400" b="1">
                          <a:solidFill>
                            <a:srgbClr val="F5C518"/>
                          </a:solidFill>
                          <a:latin typeface="Barlow Condensed"/>
                        </a:rPr>
                        <a:t>DEFENDING 1/3</a:t>
                      </a:r>
                    </a:p>
                  </a:txBody>
                  <a:tcPr>
                    <a:solidFill>
                      <a:srgbClr val="1E1E1E"/>
                    </a:solidFill>
                  </a:tcPr>
                </a:tc>
                <a:tc>
                  <a:txBody>
                    <a:bodyPr wrap="square"/>
                    <a:lstStyle/>
                    <a:p>
                      <a:pPr algn="l"/>
                      <a:r>
                        <a:rPr sz="1200" b="0">
                          <a:solidFill>
                            <a:srgbClr val="F2F2F0"/>
                          </a:solidFill>
                          <a:latin typeface="Inter"/>
                        </a:rPr>
                        <a:t>Pressure the ball immediately; Numbers behind ball; Ball orientated press; Force play outside; Zonal, man to man within box; When pressure breaks, drop deep (edge of D)</a:t>
                      </a:r>
                    </a:p>
                  </a:txBody>
                  <a:tcPr>
                    <a:solidFill>
                      <a:srgbClr val="141414"/>
                    </a:solidFill>
                  </a:tcPr>
                </a:tc>
                <a:tc>
                  <a:txBody>
                    <a:bodyPr wrap="square"/>
                    <a:lstStyle/>
                    <a:p>
                      <a:pPr algn="l"/>
                      <a:r>
                        <a:rPr sz="1200" b="0">
                          <a:solidFill>
                            <a:srgbClr val="F2F2F0"/>
                          </a:solidFill>
                          <a:latin typeface="Inter"/>
                        </a:rPr>
                        <a:t>Play the first pass to the closest player ahead; Keep the ball if you can't play forward</a:t>
                      </a:r>
                    </a:p>
                  </a:txBody>
                  <a:tcPr>
                    <a:solidFill>
                      <a:srgbClr val="141414"/>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463040"/>
            <a:ext cx="11274552" cy="7315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5303520"/>
            <a:ext cx="11274552" cy="7315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11274552" cy="1645920"/>
          </a:xfrm>
          <a:prstGeom prst="rect">
            <a:avLst/>
          </a:prstGeom>
          <a:noFill/>
        </p:spPr>
        <p:txBody>
          <a:bodyPr wrap="square">
            <a:spAutoFit/>
          </a:bodyPr>
          <a:lstStyle/>
          <a:p>
            <a:pPr algn="ctr"/>
            <a:r>
              <a:rPr sz="6200" b="1">
                <a:solidFill>
                  <a:srgbClr val="F5C518"/>
                </a:solidFill>
                <a:latin typeface="Barlow Condensed"/>
              </a:rPr>
              <a:t>POSITIONAL ROLES AND RESPONSIBILITIES</a:t>
            </a:r>
          </a:p>
        </p:txBody>
      </p:sp>
      <p:sp>
        <p:nvSpPr>
          <p:cNvPr id="6" name="TextBox 5"/>
          <p:cNvSpPr txBox="1"/>
          <p:nvPr/>
        </p:nvSpPr>
        <p:spPr>
          <a:xfrm>
            <a:off x="457200" y="3291840"/>
            <a:ext cx="11274552" cy="914400"/>
          </a:xfrm>
          <a:prstGeom prst="rect">
            <a:avLst/>
          </a:prstGeom>
          <a:noFill/>
        </p:spPr>
        <p:txBody>
          <a:bodyPr wrap="square">
            <a:spAutoFit/>
          </a:bodyPr>
          <a:lstStyle/>
          <a:p>
            <a:pPr algn="ctr"/>
            <a:r>
              <a:rPr sz="5000" b="1">
                <a:solidFill>
                  <a:srgbClr val="F2F2F0"/>
                </a:solidFill>
                <a:latin typeface="Barlow Condensed"/>
              </a:rPr>
              <a:t>&amp; KEY QUALITIES</a:t>
            </a:r>
          </a:p>
        </p:txBody>
      </p:sp>
      <p:sp>
        <p:nvSpPr>
          <p:cNvPr id="7" name="TextBox 6"/>
          <p:cNvSpPr txBox="1"/>
          <p:nvPr/>
        </p:nvSpPr>
        <p:spPr>
          <a:xfrm>
            <a:off x="457200" y="4343400"/>
            <a:ext cx="11274552" cy="411480"/>
          </a:xfrm>
          <a:prstGeom prst="rect">
            <a:avLst/>
          </a:prstGeom>
          <a:noFill/>
        </p:spPr>
        <p:txBody>
          <a:bodyPr wrap="square">
            <a:spAutoFit/>
          </a:bodyPr>
          <a:lstStyle/>
          <a:p>
            <a:pPr algn="ctr"/>
            <a:r>
              <a:rPr sz="2400" b="0">
                <a:solidFill>
                  <a:srgbClr val="00D4E4"/>
                </a:solidFill>
                <a:latin typeface="Barlow Condensed"/>
              </a:rPr>
              <a:t>In all moments of the game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
            <a:ext cx="685800" cy="5303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685800" cy="530352"/>
          </a:xfrm>
          <a:prstGeom prst="rect">
            <a:avLst/>
          </a:prstGeom>
          <a:noFill/>
        </p:spPr>
        <p:txBody>
          <a:bodyPr wrap="square">
            <a:spAutoFit/>
          </a:bodyPr>
          <a:lstStyle/>
          <a:p>
            <a:pPr algn="ctr"/>
            <a:r>
              <a:rPr sz="2000" b="1">
                <a:solidFill>
                  <a:srgbClr val="0D0D0D"/>
                </a:solidFill>
                <a:latin typeface="Barlow Condensed"/>
              </a:rPr>
              <a:t>#1</a:t>
            </a:r>
          </a:p>
        </p:txBody>
      </p:sp>
      <p:sp>
        <p:nvSpPr>
          <p:cNvPr id="5" name="TextBox 4"/>
          <p:cNvSpPr txBox="1"/>
          <p:nvPr/>
        </p:nvSpPr>
        <p:spPr>
          <a:xfrm>
            <a:off x="1271016" y="91440"/>
            <a:ext cx="9043416" cy="530352"/>
          </a:xfrm>
          <a:prstGeom prst="rect">
            <a:avLst/>
          </a:prstGeom>
          <a:noFill/>
        </p:spPr>
        <p:txBody>
          <a:bodyPr wrap="square">
            <a:spAutoFit/>
          </a:bodyPr>
          <a:lstStyle/>
          <a:p>
            <a:pPr algn="l"/>
            <a:r>
              <a:rPr sz="2800" b="1">
                <a:solidFill>
                  <a:srgbClr val="F5C518"/>
                </a:solidFill>
                <a:latin typeface="Barlow Condensed"/>
              </a:rPr>
              <a:t>GOALKEEPER — GK</a:t>
            </a:r>
          </a:p>
        </p:txBody>
      </p:sp>
      <p:sp>
        <p:nvSpPr>
          <p:cNvPr id="6" name="Rectangle 5"/>
          <p:cNvSpPr/>
          <p:nvPr/>
        </p:nvSpPr>
        <p:spPr>
          <a:xfrm>
            <a:off x="10314432" y="91440"/>
            <a:ext cx="1417320" cy="2204720"/>
          </a:xfrm>
          <a:prstGeom prst="rect">
            <a:avLst/>
          </a:prstGeom>
          <a:solidFill>
            <a:srgbClr val="1E6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7424" y="154432"/>
            <a:ext cx="1291336" cy="2078736"/>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7424" y="1193800"/>
            <a:ext cx="1291336" cy="7874"/>
          </a:xfrm>
          <a:prstGeom prst="rect">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18368" y="989076"/>
            <a:ext cx="409448" cy="409448"/>
          </a:xfrm>
          <a:prstGeom prst="ellipse">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11281" y="1189863"/>
            <a:ext cx="23622" cy="23622"/>
          </a:xfrm>
          <a:prstGeom prst="ellipse">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76636" y="1760728"/>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76636" y="217424"/>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02620" y="2044192"/>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02620" y="217424"/>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36478" y="2036317"/>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36478" y="2023617"/>
            <a:ext cx="173228" cy="173228"/>
          </a:xfrm>
          <a:prstGeom prst="rect">
            <a:avLst/>
          </a:prstGeom>
          <a:noFill/>
        </p:spPr>
        <p:txBody>
          <a:bodyPr wrap="square">
            <a:spAutoFit/>
          </a:bodyPr>
          <a:lstStyle/>
          <a:p>
            <a:pPr algn="ctr"/>
            <a:r>
              <a:rPr sz="600" b="1">
                <a:solidFill>
                  <a:srgbClr val="0D0D0D"/>
                </a:solidFill>
                <a:latin typeface="Arial"/>
              </a:rPr>
              <a:t>1</a:t>
            </a:r>
          </a:p>
        </p:txBody>
      </p:sp>
      <p:sp>
        <p:nvSpPr>
          <p:cNvPr id="17" name="Oval 16"/>
          <p:cNvSpPr/>
          <p:nvPr/>
        </p:nvSpPr>
        <p:spPr>
          <a:xfrm>
            <a:off x="10731754"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31754" y="1755902"/>
            <a:ext cx="141732" cy="141732"/>
          </a:xfrm>
          <a:prstGeom prst="rect">
            <a:avLst/>
          </a:prstGeom>
          <a:noFill/>
        </p:spPr>
        <p:txBody>
          <a:bodyPr wrap="square">
            <a:spAutoFit/>
          </a:bodyPr>
          <a:lstStyle/>
          <a:p>
            <a:pPr algn="ctr"/>
            <a:r>
              <a:rPr sz="600" b="1">
                <a:solidFill>
                  <a:srgbClr val="FFFFFF"/>
                </a:solidFill>
                <a:latin typeface="Arial"/>
              </a:rPr>
              <a:t>5</a:t>
            </a:r>
          </a:p>
        </p:txBody>
      </p:sp>
      <p:sp>
        <p:nvSpPr>
          <p:cNvPr id="19" name="Oval 18"/>
          <p:cNvSpPr/>
          <p:nvPr/>
        </p:nvSpPr>
        <p:spPr>
          <a:xfrm>
            <a:off x="11172698"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72698" y="1755902"/>
            <a:ext cx="141732" cy="141732"/>
          </a:xfrm>
          <a:prstGeom prst="rect">
            <a:avLst/>
          </a:prstGeom>
          <a:noFill/>
        </p:spPr>
        <p:txBody>
          <a:bodyPr wrap="square">
            <a:spAutoFit/>
          </a:bodyPr>
          <a:lstStyle/>
          <a:p>
            <a:pPr algn="ctr"/>
            <a:r>
              <a:rPr sz="600" b="1">
                <a:solidFill>
                  <a:srgbClr val="FFFFFF"/>
                </a:solidFill>
                <a:latin typeface="Arial"/>
              </a:rPr>
              <a:t>4</a:t>
            </a:r>
          </a:p>
        </p:txBody>
      </p:sp>
      <p:sp>
        <p:nvSpPr>
          <p:cNvPr id="21" name="Oval 20"/>
          <p:cNvSpPr/>
          <p:nvPr/>
        </p:nvSpPr>
        <p:spPr>
          <a:xfrm>
            <a:off x="10385298"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85298" y="1622044"/>
            <a:ext cx="141732" cy="141732"/>
          </a:xfrm>
          <a:prstGeom prst="rect">
            <a:avLst/>
          </a:prstGeom>
          <a:noFill/>
        </p:spPr>
        <p:txBody>
          <a:bodyPr wrap="square">
            <a:spAutoFit/>
          </a:bodyPr>
          <a:lstStyle/>
          <a:p>
            <a:pPr algn="ctr"/>
            <a:r>
              <a:rPr sz="600" b="1">
                <a:solidFill>
                  <a:srgbClr val="FFFFFF"/>
                </a:solidFill>
                <a:latin typeface="Arial"/>
              </a:rPr>
              <a:t>3</a:t>
            </a:r>
          </a:p>
        </p:txBody>
      </p:sp>
      <p:sp>
        <p:nvSpPr>
          <p:cNvPr id="23" name="Oval 22"/>
          <p:cNvSpPr/>
          <p:nvPr/>
        </p:nvSpPr>
        <p:spPr>
          <a:xfrm>
            <a:off x="11519154"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19154" y="1622044"/>
            <a:ext cx="141732" cy="141732"/>
          </a:xfrm>
          <a:prstGeom prst="rect">
            <a:avLst/>
          </a:prstGeom>
          <a:noFill/>
        </p:spPr>
        <p:txBody>
          <a:bodyPr wrap="square">
            <a:spAutoFit/>
          </a:bodyPr>
          <a:lstStyle/>
          <a:p>
            <a:pPr algn="ctr"/>
            <a:r>
              <a:rPr sz="600" b="1">
                <a:solidFill>
                  <a:srgbClr val="FFFFFF"/>
                </a:solidFill>
                <a:latin typeface="Arial"/>
              </a:rPr>
              <a:t>2</a:t>
            </a:r>
          </a:p>
        </p:txBody>
      </p:sp>
      <p:sp>
        <p:nvSpPr>
          <p:cNvPr id="25" name="Oval 24"/>
          <p:cNvSpPr/>
          <p:nvPr/>
        </p:nvSpPr>
        <p:spPr>
          <a:xfrm>
            <a:off x="10952226" y="143789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52226" y="1425194"/>
            <a:ext cx="141732" cy="141732"/>
          </a:xfrm>
          <a:prstGeom prst="rect">
            <a:avLst/>
          </a:prstGeom>
          <a:noFill/>
        </p:spPr>
        <p:txBody>
          <a:bodyPr wrap="square">
            <a:spAutoFit/>
          </a:bodyPr>
          <a:lstStyle/>
          <a:p>
            <a:pPr algn="ctr"/>
            <a:r>
              <a:rPr sz="600" b="1">
                <a:solidFill>
                  <a:srgbClr val="FFFFFF"/>
                </a:solidFill>
                <a:latin typeface="Arial"/>
              </a:rPr>
              <a:t>6</a:t>
            </a:r>
          </a:p>
        </p:txBody>
      </p:sp>
      <p:sp>
        <p:nvSpPr>
          <p:cNvPr id="27" name="Oval 26"/>
          <p:cNvSpPr/>
          <p:nvPr/>
        </p:nvSpPr>
        <p:spPr>
          <a:xfrm>
            <a:off x="10653014"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53014" y="1204722"/>
            <a:ext cx="141732" cy="141732"/>
          </a:xfrm>
          <a:prstGeom prst="rect">
            <a:avLst/>
          </a:prstGeom>
          <a:noFill/>
        </p:spPr>
        <p:txBody>
          <a:bodyPr wrap="square">
            <a:spAutoFit/>
          </a:bodyPr>
          <a:lstStyle/>
          <a:p>
            <a:pPr algn="ctr"/>
            <a:r>
              <a:rPr sz="600" b="1">
                <a:solidFill>
                  <a:srgbClr val="FFFFFF"/>
                </a:solidFill>
                <a:latin typeface="Arial"/>
              </a:rPr>
              <a:t>8</a:t>
            </a:r>
          </a:p>
        </p:txBody>
      </p:sp>
      <p:sp>
        <p:nvSpPr>
          <p:cNvPr id="29" name="Oval 28"/>
          <p:cNvSpPr/>
          <p:nvPr/>
        </p:nvSpPr>
        <p:spPr>
          <a:xfrm>
            <a:off x="11251438"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1438" y="1204722"/>
            <a:ext cx="141732" cy="141732"/>
          </a:xfrm>
          <a:prstGeom prst="rect">
            <a:avLst/>
          </a:prstGeom>
          <a:noFill/>
        </p:spPr>
        <p:txBody>
          <a:bodyPr wrap="square">
            <a:spAutoFit/>
          </a:bodyPr>
          <a:lstStyle/>
          <a:p>
            <a:pPr algn="ctr"/>
            <a:r>
              <a:rPr sz="600" b="1">
                <a:solidFill>
                  <a:srgbClr val="FFFFFF"/>
                </a:solidFill>
                <a:latin typeface="Arial"/>
              </a:rPr>
              <a:t>10</a:t>
            </a:r>
          </a:p>
        </p:txBody>
      </p:sp>
      <p:sp>
        <p:nvSpPr>
          <p:cNvPr id="31" name="Oval 30"/>
          <p:cNvSpPr/>
          <p:nvPr/>
        </p:nvSpPr>
        <p:spPr>
          <a:xfrm>
            <a:off x="10385298"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85298" y="700786"/>
            <a:ext cx="141732" cy="141732"/>
          </a:xfrm>
          <a:prstGeom prst="rect">
            <a:avLst/>
          </a:prstGeom>
          <a:noFill/>
        </p:spPr>
        <p:txBody>
          <a:bodyPr wrap="square">
            <a:spAutoFit/>
          </a:bodyPr>
          <a:lstStyle/>
          <a:p>
            <a:pPr algn="ctr"/>
            <a:r>
              <a:rPr sz="600" b="1">
                <a:solidFill>
                  <a:srgbClr val="FFFFFF"/>
                </a:solidFill>
                <a:latin typeface="Arial"/>
              </a:rPr>
              <a:t>11</a:t>
            </a:r>
          </a:p>
        </p:txBody>
      </p:sp>
      <p:sp>
        <p:nvSpPr>
          <p:cNvPr id="33" name="Oval 32"/>
          <p:cNvSpPr/>
          <p:nvPr/>
        </p:nvSpPr>
        <p:spPr>
          <a:xfrm>
            <a:off x="11519154"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19154" y="700786"/>
            <a:ext cx="141732" cy="141732"/>
          </a:xfrm>
          <a:prstGeom prst="rect">
            <a:avLst/>
          </a:prstGeom>
          <a:noFill/>
        </p:spPr>
        <p:txBody>
          <a:bodyPr wrap="square">
            <a:spAutoFit/>
          </a:bodyPr>
          <a:lstStyle/>
          <a:p>
            <a:pPr algn="ctr"/>
            <a:r>
              <a:rPr sz="600" b="1">
                <a:solidFill>
                  <a:srgbClr val="FFFFFF"/>
                </a:solidFill>
                <a:latin typeface="Arial"/>
              </a:rPr>
              <a:t>7</a:t>
            </a:r>
          </a:p>
        </p:txBody>
      </p:sp>
      <p:sp>
        <p:nvSpPr>
          <p:cNvPr id="35" name="Oval 34"/>
          <p:cNvSpPr/>
          <p:nvPr/>
        </p:nvSpPr>
        <p:spPr>
          <a:xfrm>
            <a:off x="10952226" y="4300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2226" y="417322"/>
            <a:ext cx="141732" cy="141732"/>
          </a:xfrm>
          <a:prstGeom prst="rect">
            <a:avLst/>
          </a:prstGeom>
          <a:noFill/>
        </p:spPr>
        <p:txBody>
          <a:bodyPr wrap="square">
            <a:spAutoFit/>
          </a:bodyPr>
          <a:lstStyle/>
          <a:p>
            <a:pPr algn="ctr"/>
            <a:r>
              <a:rPr sz="600" b="1">
                <a:solidFill>
                  <a:srgbClr val="FFFFFF"/>
                </a:solidFill>
                <a:latin typeface="Arial"/>
              </a:rPr>
              <a:t>9</a:t>
            </a:r>
          </a:p>
        </p:txBody>
      </p:sp>
      <p:sp>
        <p:nvSpPr>
          <p:cNvPr id="37" name="TextBox 36"/>
          <p:cNvSpPr txBox="1"/>
          <p:nvPr/>
        </p:nvSpPr>
        <p:spPr>
          <a:xfrm>
            <a:off x="457200" y="676656"/>
            <a:ext cx="1417320" cy="219456"/>
          </a:xfrm>
          <a:prstGeom prst="rect">
            <a:avLst/>
          </a:prstGeom>
          <a:noFill/>
        </p:spPr>
        <p:txBody>
          <a:bodyPr wrap="square">
            <a:spAutoFit/>
          </a:bodyPr>
          <a:lstStyle/>
          <a:p>
            <a:pPr algn="l"/>
            <a:r>
              <a:rPr sz="900" b="1">
                <a:solidFill>
                  <a:srgbClr val="00D4E4"/>
                </a:solidFill>
                <a:latin typeface="Inter"/>
              </a:rPr>
              <a:t>KEY QUALITIES:</a:t>
            </a:r>
          </a:p>
        </p:txBody>
      </p:sp>
      <p:sp>
        <p:nvSpPr>
          <p:cNvPr id="38" name="Rectangle 37"/>
          <p:cNvSpPr/>
          <p:nvPr/>
        </p:nvSpPr>
        <p:spPr>
          <a:xfrm>
            <a:off x="1874520" y="702056"/>
            <a:ext cx="82296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50720" y="702056"/>
            <a:ext cx="746760" cy="210312"/>
          </a:xfrm>
          <a:prstGeom prst="rect">
            <a:avLst/>
          </a:prstGeom>
          <a:noFill/>
        </p:spPr>
        <p:txBody>
          <a:bodyPr wrap="square">
            <a:spAutoFit/>
          </a:bodyPr>
          <a:lstStyle/>
          <a:p>
            <a:pPr algn="l"/>
            <a:r>
              <a:rPr sz="900" b="0">
                <a:solidFill>
                  <a:srgbClr val="F2F2F0"/>
                </a:solidFill>
                <a:latin typeface="Inter"/>
              </a:rPr>
              <a:t>Confident</a:t>
            </a:r>
          </a:p>
        </p:txBody>
      </p:sp>
      <p:sp>
        <p:nvSpPr>
          <p:cNvPr id="40" name="Rectangle 39"/>
          <p:cNvSpPr/>
          <p:nvPr/>
        </p:nvSpPr>
        <p:spPr>
          <a:xfrm>
            <a:off x="2752344" y="702056"/>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28544" y="702056"/>
            <a:ext cx="680720" cy="210312"/>
          </a:xfrm>
          <a:prstGeom prst="rect">
            <a:avLst/>
          </a:prstGeom>
          <a:noFill/>
        </p:spPr>
        <p:txBody>
          <a:bodyPr wrap="square">
            <a:spAutoFit/>
          </a:bodyPr>
          <a:lstStyle/>
          <a:p>
            <a:pPr algn="l"/>
            <a:r>
              <a:rPr sz="900" b="0">
                <a:solidFill>
                  <a:srgbClr val="F2F2F0"/>
                </a:solidFill>
                <a:latin typeface="Inter"/>
              </a:rPr>
              <a:t>Athletic</a:t>
            </a:r>
          </a:p>
        </p:txBody>
      </p:sp>
      <p:sp>
        <p:nvSpPr>
          <p:cNvPr id="42" name="Rectangle 41"/>
          <p:cNvSpPr/>
          <p:nvPr/>
        </p:nvSpPr>
        <p:spPr>
          <a:xfrm>
            <a:off x="3564128" y="702056"/>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40328" y="702056"/>
            <a:ext cx="680720" cy="210312"/>
          </a:xfrm>
          <a:prstGeom prst="rect">
            <a:avLst/>
          </a:prstGeom>
          <a:noFill/>
        </p:spPr>
        <p:txBody>
          <a:bodyPr wrap="square">
            <a:spAutoFit/>
          </a:bodyPr>
          <a:lstStyle/>
          <a:p>
            <a:pPr algn="l"/>
            <a:r>
              <a:rPr sz="900" b="0">
                <a:solidFill>
                  <a:srgbClr val="F2F2F0"/>
                </a:solidFill>
                <a:latin typeface="Inter"/>
              </a:rPr>
              <a:t>Decisive</a:t>
            </a:r>
          </a:p>
        </p:txBody>
      </p:sp>
      <p:sp>
        <p:nvSpPr>
          <p:cNvPr id="44" name="Rectangle 43"/>
          <p:cNvSpPr/>
          <p:nvPr/>
        </p:nvSpPr>
        <p:spPr>
          <a:xfrm>
            <a:off x="4375912" y="702056"/>
            <a:ext cx="14173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52112" y="702056"/>
            <a:ext cx="1341120" cy="210312"/>
          </a:xfrm>
          <a:prstGeom prst="rect">
            <a:avLst/>
          </a:prstGeom>
          <a:noFill/>
        </p:spPr>
        <p:txBody>
          <a:bodyPr wrap="square">
            <a:spAutoFit/>
          </a:bodyPr>
          <a:lstStyle/>
          <a:p>
            <a:pPr algn="l"/>
            <a:r>
              <a:rPr sz="900" b="0">
                <a:solidFill>
                  <a:srgbClr val="F2F2F0"/>
                </a:solidFill>
                <a:latin typeface="Inter"/>
              </a:rPr>
              <a:t>Coach on the Field</a:t>
            </a:r>
          </a:p>
        </p:txBody>
      </p:sp>
      <p:sp>
        <p:nvSpPr>
          <p:cNvPr id="46" name="Rectangle 45"/>
          <p:cNvSpPr/>
          <p:nvPr/>
        </p:nvSpPr>
        <p:spPr>
          <a:xfrm>
            <a:off x="5848096" y="702056"/>
            <a:ext cx="300228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24296" y="702056"/>
            <a:ext cx="2926080" cy="210312"/>
          </a:xfrm>
          <a:prstGeom prst="rect">
            <a:avLst/>
          </a:prstGeom>
          <a:noFill/>
        </p:spPr>
        <p:txBody>
          <a:bodyPr wrap="square">
            <a:spAutoFit/>
          </a:bodyPr>
          <a:lstStyle/>
          <a:p>
            <a:pPr algn="l"/>
            <a:r>
              <a:rPr sz="900" b="0">
                <a:solidFill>
                  <a:srgbClr val="F2F2F0"/>
                </a:solidFill>
                <a:latin typeface="Inter"/>
              </a:rPr>
              <a:t>Accurate, Confident Passing (short &amp; long)</a:t>
            </a:r>
          </a:p>
        </p:txBody>
      </p:sp>
      <p:sp>
        <p:nvSpPr>
          <p:cNvPr id="48" name="Rectangle 47"/>
          <p:cNvSpPr/>
          <p:nvPr/>
        </p:nvSpPr>
        <p:spPr>
          <a:xfrm>
            <a:off x="457200"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 y="2433320"/>
            <a:ext cx="3416808" cy="201168"/>
          </a:xfrm>
          <a:prstGeom prst="rect">
            <a:avLst/>
          </a:prstGeom>
          <a:noFill/>
        </p:spPr>
        <p:txBody>
          <a:bodyPr wrap="square">
            <a:spAutoFit/>
          </a:bodyPr>
          <a:lstStyle/>
          <a:p>
            <a:pPr algn="l"/>
            <a:r>
              <a:rPr sz="1500" b="1">
                <a:solidFill>
                  <a:srgbClr val="F5C518"/>
                </a:solidFill>
                <a:latin typeface="Barlow Condensed"/>
              </a:rPr>
              <a:t>DEF 1/3</a:t>
            </a:r>
          </a:p>
        </p:txBody>
      </p:sp>
      <p:sp>
        <p:nvSpPr>
          <p:cNvPr id="51" name="TextBox 50"/>
          <p:cNvSpPr txBox="1"/>
          <p:nvPr/>
        </p:nvSpPr>
        <p:spPr>
          <a:xfrm>
            <a:off x="566928"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52" name="TextBox 51"/>
          <p:cNvSpPr txBox="1"/>
          <p:nvPr/>
        </p:nvSpPr>
        <p:spPr>
          <a:xfrm>
            <a:off x="566928" y="2917952"/>
            <a:ext cx="3453384" cy="868680"/>
          </a:xfrm>
          <a:prstGeom prst="rect">
            <a:avLst/>
          </a:prstGeom>
          <a:noFill/>
        </p:spPr>
        <p:txBody>
          <a:bodyPr wrap="square">
            <a:spAutoFit/>
          </a:bodyPr>
          <a:lstStyle/>
          <a:p>
            <a:pPr algn="l"/>
            <a:r>
              <a:rPr sz="1000" b="0">
                <a:solidFill>
                  <a:srgbClr val="F2F2F0"/>
                </a:solidFill>
                <a:latin typeface="Inter"/>
              </a:rPr>
              <a:t>Position to support for back pass; Pass forward or wide to spread out and/or begin build-up</a:t>
            </a:r>
          </a:p>
        </p:txBody>
      </p:sp>
      <p:sp>
        <p:nvSpPr>
          <p:cNvPr id="53" name="TextBox 52"/>
          <p:cNvSpPr txBox="1"/>
          <p:nvPr/>
        </p:nvSpPr>
        <p:spPr>
          <a:xfrm>
            <a:off x="566928"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54" name="TextBox 53"/>
          <p:cNvSpPr txBox="1"/>
          <p:nvPr/>
        </p:nvSpPr>
        <p:spPr>
          <a:xfrm>
            <a:off x="566928" y="4024376"/>
            <a:ext cx="3453384" cy="777240"/>
          </a:xfrm>
          <a:prstGeom prst="rect">
            <a:avLst/>
          </a:prstGeom>
          <a:noFill/>
        </p:spPr>
        <p:txBody>
          <a:bodyPr wrap="square">
            <a:spAutoFit/>
          </a:bodyPr>
          <a:lstStyle/>
          <a:p>
            <a:pPr algn="l"/>
            <a:r>
              <a:rPr sz="1000" b="0">
                <a:solidFill>
                  <a:srgbClr val="F2F2F0"/>
                </a:solidFill>
                <a:latin typeface="Inter"/>
              </a:rPr>
              <a:t>Organize teammates when to switch from zonal to player tracking; Anticipate crosses and shots</a:t>
            </a:r>
          </a:p>
        </p:txBody>
      </p:sp>
      <p:sp>
        <p:nvSpPr>
          <p:cNvPr id="55" name="TextBox 54"/>
          <p:cNvSpPr txBox="1"/>
          <p:nvPr/>
        </p:nvSpPr>
        <p:spPr>
          <a:xfrm>
            <a:off x="566928"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56" name="TextBox 55"/>
          <p:cNvSpPr txBox="1"/>
          <p:nvPr/>
        </p:nvSpPr>
        <p:spPr>
          <a:xfrm>
            <a:off x="566928" y="5039360"/>
            <a:ext cx="3453384" cy="713232"/>
          </a:xfrm>
          <a:prstGeom prst="rect">
            <a:avLst/>
          </a:prstGeom>
          <a:noFill/>
        </p:spPr>
        <p:txBody>
          <a:bodyPr wrap="square">
            <a:spAutoFit/>
          </a:bodyPr>
          <a:lstStyle/>
          <a:p>
            <a:pPr algn="l"/>
            <a:r>
              <a:rPr sz="1000" b="0">
                <a:solidFill>
                  <a:srgbClr val="F2F2F0"/>
                </a:solidFill>
                <a:latin typeface="Inter"/>
              </a:rPr>
              <a:t>D→A: Pass forward (long) quickly to exploit opponent and create 1v1; Keep the ball when cannot play forward  ·  A→D: Stay connected to the back line – organize teammates</a:t>
            </a:r>
          </a:p>
        </p:txBody>
      </p:sp>
      <p:sp>
        <p:nvSpPr>
          <p:cNvPr id="57" name="Rectangle 56"/>
          <p:cNvSpPr/>
          <p:nvPr/>
        </p:nvSpPr>
        <p:spPr>
          <a:xfrm>
            <a:off x="4258056"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58056"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86072" y="2433320"/>
            <a:ext cx="3416808" cy="201168"/>
          </a:xfrm>
          <a:prstGeom prst="rect">
            <a:avLst/>
          </a:prstGeom>
          <a:noFill/>
        </p:spPr>
        <p:txBody>
          <a:bodyPr wrap="square">
            <a:spAutoFit/>
          </a:bodyPr>
          <a:lstStyle/>
          <a:p>
            <a:pPr algn="l"/>
            <a:r>
              <a:rPr sz="1500" b="1">
                <a:solidFill>
                  <a:srgbClr val="F5C518"/>
                </a:solidFill>
                <a:latin typeface="Barlow Condensed"/>
              </a:rPr>
              <a:t>MID 1/3</a:t>
            </a:r>
          </a:p>
        </p:txBody>
      </p:sp>
      <p:sp>
        <p:nvSpPr>
          <p:cNvPr id="60" name="TextBox 59"/>
          <p:cNvSpPr txBox="1"/>
          <p:nvPr/>
        </p:nvSpPr>
        <p:spPr>
          <a:xfrm>
            <a:off x="4367784"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1" name="TextBox 60"/>
          <p:cNvSpPr txBox="1"/>
          <p:nvPr/>
        </p:nvSpPr>
        <p:spPr>
          <a:xfrm>
            <a:off x="4367784" y="2917952"/>
            <a:ext cx="3453384" cy="868680"/>
          </a:xfrm>
          <a:prstGeom prst="rect">
            <a:avLst/>
          </a:prstGeom>
          <a:noFill/>
        </p:spPr>
        <p:txBody>
          <a:bodyPr wrap="square">
            <a:spAutoFit/>
          </a:bodyPr>
          <a:lstStyle/>
          <a:p>
            <a:pPr algn="l"/>
            <a:r>
              <a:rPr sz="1000" b="0">
                <a:solidFill>
                  <a:srgbClr val="F2F2F0"/>
                </a:solidFill>
                <a:latin typeface="Inter"/>
              </a:rPr>
              <a:t>Position to support for back pass if ball cannot be played forward</a:t>
            </a:r>
          </a:p>
        </p:txBody>
      </p:sp>
      <p:sp>
        <p:nvSpPr>
          <p:cNvPr id="62" name="TextBox 61"/>
          <p:cNvSpPr txBox="1"/>
          <p:nvPr/>
        </p:nvSpPr>
        <p:spPr>
          <a:xfrm>
            <a:off x="4367784"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63" name="TextBox 62"/>
          <p:cNvSpPr txBox="1"/>
          <p:nvPr/>
        </p:nvSpPr>
        <p:spPr>
          <a:xfrm>
            <a:off x="4367784" y="4024376"/>
            <a:ext cx="3453384" cy="777240"/>
          </a:xfrm>
          <a:prstGeom prst="rect">
            <a:avLst/>
          </a:prstGeom>
          <a:noFill/>
        </p:spPr>
        <p:txBody>
          <a:bodyPr wrap="square">
            <a:spAutoFit/>
          </a:bodyPr>
          <a:lstStyle/>
          <a:p>
            <a:pPr algn="l"/>
            <a:r>
              <a:rPr sz="1000" b="0">
                <a:solidFill>
                  <a:srgbClr val="F2F2F0"/>
                </a:solidFill>
                <a:latin typeface="Inter"/>
              </a:rPr>
              <a:t>Position to provide cover to anticipate and intercept long balls behind defensive line</a:t>
            </a:r>
          </a:p>
        </p:txBody>
      </p:sp>
      <p:sp>
        <p:nvSpPr>
          <p:cNvPr id="64" name="TextBox 63"/>
          <p:cNvSpPr txBox="1"/>
          <p:nvPr/>
        </p:nvSpPr>
        <p:spPr>
          <a:xfrm>
            <a:off x="4367784"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5" name="TextBox 64"/>
          <p:cNvSpPr txBox="1"/>
          <p:nvPr/>
        </p:nvSpPr>
        <p:spPr>
          <a:xfrm>
            <a:off x="4367784" y="5039360"/>
            <a:ext cx="3453384" cy="713232"/>
          </a:xfrm>
          <a:prstGeom prst="rect">
            <a:avLst/>
          </a:prstGeom>
          <a:noFill/>
        </p:spPr>
        <p:txBody>
          <a:bodyPr wrap="square">
            <a:spAutoFit/>
          </a:bodyPr>
          <a:lstStyle/>
          <a:p>
            <a:pPr algn="l"/>
            <a:r>
              <a:rPr sz="1000" b="0">
                <a:solidFill>
                  <a:srgbClr val="F2F2F0"/>
                </a:solidFill>
                <a:latin typeface="Inter"/>
              </a:rPr>
              <a:t>D→A: Push the defensive line up; Give support for back pass if cannot play forward  ·  A→D: Organize teammates – balanced and compact</a:t>
            </a:r>
          </a:p>
        </p:txBody>
      </p:sp>
      <p:sp>
        <p:nvSpPr>
          <p:cNvPr id="66" name="Rectangle 65"/>
          <p:cNvSpPr/>
          <p:nvPr/>
        </p:nvSpPr>
        <p:spPr>
          <a:xfrm>
            <a:off x="8058912"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058912"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186928" y="2433320"/>
            <a:ext cx="3416808" cy="201168"/>
          </a:xfrm>
          <a:prstGeom prst="rect">
            <a:avLst/>
          </a:prstGeom>
          <a:noFill/>
        </p:spPr>
        <p:txBody>
          <a:bodyPr wrap="square">
            <a:spAutoFit/>
          </a:bodyPr>
          <a:lstStyle/>
          <a:p>
            <a:pPr algn="l"/>
            <a:r>
              <a:rPr sz="1500" b="1">
                <a:solidFill>
                  <a:srgbClr val="F5C518"/>
                </a:solidFill>
                <a:latin typeface="Barlow Condensed"/>
              </a:rPr>
              <a:t>OFF 1/3</a:t>
            </a:r>
          </a:p>
        </p:txBody>
      </p:sp>
      <p:sp>
        <p:nvSpPr>
          <p:cNvPr id="69" name="TextBox 68"/>
          <p:cNvSpPr txBox="1"/>
          <p:nvPr/>
        </p:nvSpPr>
        <p:spPr>
          <a:xfrm>
            <a:off x="8168640"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70" name="TextBox 69"/>
          <p:cNvSpPr txBox="1"/>
          <p:nvPr/>
        </p:nvSpPr>
        <p:spPr>
          <a:xfrm>
            <a:off x="8168640" y="2917952"/>
            <a:ext cx="3453384" cy="868680"/>
          </a:xfrm>
          <a:prstGeom prst="rect">
            <a:avLst/>
          </a:prstGeom>
          <a:noFill/>
        </p:spPr>
        <p:txBody>
          <a:bodyPr wrap="square">
            <a:spAutoFit/>
          </a:bodyPr>
          <a:lstStyle/>
          <a:p>
            <a:pPr algn="l"/>
            <a:r>
              <a:rPr sz="1000" b="0">
                <a:solidFill>
                  <a:srgbClr val="F2F2F0"/>
                </a:solidFill>
                <a:latin typeface="Inter"/>
              </a:rPr>
              <a:t>Push up the defensive line and organize teammates to prevent counter attacks</a:t>
            </a:r>
          </a:p>
        </p:txBody>
      </p:sp>
      <p:sp>
        <p:nvSpPr>
          <p:cNvPr id="71" name="TextBox 70"/>
          <p:cNvSpPr txBox="1"/>
          <p:nvPr/>
        </p:nvSpPr>
        <p:spPr>
          <a:xfrm>
            <a:off x="8168640"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72" name="TextBox 71"/>
          <p:cNvSpPr txBox="1"/>
          <p:nvPr/>
        </p:nvSpPr>
        <p:spPr>
          <a:xfrm>
            <a:off x="8168640" y="4024376"/>
            <a:ext cx="3453384" cy="777240"/>
          </a:xfrm>
          <a:prstGeom prst="rect">
            <a:avLst/>
          </a:prstGeom>
          <a:noFill/>
        </p:spPr>
        <p:txBody>
          <a:bodyPr wrap="square">
            <a:spAutoFit/>
          </a:bodyPr>
          <a:lstStyle/>
          <a:p>
            <a:pPr algn="l"/>
            <a:r>
              <a:rPr sz="1000" b="0">
                <a:solidFill>
                  <a:srgbClr val="F2F2F0"/>
                </a:solidFill>
                <a:latin typeface="Inter"/>
              </a:rPr>
              <a:t>Position to provide cover to anticipate and intercept long balls behind defensive line</a:t>
            </a:r>
          </a:p>
        </p:txBody>
      </p:sp>
      <p:sp>
        <p:nvSpPr>
          <p:cNvPr id="73" name="TextBox 72"/>
          <p:cNvSpPr txBox="1"/>
          <p:nvPr/>
        </p:nvSpPr>
        <p:spPr>
          <a:xfrm>
            <a:off x="8168640"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74" name="TextBox 73"/>
          <p:cNvSpPr txBox="1"/>
          <p:nvPr/>
        </p:nvSpPr>
        <p:spPr>
          <a:xfrm>
            <a:off x="8168640" y="5039360"/>
            <a:ext cx="3453384" cy="713232"/>
          </a:xfrm>
          <a:prstGeom prst="rect">
            <a:avLst/>
          </a:prstGeom>
          <a:noFill/>
        </p:spPr>
        <p:txBody>
          <a:bodyPr wrap="square">
            <a:spAutoFit/>
          </a:bodyPr>
          <a:lstStyle/>
          <a:p>
            <a:pPr algn="l"/>
            <a:r>
              <a:rPr sz="1000" b="0">
                <a:solidFill>
                  <a:srgbClr val="F2F2F0"/>
                </a:solidFill>
                <a:latin typeface="Inter"/>
              </a:rPr>
              <a:t>D→A: Organize teammates to position to prevent counter attacks  ·  A→D: Position behind defensive line to take preventative defensive action</a:t>
            </a:r>
          </a:p>
        </p:txBody>
      </p:sp>
      <p:sp>
        <p:nvSpPr>
          <p:cNvPr id="75" name="TextBox 74"/>
          <p:cNvSpPr txBox="1"/>
          <p:nvPr/>
        </p:nvSpPr>
        <p:spPr>
          <a:xfrm>
            <a:off x="457200" y="5405120"/>
            <a:ext cx="11274552" cy="219456"/>
          </a:xfrm>
          <a:prstGeom prst="rect">
            <a:avLst/>
          </a:prstGeom>
          <a:noFill/>
        </p:spPr>
        <p:txBody>
          <a:bodyPr wrap="square">
            <a:spAutoFit/>
          </a:bodyPr>
          <a:lstStyle/>
          <a:p>
            <a:pPr algn="l"/>
            <a:r>
              <a:rPr sz="900" b="1">
                <a:solidFill>
                  <a:srgbClr val="00D4E4"/>
                </a:solidFill>
                <a:latin typeface="Inter"/>
              </a:rPr>
              <a:t>PRINCIPLES OF PLAY</a:t>
            </a:r>
          </a:p>
        </p:txBody>
      </p:sp>
      <p:sp>
        <p:nvSpPr>
          <p:cNvPr id="76" name="Rectangle 75"/>
          <p:cNvSpPr/>
          <p:nvPr/>
        </p:nvSpPr>
        <p:spPr>
          <a:xfrm>
            <a:off x="457200"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6928" y="5706872"/>
            <a:ext cx="3453384" cy="219456"/>
          </a:xfrm>
          <a:prstGeom prst="rect">
            <a:avLst/>
          </a:prstGeom>
          <a:noFill/>
        </p:spPr>
        <p:txBody>
          <a:bodyPr wrap="square">
            <a:spAutoFit/>
          </a:bodyPr>
          <a:lstStyle/>
          <a:p>
            <a:pPr algn="l"/>
            <a:r>
              <a:rPr sz="800" b="1">
                <a:solidFill>
                  <a:srgbClr val="F5C518"/>
                </a:solidFill>
                <a:latin typeface="Inter"/>
              </a:rPr>
              <a:t>BUILD OUT</a:t>
            </a:r>
          </a:p>
        </p:txBody>
      </p:sp>
      <p:sp>
        <p:nvSpPr>
          <p:cNvPr id="78" name="TextBox 77"/>
          <p:cNvSpPr txBox="1"/>
          <p:nvPr/>
        </p:nvSpPr>
        <p:spPr>
          <a:xfrm>
            <a:off x="566928" y="5953760"/>
            <a:ext cx="3453384" cy="219456"/>
          </a:xfrm>
          <a:prstGeom prst="rect">
            <a:avLst/>
          </a:prstGeom>
          <a:noFill/>
        </p:spPr>
        <p:txBody>
          <a:bodyPr wrap="square">
            <a:spAutoFit/>
          </a:bodyPr>
          <a:lstStyle/>
          <a:p>
            <a:pPr algn="l"/>
            <a:r>
              <a:rPr sz="1000" b="0">
                <a:solidFill>
                  <a:srgbClr val="F2F2F0"/>
                </a:solidFill>
                <a:latin typeface="Inter"/>
              </a:rPr>
              <a:t>• Disorganize opponent</a:t>
            </a:r>
          </a:p>
        </p:txBody>
      </p:sp>
      <p:sp>
        <p:nvSpPr>
          <p:cNvPr id="79" name="TextBox 78"/>
          <p:cNvSpPr txBox="1"/>
          <p:nvPr/>
        </p:nvSpPr>
        <p:spPr>
          <a:xfrm>
            <a:off x="566928" y="6200648"/>
            <a:ext cx="3453384" cy="219456"/>
          </a:xfrm>
          <a:prstGeom prst="rect">
            <a:avLst/>
          </a:prstGeom>
          <a:noFill/>
        </p:spPr>
        <p:txBody>
          <a:bodyPr wrap="square">
            <a:spAutoFit/>
          </a:bodyPr>
          <a:lstStyle/>
          <a:p>
            <a:pPr algn="l"/>
            <a:r>
              <a:rPr sz="1000" b="0">
                <a:solidFill>
                  <a:srgbClr val="F2F2F0"/>
                </a:solidFill>
                <a:latin typeface="Inter"/>
              </a:rPr>
              <a:t>• Variety in distribution</a:t>
            </a:r>
          </a:p>
        </p:txBody>
      </p:sp>
      <p:sp>
        <p:nvSpPr>
          <p:cNvPr id="80" name="TextBox 79"/>
          <p:cNvSpPr txBox="1"/>
          <p:nvPr/>
        </p:nvSpPr>
        <p:spPr>
          <a:xfrm>
            <a:off x="566928" y="6447536"/>
            <a:ext cx="3453384" cy="219456"/>
          </a:xfrm>
          <a:prstGeom prst="rect">
            <a:avLst/>
          </a:prstGeom>
          <a:noFill/>
        </p:spPr>
        <p:txBody>
          <a:bodyPr wrap="square">
            <a:spAutoFit/>
          </a:bodyPr>
          <a:lstStyle/>
          <a:p>
            <a:pPr algn="l"/>
            <a:r>
              <a:rPr sz="1000" b="0">
                <a:solidFill>
                  <a:srgbClr val="F2F2F0"/>
                </a:solidFill>
                <a:latin typeface="Inter"/>
              </a:rPr>
              <a:t>• Confidence in distribution</a:t>
            </a:r>
          </a:p>
        </p:txBody>
      </p:sp>
      <p:sp>
        <p:nvSpPr>
          <p:cNvPr id="81" name="Rectangle 80"/>
          <p:cNvSpPr/>
          <p:nvPr/>
        </p:nvSpPr>
        <p:spPr>
          <a:xfrm>
            <a:off x="4258056"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67784" y="5706872"/>
            <a:ext cx="3453384" cy="219456"/>
          </a:xfrm>
          <a:prstGeom prst="rect">
            <a:avLst/>
          </a:prstGeom>
          <a:noFill/>
        </p:spPr>
        <p:txBody>
          <a:bodyPr wrap="square">
            <a:spAutoFit/>
          </a:bodyPr>
          <a:lstStyle/>
          <a:p>
            <a:pPr algn="l"/>
            <a:r>
              <a:rPr sz="800" b="1">
                <a:solidFill>
                  <a:srgbClr val="F5C518"/>
                </a:solidFill>
                <a:latin typeface="Inter"/>
              </a:rPr>
              <a:t>ADVANCEMENT PHASE</a:t>
            </a:r>
          </a:p>
        </p:txBody>
      </p:sp>
      <p:sp>
        <p:nvSpPr>
          <p:cNvPr id="83" name="TextBox 82"/>
          <p:cNvSpPr txBox="1"/>
          <p:nvPr/>
        </p:nvSpPr>
        <p:spPr>
          <a:xfrm>
            <a:off x="4367784" y="5953760"/>
            <a:ext cx="3453384" cy="219456"/>
          </a:xfrm>
          <a:prstGeom prst="rect">
            <a:avLst/>
          </a:prstGeom>
          <a:noFill/>
        </p:spPr>
        <p:txBody>
          <a:bodyPr wrap="square">
            <a:spAutoFit/>
          </a:bodyPr>
          <a:lstStyle/>
          <a:p>
            <a:pPr algn="l"/>
            <a:r>
              <a:rPr sz="1000" b="0">
                <a:solidFill>
                  <a:srgbClr val="F2F2F0"/>
                </a:solidFill>
                <a:latin typeface="Inter"/>
              </a:rPr>
              <a:t>• Disorganize opponent</a:t>
            </a:r>
          </a:p>
        </p:txBody>
      </p:sp>
      <p:sp>
        <p:nvSpPr>
          <p:cNvPr id="84" name="TextBox 83"/>
          <p:cNvSpPr txBox="1"/>
          <p:nvPr/>
        </p:nvSpPr>
        <p:spPr>
          <a:xfrm>
            <a:off x="4367784" y="6200648"/>
            <a:ext cx="3453384" cy="219456"/>
          </a:xfrm>
          <a:prstGeom prst="rect">
            <a:avLst/>
          </a:prstGeom>
          <a:noFill/>
        </p:spPr>
        <p:txBody>
          <a:bodyPr wrap="square">
            <a:spAutoFit/>
          </a:bodyPr>
          <a:lstStyle/>
          <a:p>
            <a:pPr algn="l"/>
            <a:r>
              <a:rPr sz="1000" b="0">
                <a:solidFill>
                  <a:srgbClr val="F2F2F0"/>
                </a:solidFill>
                <a:latin typeface="Inter"/>
              </a:rPr>
              <a:t>• Available for backward pass</a:t>
            </a:r>
          </a:p>
        </p:txBody>
      </p:sp>
      <p:sp>
        <p:nvSpPr>
          <p:cNvPr id="85" name="TextBox 84"/>
          <p:cNvSpPr txBox="1"/>
          <p:nvPr/>
        </p:nvSpPr>
        <p:spPr>
          <a:xfrm>
            <a:off x="4367784" y="6447536"/>
            <a:ext cx="3453384" cy="219456"/>
          </a:xfrm>
          <a:prstGeom prst="rect">
            <a:avLst/>
          </a:prstGeom>
          <a:noFill/>
        </p:spPr>
        <p:txBody>
          <a:bodyPr wrap="square">
            <a:spAutoFit/>
          </a:bodyPr>
          <a:lstStyle/>
          <a:p>
            <a:pPr algn="l"/>
            <a:r>
              <a:rPr sz="1000" b="0">
                <a:solidFill>
                  <a:srgbClr val="F2F2F0"/>
                </a:solidFill>
                <a:latin typeface="Inter"/>
              </a:rPr>
              <a:t>• Push up with the team</a:t>
            </a:r>
          </a:p>
        </p:txBody>
      </p:sp>
      <p:sp>
        <p:nvSpPr>
          <p:cNvPr id="86" name="Rectangle 85"/>
          <p:cNvSpPr/>
          <p:nvPr/>
        </p:nvSpPr>
        <p:spPr>
          <a:xfrm>
            <a:off x="8058912"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168640" y="5706872"/>
            <a:ext cx="3453384" cy="219456"/>
          </a:xfrm>
          <a:prstGeom prst="rect">
            <a:avLst/>
          </a:prstGeom>
          <a:noFill/>
        </p:spPr>
        <p:txBody>
          <a:bodyPr wrap="square">
            <a:spAutoFit/>
          </a:bodyPr>
          <a:lstStyle/>
          <a:p>
            <a:pPr algn="l"/>
            <a:r>
              <a:rPr sz="800" b="1">
                <a:solidFill>
                  <a:srgbClr val="F5C518"/>
                </a:solidFill>
                <a:latin typeface="Inter"/>
              </a:rPr>
              <a:t>CHANCE CREATION / SCORING</a:t>
            </a:r>
          </a:p>
        </p:txBody>
      </p:sp>
      <p:sp>
        <p:nvSpPr>
          <p:cNvPr id="88" name="TextBox 87"/>
          <p:cNvSpPr txBox="1"/>
          <p:nvPr/>
        </p:nvSpPr>
        <p:spPr>
          <a:xfrm>
            <a:off x="8168640" y="5953760"/>
            <a:ext cx="3453384" cy="219456"/>
          </a:xfrm>
          <a:prstGeom prst="rect">
            <a:avLst/>
          </a:prstGeom>
          <a:noFill/>
        </p:spPr>
        <p:txBody>
          <a:bodyPr wrap="square">
            <a:spAutoFit/>
          </a:bodyPr>
          <a:lstStyle/>
          <a:p>
            <a:pPr algn="l"/>
            <a:r>
              <a:rPr sz="1000" b="0">
                <a:solidFill>
                  <a:srgbClr val="F2F2F0"/>
                </a:solidFill>
                <a:latin typeface="Inter"/>
              </a:rPr>
              <a:t>• Push up with the team</a:t>
            </a:r>
          </a:p>
        </p:txBody>
      </p:sp>
      <p:sp>
        <p:nvSpPr>
          <p:cNvPr id="89" name="TextBox 88"/>
          <p:cNvSpPr txBox="1"/>
          <p:nvPr/>
        </p:nvSpPr>
        <p:spPr>
          <a:xfrm>
            <a:off x="8168640" y="6200648"/>
            <a:ext cx="3453384" cy="219456"/>
          </a:xfrm>
          <a:prstGeom prst="rect">
            <a:avLst/>
          </a:prstGeom>
          <a:noFill/>
        </p:spPr>
        <p:txBody>
          <a:bodyPr wrap="square">
            <a:spAutoFit/>
          </a:bodyPr>
          <a:lstStyle/>
          <a:p>
            <a:pPr algn="l"/>
            <a:r>
              <a:rPr sz="1000" b="0">
                <a:solidFill>
                  <a:srgbClr val="F2F2F0"/>
                </a:solidFill>
                <a:latin typeface="Inter"/>
              </a:rPr>
              <a:t>• Awareness of field position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
            <a:ext cx="930656" cy="5303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30656" cy="530352"/>
          </a:xfrm>
          <a:prstGeom prst="rect">
            <a:avLst/>
          </a:prstGeom>
          <a:noFill/>
        </p:spPr>
        <p:txBody>
          <a:bodyPr wrap="square">
            <a:spAutoFit/>
          </a:bodyPr>
          <a:lstStyle/>
          <a:p>
            <a:pPr algn="ctr"/>
            <a:r>
              <a:rPr sz="2000" b="1">
                <a:solidFill>
                  <a:srgbClr val="0D0D0D"/>
                </a:solidFill>
                <a:latin typeface="Barlow Condensed"/>
              </a:rPr>
              <a:t>#4 / #5</a:t>
            </a:r>
          </a:p>
        </p:txBody>
      </p:sp>
      <p:sp>
        <p:nvSpPr>
          <p:cNvPr id="5" name="TextBox 4"/>
          <p:cNvSpPr txBox="1"/>
          <p:nvPr/>
        </p:nvSpPr>
        <p:spPr>
          <a:xfrm>
            <a:off x="1515872" y="91440"/>
            <a:ext cx="8798560" cy="530352"/>
          </a:xfrm>
          <a:prstGeom prst="rect">
            <a:avLst/>
          </a:prstGeom>
          <a:noFill/>
        </p:spPr>
        <p:txBody>
          <a:bodyPr wrap="square">
            <a:spAutoFit/>
          </a:bodyPr>
          <a:lstStyle/>
          <a:p>
            <a:pPr algn="l"/>
            <a:r>
              <a:rPr sz="2800" b="1">
                <a:solidFill>
                  <a:srgbClr val="F5C518"/>
                </a:solidFill>
                <a:latin typeface="Barlow Condensed"/>
              </a:rPr>
              <a:t>CENTER BACK — CB</a:t>
            </a:r>
          </a:p>
        </p:txBody>
      </p:sp>
      <p:sp>
        <p:nvSpPr>
          <p:cNvPr id="6" name="Rectangle 5"/>
          <p:cNvSpPr/>
          <p:nvPr/>
        </p:nvSpPr>
        <p:spPr>
          <a:xfrm>
            <a:off x="10314432" y="91440"/>
            <a:ext cx="1417320" cy="2204720"/>
          </a:xfrm>
          <a:prstGeom prst="rect">
            <a:avLst/>
          </a:prstGeom>
          <a:solidFill>
            <a:srgbClr val="1E6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7424" y="154432"/>
            <a:ext cx="1291336" cy="2078736"/>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7424" y="1193800"/>
            <a:ext cx="1291336" cy="7874"/>
          </a:xfrm>
          <a:prstGeom prst="rect">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18368" y="989076"/>
            <a:ext cx="409448" cy="409448"/>
          </a:xfrm>
          <a:prstGeom prst="ellipse">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11281" y="1189863"/>
            <a:ext cx="23622" cy="23622"/>
          </a:xfrm>
          <a:prstGeom prst="ellipse">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76636" y="1760728"/>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76636" y="217424"/>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02620" y="2044192"/>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02620" y="217424"/>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52226" y="205206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52226" y="2039366"/>
            <a:ext cx="141732" cy="141732"/>
          </a:xfrm>
          <a:prstGeom prst="rect">
            <a:avLst/>
          </a:prstGeom>
          <a:noFill/>
        </p:spPr>
        <p:txBody>
          <a:bodyPr wrap="square">
            <a:spAutoFit/>
          </a:bodyPr>
          <a:lstStyle/>
          <a:p>
            <a:pPr algn="ctr"/>
            <a:r>
              <a:rPr sz="600" b="1">
                <a:solidFill>
                  <a:srgbClr val="FFFFFF"/>
                </a:solidFill>
                <a:latin typeface="Arial"/>
              </a:rPr>
              <a:t>1</a:t>
            </a:r>
          </a:p>
        </p:txBody>
      </p:sp>
      <p:sp>
        <p:nvSpPr>
          <p:cNvPr id="17" name="Oval 16"/>
          <p:cNvSpPr/>
          <p:nvPr/>
        </p:nvSpPr>
        <p:spPr>
          <a:xfrm>
            <a:off x="10716006" y="1752854"/>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16006" y="1740154"/>
            <a:ext cx="173228" cy="173228"/>
          </a:xfrm>
          <a:prstGeom prst="rect">
            <a:avLst/>
          </a:prstGeom>
          <a:noFill/>
        </p:spPr>
        <p:txBody>
          <a:bodyPr wrap="square">
            <a:spAutoFit/>
          </a:bodyPr>
          <a:lstStyle/>
          <a:p>
            <a:pPr algn="ctr"/>
            <a:r>
              <a:rPr sz="600" b="1">
                <a:solidFill>
                  <a:srgbClr val="0D0D0D"/>
                </a:solidFill>
                <a:latin typeface="Arial"/>
              </a:rPr>
              <a:t>5</a:t>
            </a:r>
          </a:p>
        </p:txBody>
      </p:sp>
      <p:sp>
        <p:nvSpPr>
          <p:cNvPr id="19" name="Oval 18"/>
          <p:cNvSpPr/>
          <p:nvPr/>
        </p:nvSpPr>
        <p:spPr>
          <a:xfrm>
            <a:off x="11156950" y="1752854"/>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6950" y="1740154"/>
            <a:ext cx="173228" cy="173228"/>
          </a:xfrm>
          <a:prstGeom prst="rect">
            <a:avLst/>
          </a:prstGeom>
          <a:noFill/>
        </p:spPr>
        <p:txBody>
          <a:bodyPr wrap="square">
            <a:spAutoFit/>
          </a:bodyPr>
          <a:lstStyle/>
          <a:p>
            <a:pPr algn="ctr"/>
            <a:r>
              <a:rPr sz="600" b="1">
                <a:solidFill>
                  <a:srgbClr val="0D0D0D"/>
                </a:solidFill>
                <a:latin typeface="Arial"/>
              </a:rPr>
              <a:t>4</a:t>
            </a:r>
          </a:p>
        </p:txBody>
      </p:sp>
      <p:sp>
        <p:nvSpPr>
          <p:cNvPr id="21" name="Oval 20"/>
          <p:cNvSpPr/>
          <p:nvPr/>
        </p:nvSpPr>
        <p:spPr>
          <a:xfrm>
            <a:off x="10385298"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85298" y="1622044"/>
            <a:ext cx="141732" cy="141732"/>
          </a:xfrm>
          <a:prstGeom prst="rect">
            <a:avLst/>
          </a:prstGeom>
          <a:noFill/>
        </p:spPr>
        <p:txBody>
          <a:bodyPr wrap="square">
            <a:spAutoFit/>
          </a:bodyPr>
          <a:lstStyle/>
          <a:p>
            <a:pPr algn="ctr"/>
            <a:r>
              <a:rPr sz="600" b="1">
                <a:solidFill>
                  <a:srgbClr val="FFFFFF"/>
                </a:solidFill>
                <a:latin typeface="Arial"/>
              </a:rPr>
              <a:t>3</a:t>
            </a:r>
          </a:p>
        </p:txBody>
      </p:sp>
      <p:sp>
        <p:nvSpPr>
          <p:cNvPr id="23" name="Oval 22"/>
          <p:cNvSpPr/>
          <p:nvPr/>
        </p:nvSpPr>
        <p:spPr>
          <a:xfrm>
            <a:off x="11519154"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19154" y="1622044"/>
            <a:ext cx="141732" cy="141732"/>
          </a:xfrm>
          <a:prstGeom prst="rect">
            <a:avLst/>
          </a:prstGeom>
          <a:noFill/>
        </p:spPr>
        <p:txBody>
          <a:bodyPr wrap="square">
            <a:spAutoFit/>
          </a:bodyPr>
          <a:lstStyle/>
          <a:p>
            <a:pPr algn="ctr"/>
            <a:r>
              <a:rPr sz="600" b="1">
                <a:solidFill>
                  <a:srgbClr val="FFFFFF"/>
                </a:solidFill>
                <a:latin typeface="Arial"/>
              </a:rPr>
              <a:t>2</a:t>
            </a:r>
          </a:p>
        </p:txBody>
      </p:sp>
      <p:sp>
        <p:nvSpPr>
          <p:cNvPr id="25" name="Oval 24"/>
          <p:cNvSpPr/>
          <p:nvPr/>
        </p:nvSpPr>
        <p:spPr>
          <a:xfrm>
            <a:off x="10952226" y="143789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52226" y="1425194"/>
            <a:ext cx="141732" cy="141732"/>
          </a:xfrm>
          <a:prstGeom prst="rect">
            <a:avLst/>
          </a:prstGeom>
          <a:noFill/>
        </p:spPr>
        <p:txBody>
          <a:bodyPr wrap="square">
            <a:spAutoFit/>
          </a:bodyPr>
          <a:lstStyle/>
          <a:p>
            <a:pPr algn="ctr"/>
            <a:r>
              <a:rPr sz="600" b="1">
                <a:solidFill>
                  <a:srgbClr val="FFFFFF"/>
                </a:solidFill>
                <a:latin typeface="Arial"/>
              </a:rPr>
              <a:t>6</a:t>
            </a:r>
          </a:p>
        </p:txBody>
      </p:sp>
      <p:sp>
        <p:nvSpPr>
          <p:cNvPr id="27" name="Oval 26"/>
          <p:cNvSpPr/>
          <p:nvPr/>
        </p:nvSpPr>
        <p:spPr>
          <a:xfrm>
            <a:off x="10653014"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53014" y="1204722"/>
            <a:ext cx="141732" cy="141732"/>
          </a:xfrm>
          <a:prstGeom prst="rect">
            <a:avLst/>
          </a:prstGeom>
          <a:noFill/>
        </p:spPr>
        <p:txBody>
          <a:bodyPr wrap="square">
            <a:spAutoFit/>
          </a:bodyPr>
          <a:lstStyle/>
          <a:p>
            <a:pPr algn="ctr"/>
            <a:r>
              <a:rPr sz="600" b="1">
                <a:solidFill>
                  <a:srgbClr val="FFFFFF"/>
                </a:solidFill>
                <a:latin typeface="Arial"/>
              </a:rPr>
              <a:t>8</a:t>
            </a:r>
          </a:p>
        </p:txBody>
      </p:sp>
      <p:sp>
        <p:nvSpPr>
          <p:cNvPr id="29" name="Oval 28"/>
          <p:cNvSpPr/>
          <p:nvPr/>
        </p:nvSpPr>
        <p:spPr>
          <a:xfrm>
            <a:off x="11251438"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1438" y="1204722"/>
            <a:ext cx="141732" cy="141732"/>
          </a:xfrm>
          <a:prstGeom prst="rect">
            <a:avLst/>
          </a:prstGeom>
          <a:noFill/>
        </p:spPr>
        <p:txBody>
          <a:bodyPr wrap="square">
            <a:spAutoFit/>
          </a:bodyPr>
          <a:lstStyle/>
          <a:p>
            <a:pPr algn="ctr"/>
            <a:r>
              <a:rPr sz="600" b="1">
                <a:solidFill>
                  <a:srgbClr val="FFFFFF"/>
                </a:solidFill>
                <a:latin typeface="Arial"/>
              </a:rPr>
              <a:t>10</a:t>
            </a:r>
          </a:p>
        </p:txBody>
      </p:sp>
      <p:sp>
        <p:nvSpPr>
          <p:cNvPr id="31" name="Oval 30"/>
          <p:cNvSpPr/>
          <p:nvPr/>
        </p:nvSpPr>
        <p:spPr>
          <a:xfrm>
            <a:off x="10385298"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85298" y="700786"/>
            <a:ext cx="141732" cy="141732"/>
          </a:xfrm>
          <a:prstGeom prst="rect">
            <a:avLst/>
          </a:prstGeom>
          <a:noFill/>
        </p:spPr>
        <p:txBody>
          <a:bodyPr wrap="square">
            <a:spAutoFit/>
          </a:bodyPr>
          <a:lstStyle/>
          <a:p>
            <a:pPr algn="ctr"/>
            <a:r>
              <a:rPr sz="600" b="1">
                <a:solidFill>
                  <a:srgbClr val="FFFFFF"/>
                </a:solidFill>
                <a:latin typeface="Arial"/>
              </a:rPr>
              <a:t>11</a:t>
            </a:r>
          </a:p>
        </p:txBody>
      </p:sp>
      <p:sp>
        <p:nvSpPr>
          <p:cNvPr id="33" name="Oval 32"/>
          <p:cNvSpPr/>
          <p:nvPr/>
        </p:nvSpPr>
        <p:spPr>
          <a:xfrm>
            <a:off x="11519154"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19154" y="700786"/>
            <a:ext cx="141732" cy="141732"/>
          </a:xfrm>
          <a:prstGeom prst="rect">
            <a:avLst/>
          </a:prstGeom>
          <a:noFill/>
        </p:spPr>
        <p:txBody>
          <a:bodyPr wrap="square">
            <a:spAutoFit/>
          </a:bodyPr>
          <a:lstStyle/>
          <a:p>
            <a:pPr algn="ctr"/>
            <a:r>
              <a:rPr sz="600" b="1">
                <a:solidFill>
                  <a:srgbClr val="FFFFFF"/>
                </a:solidFill>
                <a:latin typeface="Arial"/>
              </a:rPr>
              <a:t>7</a:t>
            </a:r>
          </a:p>
        </p:txBody>
      </p:sp>
      <p:sp>
        <p:nvSpPr>
          <p:cNvPr id="35" name="Oval 34"/>
          <p:cNvSpPr/>
          <p:nvPr/>
        </p:nvSpPr>
        <p:spPr>
          <a:xfrm>
            <a:off x="10952226" y="4300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2226" y="417322"/>
            <a:ext cx="141732" cy="141732"/>
          </a:xfrm>
          <a:prstGeom prst="rect">
            <a:avLst/>
          </a:prstGeom>
          <a:noFill/>
        </p:spPr>
        <p:txBody>
          <a:bodyPr wrap="square">
            <a:spAutoFit/>
          </a:bodyPr>
          <a:lstStyle/>
          <a:p>
            <a:pPr algn="ctr"/>
            <a:r>
              <a:rPr sz="600" b="1">
                <a:solidFill>
                  <a:srgbClr val="FFFFFF"/>
                </a:solidFill>
                <a:latin typeface="Arial"/>
              </a:rPr>
              <a:t>9</a:t>
            </a:r>
          </a:p>
        </p:txBody>
      </p:sp>
      <p:sp>
        <p:nvSpPr>
          <p:cNvPr id="37" name="TextBox 36"/>
          <p:cNvSpPr txBox="1"/>
          <p:nvPr/>
        </p:nvSpPr>
        <p:spPr>
          <a:xfrm>
            <a:off x="457200" y="676656"/>
            <a:ext cx="1417320" cy="219456"/>
          </a:xfrm>
          <a:prstGeom prst="rect">
            <a:avLst/>
          </a:prstGeom>
          <a:noFill/>
        </p:spPr>
        <p:txBody>
          <a:bodyPr wrap="square">
            <a:spAutoFit/>
          </a:bodyPr>
          <a:lstStyle/>
          <a:p>
            <a:pPr algn="l"/>
            <a:r>
              <a:rPr sz="900" b="1">
                <a:solidFill>
                  <a:srgbClr val="00D4E4"/>
                </a:solidFill>
                <a:latin typeface="Inter"/>
              </a:rPr>
              <a:t>KEY QUALITIES:</a:t>
            </a:r>
          </a:p>
        </p:txBody>
      </p:sp>
      <p:sp>
        <p:nvSpPr>
          <p:cNvPr id="38" name="Rectangle 37"/>
          <p:cNvSpPr/>
          <p:nvPr/>
        </p:nvSpPr>
        <p:spPr>
          <a:xfrm>
            <a:off x="1874520" y="702056"/>
            <a:ext cx="16154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50720" y="702056"/>
            <a:ext cx="1539240" cy="210312"/>
          </a:xfrm>
          <a:prstGeom prst="rect">
            <a:avLst/>
          </a:prstGeom>
          <a:noFill/>
        </p:spPr>
        <p:txBody>
          <a:bodyPr wrap="square">
            <a:spAutoFit/>
          </a:bodyPr>
          <a:lstStyle/>
          <a:p>
            <a:pPr algn="l"/>
            <a:r>
              <a:rPr sz="900" b="0">
                <a:solidFill>
                  <a:srgbClr val="F2F2F0"/>
                </a:solidFill>
                <a:latin typeface="Inter"/>
              </a:rPr>
              <a:t>Positionally Dominant</a:t>
            </a:r>
          </a:p>
        </p:txBody>
      </p:sp>
      <p:sp>
        <p:nvSpPr>
          <p:cNvPr id="40" name="Rectangle 39"/>
          <p:cNvSpPr/>
          <p:nvPr/>
        </p:nvSpPr>
        <p:spPr>
          <a:xfrm>
            <a:off x="3544824" y="702056"/>
            <a:ext cx="102108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21024" y="702056"/>
            <a:ext cx="944880" cy="210312"/>
          </a:xfrm>
          <a:prstGeom prst="rect">
            <a:avLst/>
          </a:prstGeom>
          <a:noFill/>
        </p:spPr>
        <p:txBody>
          <a:bodyPr wrap="square">
            <a:spAutoFit/>
          </a:bodyPr>
          <a:lstStyle/>
          <a:p>
            <a:pPr algn="l"/>
            <a:r>
              <a:rPr sz="900" b="0">
                <a:solidFill>
                  <a:srgbClr val="F2F2F0"/>
                </a:solidFill>
                <a:latin typeface="Inter"/>
              </a:rPr>
              <a:t>Vocal Leader</a:t>
            </a:r>
          </a:p>
        </p:txBody>
      </p:sp>
      <p:sp>
        <p:nvSpPr>
          <p:cNvPr id="42" name="Rectangle 41"/>
          <p:cNvSpPr/>
          <p:nvPr/>
        </p:nvSpPr>
        <p:spPr>
          <a:xfrm>
            <a:off x="4620768" y="702056"/>
            <a:ext cx="148336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96968" y="702056"/>
            <a:ext cx="1407160" cy="210312"/>
          </a:xfrm>
          <a:prstGeom prst="rect">
            <a:avLst/>
          </a:prstGeom>
          <a:noFill/>
        </p:spPr>
        <p:txBody>
          <a:bodyPr wrap="square">
            <a:spAutoFit/>
          </a:bodyPr>
          <a:lstStyle/>
          <a:p>
            <a:pPr algn="l"/>
            <a:r>
              <a:rPr sz="900" b="0">
                <a:solidFill>
                  <a:srgbClr val="F2F2F0"/>
                </a:solidFill>
                <a:latin typeface="Inter"/>
              </a:rPr>
              <a:t>Technically Skilled</a:t>
            </a:r>
          </a:p>
        </p:txBody>
      </p:sp>
      <p:sp>
        <p:nvSpPr>
          <p:cNvPr id="44" name="Rectangle 43"/>
          <p:cNvSpPr/>
          <p:nvPr/>
        </p:nvSpPr>
        <p:spPr>
          <a:xfrm>
            <a:off x="6158992" y="702056"/>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35192" y="702056"/>
            <a:ext cx="680720" cy="210312"/>
          </a:xfrm>
          <a:prstGeom prst="rect">
            <a:avLst/>
          </a:prstGeom>
          <a:noFill/>
        </p:spPr>
        <p:txBody>
          <a:bodyPr wrap="square">
            <a:spAutoFit/>
          </a:bodyPr>
          <a:lstStyle/>
          <a:p>
            <a:pPr algn="l"/>
            <a:r>
              <a:rPr sz="900" b="0">
                <a:solidFill>
                  <a:srgbClr val="F2F2F0"/>
                </a:solidFill>
                <a:latin typeface="Inter"/>
              </a:rPr>
              <a:t>Athletic</a:t>
            </a:r>
          </a:p>
        </p:txBody>
      </p:sp>
      <p:sp>
        <p:nvSpPr>
          <p:cNvPr id="46" name="Rectangle 45"/>
          <p:cNvSpPr/>
          <p:nvPr/>
        </p:nvSpPr>
        <p:spPr>
          <a:xfrm>
            <a:off x="6970776" y="702056"/>
            <a:ext cx="135128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6976" y="702056"/>
            <a:ext cx="1275080" cy="210312"/>
          </a:xfrm>
          <a:prstGeom prst="rect">
            <a:avLst/>
          </a:prstGeom>
          <a:noFill/>
        </p:spPr>
        <p:txBody>
          <a:bodyPr wrap="square">
            <a:spAutoFit/>
          </a:bodyPr>
          <a:lstStyle/>
          <a:p>
            <a:pPr algn="l"/>
            <a:r>
              <a:rPr sz="900" b="0">
                <a:solidFill>
                  <a:srgbClr val="F2F2F0"/>
                </a:solidFill>
                <a:latin typeface="Inter"/>
              </a:rPr>
              <a:t>Aerially Dominant</a:t>
            </a:r>
          </a:p>
        </p:txBody>
      </p:sp>
      <p:sp>
        <p:nvSpPr>
          <p:cNvPr id="48" name="Rectangle 47"/>
          <p:cNvSpPr/>
          <p:nvPr/>
        </p:nvSpPr>
        <p:spPr>
          <a:xfrm>
            <a:off x="457200"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 y="2433320"/>
            <a:ext cx="3416808" cy="201168"/>
          </a:xfrm>
          <a:prstGeom prst="rect">
            <a:avLst/>
          </a:prstGeom>
          <a:noFill/>
        </p:spPr>
        <p:txBody>
          <a:bodyPr wrap="square">
            <a:spAutoFit/>
          </a:bodyPr>
          <a:lstStyle/>
          <a:p>
            <a:pPr algn="l"/>
            <a:r>
              <a:rPr sz="1500" b="1">
                <a:solidFill>
                  <a:srgbClr val="F5C518"/>
                </a:solidFill>
                <a:latin typeface="Barlow Condensed"/>
              </a:rPr>
              <a:t>DEF 1/3</a:t>
            </a:r>
          </a:p>
        </p:txBody>
      </p:sp>
      <p:sp>
        <p:nvSpPr>
          <p:cNvPr id="51" name="TextBox 50"/>
          <p:cNvSpPr txBox="1"/>
          <p:nvPr/>
        </p:nvSpPr>
        <p:spPr>
          <a:xfrm>
            <a:off x="566928"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52" name="TextBox 51"/>
          <p:cNvSpPr txBox="1"/>
          <p:nvPr/>
        </p:nvSpPr>
        <p:spPr>
          <a:xfrm>
            <a:off x="566928" y="2917952"/>
            <a:ext cx="3453384" cy="868680"/>
          </a:xfrm>
          <a:prstGeom prst="rect">
            <a:avLst/>
          </a:prstGeom>
          <a:noFill/>
        </p:spPr>
        <p:txBody>
          <a:bodyPr wrap="square">
            <a:spAutoFit/>
          </a:bodyPr>
          <a:lstStyle/>
          <a:p>
            <a:pPr algn="l"/>
            <a:r>
              <a:rPr sz="1000" b="0">
                <a:solidFill>
                  <a:srgbClr val="F2F2F0"/>
                </a:solidFill>
                <a:latin typeface="Inter"/>
              </a:rPr>
              <a:t>Position to spread out &amp; provide passing option (for GK); Make accurate forward/diagonal passes between/behind opposition lines</a:t>
            </a:r>
          </a:p>
        </p:txBody>
      </p:sp>
      <p:sp>
        <p:nvSpPr>
          <p:cNvPr id="53" name="TextBox 52"/>
          <p:cNvSpPr txBox="1"/>
          <p:nvPr/>
        </p:nvSpPr>
        <p:spPr>
          <a:xfrm>
            <a:off x="566928"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54" name="TextBox 53"/>
          <p:cNvSpPr txBox="1"/>
          <p:nvPr/>
        </p:nvSpPr>
        <p:spPr>
          <a:xfrm>
            <a:off x="566928" y="4024376"/>
            <a:ext cx="3453384" cy="777240"/>
          </a:xfrm>
          <a:prstGeom prst="rect">
            <a:avLst/>
          </a:prstGeom>
          <a:noFill/>
        </p:spPr>
        <p:txBody>
          <a:bodyPr wrap="square">
            <a:spAutoFit/>
          </a:bodyPr>
          <a:lstStyle/>
          <a:p>
            <a:pPr algn="l"/>
            <a:r>
              <a:rPr sz="1000" b="0">
                <a:solidFill>
                  <a:srgbClr val="F2F2F0"/>
                </a:solidFill>
                <a:latin typeface="Inter"/>
              </a:rPr>
              <a:t>Deny opposition in 1v1 (air &amp; ground); Be first to the ball on all crosses; Clear ball from danger areas</a:t>
            </a:r>
          </a:p>
        </p:txBody>
      </p:sp>
      <p:sp>
        <p:nvSpPr>
          <p:cNvPr id="55" name="TextBox 54"/>
          <p:cNvSpPr txBox="1"/>
          <p:nvPr/>
        </p:nvSpPr>
        <p:spPr>
          <a:xfrm>
            <a:off x="566928"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56" name="TextBox 55"/>
          <p:cNvSpPr txBox="1"/>
          <p:nvPr/>
        </p:nvSpPr>
        <p:spPr>
          <a:xfrm>
            <a:off x="566928" y="5039360"/>
            <a:ext cx="3453384" cy="713232"/>
          </a:xfrm>
          <a:prstGeom prst="rect">
            <a:avLst/>
          </a:prstGeom>
          <a:noFill/>
        </p:spPr>
        <p:txBody>
          <a:bodyPr wrap="square">
            <a:spAutoFit/>
          </a:bodyPr>
          <a:lstStyle/>
          <a:p>
            <a:pPr algn="l"/>
            <a:r>
              <a:rPr sz="1000" b="0">
                <a:solidFill>
                  <a:srgbClr val="F2F2F0"/>
                </a:solidFill>
                <a:latin typeface="Inter"/>
              </a:rPr>
              <a:t>D→A: Move quickly into position to support in space; Pass or dribble forward  ·  A→D: If closest, put pressure on the ball immediately to prevent danger</a:t>
            </a:r>
          </a:p>
        </p:txBody>
      </p:sp>
      <p:sp>
        <p:nvSpPr>
          <p:cNvPr id="57" name="Rectangle 56"/>
          <p:cNvSpPr/>
          <p:nvPr/>
        </p:nvSpPr>
        <p:spPr>
          <a:xfrm>
            <a:off x="4258056"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58056"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86072" y="2433320"/>
            <a:ext cx="3416808" cy="201168"/>
          </a:xfrm>
          <a:prstGeom prst="rect">
            <a:avLst/>
          </a:prstGeom>
          <a:noFill/>
        </p:spPr>
        <p:txBody>
          <a:bodyPr wrap="square">
            <a:spAutoFit/>
          </a:bodyPr>
          <a:lstStyle/>
          <a:p>
            <a:pPr algn="l"/>
            <a:r>
              <a:rPr sz="1500" b="1">
                <a:solidFill>
                  <a:srgbClr val="F5C518"/>
                </a:solidFill>
                <a:latin typeface="Barlow Condensed"/>
              </a:rPr>
              <a:t>MID 1/3</a:t>
            </a:r>
          </a:p>
        </p:txBody>
      </p:sp>
      <p:sp>
        <p:nvSpPr>
          <p:cNvPr id="60" name="TextBox 59"/>
          <p:cNvSpPr txBox="1"/>
          <p:nvPr/>
        </p:nvSpPr>
        <p:spPr>
          <a:xfrm>
            <a:off x="4367784"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1" name="TextBox 60"/>
          <p:cNvSpPr txBox="1"/>
          <p:nvPr/>
        </p:nvSpPr>
        <p:spPr>
          <a:xfrm>
            <a:off x="4367784" y="2917952"/>
            <a:ext cx="3453384" cy="868680"/>
          </a:xfrm>
          <a:prstGeom prst="rect">
            <a:avLst/>
          </a:prstGeom>
          <a:noFill/>
        </p:spPr>
        <p:txBody>
          <a:bodyPr wrap="square">
            <a:spAutoFit/>
          </a:bodyPr>
          <a:lstStyle/>
          <a:p>
            <a:pPr algn="l"/>
            <a:r>
              <a:rPr sz="1000" b="0">
                <a:solidFill>
                  <a:srgbClr val="F2F2F0"/>
                </a:solidFill>
                <a:latin typeface="Inter"/>
              </a:rPr>
              <a:t>Move forward with/without ball to create 2v1; Position to support if ball cannot be played forward</a:t>
            </a:r>
          </a:p>
        </p:txBody>
      </p:sp>
      <p:sp>
        <p:nvSpPr>
          <p:cNvPr id="62" name="TextBox 61"/>
          <p:cNvSpPr txBox="1"/>
          <p:nvPr/>
        </p:nvSpPr>
        <p:spPr>
          <a:xfrm>
            <a:off x="4367784"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63" name="TextBox 62"/>
          <p:cNvSpPr txBox="1"/>
          <p:nvPr/>
        </p:nvSpPr>
        <p:spPr>
          <a:xfrm>
            <a:off x="4367784" y="4024376"/>
            <a:ext cx="3453384" cy="777240"/>
          </a:xfrm>
          <a:prstGeom prst="rect">
            <a:avLst/>
          </a:prstGeom>
          <a:noFill/>
        </p:spPr>
        <p:txBody>
          <a:bodyPr wrap="square">
            <a:spAutoFit/>
          </a:bodyPr>
          <a:lstStyle/>
          <a:p>
            <a:pPr algn="l"/>
            <a:r>
              <a:rPr sz="1000" b="0">
                <a:solidFill>
                  <a:srgbClr val="F2F2F0"/>
                </a:solidFill>
                <a:latin typeface="Inter"/>
              </a:rPr>
              <a:t>Monitor opponent &amp; analyze situation: PCB, zone, man mark etc.; Movements in partnership with other CB</a:t>
            </a:r>
          </a:p>
        </p:txBody>
      </p:sp>
      <p:sp>
        <p:nvSpPr>
          <p:cNvPr id="64" name="TextBox 63"/>
          <p:cNvSpPr txBox="1"/>
          <p:nvPr/>
        </p:nvSpPr>
        <p:spPr>
          <a:xfrm>
            <a:off x="4367784"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5" name="TextBox 64"/>
          <p:cNvSpPr txBox="1"/>
          <p:nvPr/>
        </p:nvSpPr>
        <p:spPr>
          <a:xfrm>
            <a:off x="4367784" y="5039360"/>
            <a:ext cx="3453384" cy="713232"/>
          </a:xfrm>
          <a:prstGeom prst="rect">
            <a:avLst/>
          </a:prstGeom>
          <a:noFill/>
        </p:spPr>
        <p:txBody>
          <a:bodyPr wrap="square">
            <a:spAutoFit/>
          </a:bodyPr>
          <a:lstStyle/>
          <a:p>
            <a:pPr algn="l"/>
            <a:r>
              <a:rPr sz="1000" b="0">
                <a:solidFill>
                  <a:srgbClr val="F2F2F0"/>
                </a:solidFill>
                <a:latin typeface="Inter"/>
              </a:rPr>
              <a:t>D→A: Coach the defensive line to push up as a unit  ·  A→D: Quick decision to pressure the ball, delay the attack, or drop back</a:t>
            </a:r>
          </a:p>
        </p:txBody>
      </p:sp>
      <p:sp>
        <p:nvSpPr>
          <p:cNvPr id="66" name="Rectangle 65"/>
          <p:cNvSpPr/>
          <p:nvPr/>
        </p:nvSpPr>
        <p:spPr>
          <a:xfrm>
            <a:off x="8058912"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058912"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186928" y="2433320"/>
            <a:ext cx="3416808" cy="201168"/>
          </a:xfrm>
          <a:prstGeom prst="rect">
            <a:avLst/>
          </a:prstGeom>
          <a:noFill/>
        </p:spPr>
        <p:txBody>
          <a:bodyPr wrap="square">
            <a:spAutoFit/>
          </a:bodyPr>
          <a:lstStyle/>
          <a:p>
            <a:pPr algn="l"/>
            <a:r>
              <a:rPr sz="1500" b="1">
                <a:solidFill>
                  <a:srgbClr val="F5C518"/>
                </a:solidFill>
                <a:latin typeface="Barlow Condensed"/>
              </a:rPr>
              <a:t>OFF 1/3</a:t>
            </a:r>
          </a:p>
        </p:txBody>
      </p:sp>
      <p:sp>
        <p:nvSpPr>
          <p:cNvPr id="69" name="TextBox 68"/>
          <p:cNvSpPr txBox="1"/>
          <p:nvPr/>
        </p:nvSpPr>
        <p:spPr>
          <a:xfrm>
            <a:off x="8168640"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70" name="TextBox 69"/>
          <p:cNvSpPr txBox="1"/>
          <p:nvPr/>
        </p:nvSpPr>
        <p:spPr>
          <a:xfrm>
            <a:off x="8168640" y="2917952"/>
            <a:ext cx="3453384" cy="868680"/>
          </a:xfrm>
          <a:prstGeom prst="rect">
            <a:avLst/>
          </a:prstGeom>
          <a:noFill/>
        </p:spPr>
        <p:txBody>
          <a:bodyPr wrap="square">
            <a:spAutoFit/>
          </a:bodyPr>
          <a:lstStyle/>
          <a:p>
            <a:pPr algn="l"/>
            <a:r>
              <a:rPr sz="1000" b="0">
                <a:solidFill>
                  <a:srgbClr val="F2F2F0"/>
                </a:solidFill>
                <a:latin typeface="Inter"/>
              </a:rPr>
              <a:t>Push up defensive line &amp; organize teammates to take preventive defensive action</a:t>
            </a:r>
          </a:p>
        </p:txBody>
      </p:sp>
      <p:sp>
        <p:nvSpPr>
          <p:cNvPr id="71" name="TextBox 70"/>
          <p:cNvSpPr txBox="1"/>
          <p:nvPr/>
        </p:nvSpPr>
        <p:spPr>
          <a:xfrm>
            <a:off x="8168640"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72" name="TextBox 71"/>
          <p:cNvSpPr txBox="1"/>
          <p:nvPr/>
        </p:nvSpPr>
        <p:spPr>
          <a:xfrm>
            <a:off x="8168640" y="4024376"/>
            <a:ext cx="3453384" cy="777240"/>
          </a:xfrm>
          <a:prstGeom prst="rect">
            <a:avLst/>
          </a:prstGeom>
          <a:noFill/>
        </p:spPr>
        <p:txBody>
          <a:bodyPr wrap="square">
            <a:spAutoFit/>
          </a:bodyPr>
          <a:lstStyle/>
          <a:p>
            <a:pPr algn="l"/>
            <a:r>
              <a:rPr sz="1000" b="0">
                <a:solidFill>
                  <a:srgbClr val="F2F2F0"/>
                </a:solidFill>
                <a:latin typeface="Inter"/>
              </a:rPr>
              <a:t>Lead &amp; organize defensive line; Intercept long &amp; through passes</a:t>
            </a:r>
          </a:p>
        </p:txBody>
      </p:sp>
      <p:sp>
        <p:nvSpPr>
          <p:cNvPr id="73" name="TextBox 72"/>
          <p:cNvSpPr txBox="1"/>
          <p:nvPr/>
        </p:nvSpPr>
        <p:spPr>
          <a:xfrm>
            <a:off x="8168640"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74" name="TextBox 73"/>
          <p:cNvSpPr txBox="1"/>
          <p:nvPr/>
        </p:nvSpPr>
        <p:spPr>
          <a:xfrm>
            <a:off x="8168640" y="5039360"/>
            <a:ext cx="3453384" cy="713232"/>
          </a:xfrm>
          <a:prstGeom prst="rect">
            <a:avLst/>
          </a:prstGeom>
          <a:noFill/>
        </p:spPr>
        <p:txBody>
          <a:bodyPr wrap="square">
            <a:spAutoFit/>
          </a:bodyPr>
          <a:lstStyle/>
          <a:p>
            <a:pPr algn="l"/>
            <a:r>
              <a:rPr sz="1000" b="0">
                <a:solidFill>
                  <a:srgbClr val="F2F2F0"/>
                </a:solidFill>
                <a:latin typeface="Inter"/>
              </a:rPr>
              <a:t>A→D: Take preventive defensive action</a:t>
            </a:r>
          </a:p>
        </p:txBody>
      </p:sp>
      <p:sp>
        <p:nvSpPr>
          <p:cNvPr id="75" name="TextBox 74"/>
          <p:cNvSpPr txBox="1"/>
          <p:nvPr/>
        </p:nvSpPr>
        <p:spPr>
          <a:xfrm>
            <a:off x="457200" y="5405120"/>
            <a:ext cx="11274552" cy="219456"/>
          </a:xfrm>
          <a:prstGeom prst="rect">
            <a:avLst/>
          </a:prstGeom>
          <a:noFill/>
        </p:spPr>
        <p:txBody>
          <a:bodyPr wrap="square">
            <a:spAutoFit/>
          </a:bodyPr>
          <a:lstStyle/>
          <a:p>
            <a:pPr algn="l"/>
            <a:r>
              <a:rPr sz="900" b="1">
                <a:solidFill>
                  <a:srgbClr val="00D4E4"/>
                </a:solidFill>
                <a:latin typeface="Inter"/>
              </a:rPr>
              <a:t>PRINCIPLES OF PLAY</a:t>
            </a:r>
          </a:p>
        </p:txBody>
      </p:sp>
      <p:sp>
        <p:nvSpPr>
          <p:cNvPr id="76" name="Rectangle 75"/>
          <p:cNvSpPr/>
          <p:nvPr/>
        </p:nvSpPr>
        <p:spPr>
          <a:xfrm>
            <a:off x="457200"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6928" y="5706872"/>
            <a:ext cx="3453384" cy="219456"/>
          </a:xfrm>
          <a:prstGeom prst="rect">
            <a:avLst/>
          </a:prstGeom>
          <a:noFill/>
        </p:spPr>
        <p:txBody>
          <a:bodyPr wrap="square">
            <a:spAutoFit/>
          </a:bodyPr>
          <a:lstStyle/>
          <a:p>
            <a:pPr algn="l"/>
            <a:r>
              <a:rPr sz="800" b="1">
                <a:solidFill>
                  <a:srgbClr val="F5C518"/>
                </a:solidFill>
                <a:latin typeface="Inter"/>
              </a:rPr>
              <a:t>BUILD OUT</a:t>
            </a:r>
          </a:p>
        </p:txBody>
      </p:sp>
      <p:sp>
        <p:nvSpPr>
          <p:cNvPr id="78" name="TextBox 77"/>
          <p:cNvSpPr txBox="1"/>
          <p:nvPr/>
        </p:nvSpPr>
        <p:spPr>
          <a:xfrm>
            <a:off x="566928" y="5953760"/>
            <a:ext cx="3453384" cy="219456"/>
          </a:xfrm>
          <a:prstGeom prst="rect">
            <a:avLst/>
          </a:prstGeom>
          <a:noFill/>
        </p:spPr>
        <p:txBody>
          <a:bodyPr wrap="square">
            <a:spAutoFit/>
          </a:bodyPr>
          <a:lstStyle/>
          <a:p>
            <a:pPr algn="l"/>
            <a:r>
              <a:rPr sz="1000" b="0">
                <a:solidFill>
                  <a:srgbClr val="F2F2F0"/>
                </a:solidFill>
                <a:latin typeface="Inter"/>
              </a:rPr>
              <a:t>• Disorganize opponent</a:t>
            </a:r>
          </a:p>
        </p:txBody>
      </p:sp>
      <p:sp>
        <p:nvSpPr>
          <p:cNvPr id="79" name="TextBox 78"/>
          <p:cNvSpPr txBox="1"/>
          <p:nvPr/>
        </p:nvSpPr>
        <p:spPr>
          <a:xfrm>
            <a:off x="566928" y="6200648"/>
            <a:ext cx="3453384" cy="219456"/>
          </a:xfrm>
          <a:prstGeom prst="rect">
            <a:avLst/>
          </a:prstGeom>
          <a:noFill/>
        </p:spPr>
        <p:txBody>
          <a:bodyPr wrap="square">
            <a:spAutoFit/>
          </a:bodyPr>
          <a:lstStyle/>
          <a:p>
            <a:pPr algn="l"/>
            <a:r>
              <a:rPr sz="1000" b="0">
                <a:solidFill>
                  <a:srgbClr val="F2F2F0"/>
                </a:solidFill>
                <a:latin typeface="Inter"/>
              </a:rPr>
              <a:t>• Eliminate defenders with pass</a:t>
            </a:r>
          </a:p>
        </p:txBody>
      </p:sp>
      <p:sp>
        <p:nvSpPr>
          <p:cNvPr id="80" name="TextBox 79"/>
          <p:cNvSpPr txBox="1"/>
          <p:nvPr/>
        </p:nvSpPr>
        <p:spPr>
          <a:xfrm>
            <a:off x="566928" y="6447536"/>
            <a:ext cx="3453384" cy="219456"/>
          </a:xfrm>
          <a:prstGeom prst="rect">
            <a:avLst/>
          </a:prstGeom>
          <a:noFill/>
        </p:spPr>
        <p:txBody>
          <a:bodyPr wrap="square">
            <a:spAutoFit/>
          </a:bodyPr>
          <a:lstStyle/>
          <a:p>
            <a:pPr algn="l"/>
            <a:r>
              <a:rPr sz="1000" b="0">
                <a:solidFill>
                  <a:srgbClr val="F2F2F0"/>
                </a:solidFill>
                <a:latin typeface="Inter"/>
              </a:rPr>
              <a:t>• Variety in passing</a:t>
            </a:r>
          </a:p>
        </p:txBody>
      </p:sp>
      <p:sp>
        <p:nvSpPr>
          <p:cNvPr id="81" name="Rectangle 80"/>
          <p:cNvSpPr/>
          <p:nvPr/>
        </p:nvSpPr>
        <p:spPr>
          <a:xfrm>
            <a:off x="4258056"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67784" y="5706872"/>
            <a:ext cx="3453384" cy="219456"/>
          </a:xfrm>
          <a:prstGeom prst="rect">
            <a:avLst/>
          </a:prstGeom>
          <a:noFill/>
        </p:spPr>
        <p:txBody>
          <a:bodyPr wrap="square">
            <a:spAutoFit/>
          </a:bodyPr>
          <a:lstStyle/>
          <a:p>
            <a:pPr algn="l"/>
            <a:r>
              <a:rPr sz="800" b="1">
                <a:solidFill>
                  <a:srgbClr val="F5C518"/>
                </a:solidFill>
                <a:latin typeface="Inter"/>
              </a:rPr>
              <a:t>ADVANCEMENT PHASE</a:t>
            </a:r>
          </a:p>
        </p:txBody>
      </p:sp>
      <p:sp>
        <p:nvSpPr>
          <p:cNvPr id="83" name="TextBox 82"/>
          <p:cNvSpPr txBox="1"/>
          <p:nvPr/>
        </p:nvSpPr>
        <p:spPr>
          <a:xfrm>
            <a:off x="4367784" y="5953760"/>
            <a:ext cx="3453384" cy="219456"/>
          </a:xfrm>
          <a:prstGeom prst="rect">
            <a:avLst/>
          </a:prstGeom>
          <a:noFill/>
        </p:spPr>
        <p:txBody>
          <a:bodyPr wrap="square">
            <a:spAutoFit/>
          </a:bodyPr>
          <a:lstStyle/>
          <a:p>
            <a:pPr algn="l"/>
            <a:r>
              <a:rPr sz="1000" b="0">
                <a:solidFill>
                  <a:srgbClr val="F2F2F0"/>
                </a:solidFill>
                <a:latin typeface="Inter"/>
              </a:rPr>
              <a:t>• Disorganize opponent</a:t>
            </a:r>
          </a:p>
        </p:txBody>
      </p:sp>
      <p:sp>
        <p:nvSpPr>
          <p:cNvPr id="84" name="TextBox 83"/>
          <p:cNvSpPr txBox="1"/>
          <p:nvPr/>
        </p:nvSpPr>
        <p:spPr>
          <a:xfrm>
            <a:off x="4367784" y="6200648"/>
            <a:ext cx="3453384" cy="219456"/>
          </a:xfrm>
          <a:prstGeom prst="rect">
            <a:avLst/>
          </a:prstGeom>
          <a:noFill/>
        </p:spPr>
        <p:txBody>
          <a:bodyPr wrap="square">
            <a:spAutoFit/>
          </a:bodyPr>
          <a:lstStyle/>
          <a:p>
            <a:pPr algn="l"/>
            <a:r>
              <a:rPr sz="1000" b="0">
                <a:solidFill>
                  <a:srgbClr val="F2F2F0"/>
                </a:solidFill>
                <a:latin typeface="Inter"/>
              </a:rPr>
              <a:t>• Eliminate defenders with pass or dribble</a:t>
            </a:r>
          </a:p>
        </p:txBody>
      </p:sp>
      <p:sp>
        <p:nvSpPr>
          <p:cNvPr id="85" name="TextBox 84"/>
          <p:cNvSpPr txBox="1"/>
          <p:nvPr/>
        </p:nvSpPr>
        <p:spPr>
          <a:xfrm>
            <a:off x="4367784" y="6447536"/>
            <a:ext cx="3453384" cy="219456"/>
          </a:xfrm>
          <a:prstGeom prst="rect">
            <a:avLst/>
          </a:prstGeom>
          <a:noFill/>
        </p:spPr>
        <p:txBody>
          <a:bodyPr wrap="square">
            <a:spAutoFit/>
          </a:bodyPr>
          <a:lstStyle/>
          <a:p>
            <a:pPr algn="l"/>
            <a:r>
              <a:rPr sz="1000" b="0">
                <a:solidFill>
                  <a:srgbClr val="F2F2F0"/>
                </a:solidFill>
                <a:latin typeface="Inter"/>
              </a:rPr>
              <a:t>• Overload one side to isolate opposite side</a:t>
            </a:r>
          </a:p>
        </p:txBody>
      </p:sp>
      <p:sp>
        <p:nvSpPr>
          <p:cNvPr id="86" name="Rectangle 85"/>
          <p:cNvSpPr/>
          <p:nvPr/>
        </p:nvSpPr>
        <p:spPr>
          <a:xfrm>
            <a:off x="8058912"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168640" y="5706872"/>
            <a:ext cx="3453384" cy="219456"/>
          </a:xfrm>
          <a:prstGeom prst="rect">
            <a:avLst/>
          </a:prstGeom>
          <a:noFill/>
        </p:spPr>
        <p:txBody>
          <a:bodyPr wrap="square">
            <a:spAutoFit/>
          </a:bodyPr>
          <a:lstStyle/>
          <a:p>
            <a:pPr algn="l"/>
            <a:r>
              <a:rPr sz="800" b="1">
                <a:solidFill>
                  <a:srgbClr val="F5C518"/>
                </a:solidFill>
                <a:latin typeface="Inter"/>
              </a:rPr>
              <a:t>CHANCE CREATION / SCORING</a:t>
            </a:r>
          </a:p>
        </p:txBody>
      </p:sp>
      <p:sp>
        <p:nvSpPr>
          <p:cNvPr id="88" name="TextBox 87"/>
          <p:cNvSpPr txBox="1"/>
          <p:nvPr/>
        </p:nvSpPr>
        <p:spPr>
          <a:xfrm>
            <a:off x="8168640" y="5953760"/>
            <a:ext cx="3453384" cy="219456"/>
          </a:xfrm>
          <a:prstGeom prst="rect">
            <a:avLst/>
          </a:prstGeom>
          <a:noFill/>
        </p:spPr>
        <p:txBody>
          <a:bodyPr wrap="square">
            <a:spAutoFit/>
          </a:bodyPr>
          <a:lstStyle/>
          <a:p>
            <a:pPr algn="l"/>
            <a:r>
              <a:rPr sz="1000" b="0">
                <a:solidFill>
                  <a:srgbClr val="F2F2F0"/>
                </a:solidFill>
                <a:latin typeface="Inter"/>
              </a:rPr>
              <a:t>• Disorganize opponent</a:t>
            </a:r>
          </a:p>
        </p:txBody>
      </p:sp>
      <p:sp>
        <p:nvSpPr>
          <p:cNvPr id="89" name="TextBox 88"/>
          <p:cNvSpPr txBox="1"/>
          <p:nvPr/>
        </p:nvSpPr>
        <p:spPr>
          <a:xfrm>
            <a:off x="8168640" y="6200648"/>
            <a:ext cx="3453384" cy="219456"/>
          </a:xfrm>
          <a:prstGeom prst="rect">
            <a:avLst/>
          </a:prstGeom>
          <a:noFill/>
        </p:spPr>
        <p:txBody>
          <a:bodyPr wrap="square">
            <a:spAutoFit/>
          </a:bodyPr>
          <a:lstStyle/>
          <a:p>
            <a:pPr algn="l"/>
            <a:r>
              <a:rPr sz="1000" b="0">
                <a:solidFill>
                  <a:srgbClr val="F2F2F0"/>
                </a:solidFill>
                <a:latin typeface="Inter"/>
              </a:rPr>
              <a:t>• Eliminate defenders with pass or dribble</a:t>
            </a:r>
          </a:p>
        </p:txBody>
      </p:sp>
      <p:sp>
        <p:nvSpPr>
          <p:cNvPr id="90" name="TextBox 89"/>
          <p:cNvSpPr txBox="1"/>
          <p:nvPr/>
        </p:nvSpPr>
        <p:spPr>
          <a:xfrm>
            <a:off x="8168640" y="6447536"/>
            <a:ext cx="3453384" cy="219456"/>
          </a:xfrm>
          <a:prstGeom prst="rect">
            <a:avLst/>
          </a:prstGeom>
          <a:noFill/>
        </p:spPr>
        <p:txBody>
          <a:bodyPr wrap="square">
            <a:spAutoFit/>
          </a:bodyPr>
          <a:lstStyle/>
          <a:p>
            <a:pPr algn="l"/>
            <a:r>
              <a:rPr sz="1000" b="0">
                <a:solidFill>
                  <a:srgbClr val="F2F2F0"/>
                </a:solidFill>
                <a:latin typeface="Inter"/>
              </a:rPr>
              <a:t>• Crossing from variety of positions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
            <a:ext cx="930656" cy="5303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30656" cy="530352"/>
          </a:xfrm>
          <a:prstGeom prst="rect">
            <a:avLst/>
          </a:prstGeom>
          <a:noFill/>
        </p:spPr>
        <p:txBody>
          <a:bodyPr wrap="square">
            <a:spAutoFit/>
          </a:bodyPr>
          <a:lstStyle/>
          <a:p>
            <a:pPr algn="ctr"/>
            <a:r>
              <a:rPr sz="2000" b="1">
                <a:solidFill>
                  <a:srgbClr val="0D0D0D"/>
                </a:solidFill>
                <a:latin typeface="Barlow Condensed"/>
              </a:rPr>
              <a:t>#2 / #3</a:t>
            </a:r>
          </a:p>
        </p:txBody>
      </p:sp>
      <p:sp>
        <p:nvSpPr>
          <p:cNvPr id="5" name="TextBox 4"/>
          <p:cNvSpPr txBox="1"/>
          <p:nvPr/>
        </p:nvSpPr>
        <p:spPr>
          <a:xfrm>
            <a:off x="1515872" y="91440"/>
            <a:ext cx="8798560" cy="530352"/>
          </a:xfrm>
          <a:prstGeom prst="rect">
            <a:avLst/>
          </a:prstGeom>
          <a:noFill/>
        </p:spPr>
        <p:txBody>
          <a:bodyPr wrap="square">
            <a:spAutoFit/>
          </a:bodyPr>
          <a:lstStyle/>
          <a:p>
            <a:pPr algn="l"/>
            <a:r>
              <a:rPr sz="2800" b="1">
                <a:solidFill>
                  <a:srgbClr val="F5C518"/>
                </a:solidFill>
                <a:latin typeface="Barlow Condensed"/>
              </a:rPr>
              <a:t>FULL BACK — FB</a:t>
            </a:r>
          </a:p>
        </p:txBody>
      </p:sp>
      <p:sp>
        <p:nvSpPr>
          <p:cNvPr id="6" name="Rectangle 5"/>
          <p:cNvSpPr/>
          <p:nvPr/>
        </p:nvSpPr>
        <p:spPr>
          <a:xfrm>
            <a:off x="10314432" y="91440"/>
            <a:ext cx="1417320" cy="2204720"/>
          </a:xfrm>
          <a:prstGeom prst="rect">
            <a:avLst/>
          </a:prstGeom>
          <a:solidFill>
            <a:srgbClr val="1E6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7424" y="154432"/>
            <a:ext cx="1291336" cy="2078736"/>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7424" y="1193800"/>
            <a:ext cx="1291336" cy="7874"/>
          </a:xfrm>
          <a:prstGeom prst="rect">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18368" y="989076"/>
            <a:ext cx="409448" cy="409448"/>
          </a:xfrm>
          <a:prstGeom prst="ellipse">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11281" y="1189863"/>
            <a:ext cx="23622" cy="23622"/>
          </a:xfrm>
          <a:prstGeom prst="ellipse">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76636" y="1760728"/>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76636" y="217424"/>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02620" y="2044192"/>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02620" y="217424"/>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52226" y="205206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52226" y="2039366"/>
            <a:ext cx="141732" cy="141732"/>
          </a:xfrm>
          <a:prstGeom prst="rect">
            <a:avLst/>
          </a:prstGeom>
          <a:noFill/>
        </p:spPr>
        <p:txBody>
          <a:bodyPr wrap="square">
            <a:spAutoFit/>
          </a:bodyPr>
          <a:lstStyle/>
          <a:p>
            <a:pPr algn="ctr"/>
            <a:r>
              <a:rPr sz="600" b="1">
                <a:solidFill>
                  <a:srgbClr val="FFFFFF"/>
                </a:solidFill>
                <a:latin typeface="Arial"/>
              </a:rPr>
              <a:t>1</a:t>
            </a:r>
          </a:p>
        </p:txBody>
      </p:sp>
      <p:sp>
        <p:nvSpPr>
          <p:cNvPr id="17" name="Oval 16"/>
          <p:cNvSpPr/>
          <p:nvPr/>
        </p:nvSpPr>
        <p:spPr>
          <a:xfrm>
            <a:off x="10731754"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31754" y="1755902"/>
            <a:ext cx="141732" cy="141732"/>
          </a:xfrm>
          <a:prstGeom prst="rect">
            <a:avLst/>
          </a:prstGeom>
          <a:noFill/>
        </p:spPr>
        <p:txBody>
          <a:bodyPr wrap="square">
            <a:spAutoFit/>
          </a:bodyPr>
          <a:lstStyle/>
          <a:p>
            <a:pPr algn="ctr"/>
            <a:r>
              <a:rPr sz="600" b="1">
                <a:solidFill>
                  <a:srgbClr val="FFFFFF"/>
                </a:solidFill>
                <a:latin typeface="Arial"/>
              </a:rPr>
              <a:t>5</a:t>
            </a:r>
          </a:p>
        </p:txBody>
      </p:sp>
      <p:sp>
        <p:nvSpPr>
          <p:cNvPr id="19" name="Oval 18"/>
          <p:cNvSpPr/>
          <p:nvPr/>
        </p:nvSpPr>
        <p:spPr>
          <a:xfrm>
            <a:off x="11172698"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72698" y="1755902"/>
            <a:ext cx="141732" cy="141732"/>
          </a:xfrm>
          <a:prstGeom prst="rect">
            <a:avLst/>
          </a:prstGeom>
          <a:noFill/>
        </p:spPr>
        <p:txBody>
          <a:bodyPr wrap="square">
            <a:spAutoFit/>
          </a:bodyPr>
          <a:lstStyle/>
          <a:p>
            <a:pPr algn="ctr"/>
            <a:r>
              <a:rPr sz="600" b="1">
                <a:solidFill>
                  <a:srgbClr val="FFFFFF"/>
                </a:solidFill>
                <a:latin typeface="Arial"/>
              </a:rPr>
              <a:t>4</a:t>
            </a:r>
          </a:p>
        </p:txBody>
      </p:sp>
      <p:sp>
        <p:nvSpPr>
          <p:cNvPr id="21" name="Oval 20"/>
          <p:cNvSpPr/>
          <p:nvPr/>
        </p:nvSpPr>
        <p:spPr>
          <a:xfrm>
            <a:off x="10369550" y="1618996"/>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69550" y="1606296"/>
            <a:ext cx="173228" cy="173228"/>
          </a:xfrm>
          <a:prstGeom prst="rect">
            <a:avLst/>
          </a:prstGeom>
          <a:noFill/>
        </p:spPr>
        <p:txBody>
          <a:bodyPr wrap="square">
            <a:spAutoFit/>
          </a:bodyPr>
          <a:lstStyle/>
          <a:p>
            <a:pPr algn="ctr"/>
            <a:r>
              <a:rPr sz="600" b="1">
                <a:solidFill>
                  <a:srgbClr val="0D0D0D"/>
                </a:solidFill>
                <a:latin typeface="Arial"/>
              </a:rPr>
              <a:t>3</a:t>
            </a:r>
          </a:p>
        </p:txBody>
      </p:sp>
      <p:sp>
        <p:nvSpPr>
          <p:cNvPr id="23" name="Oval 22"/>
          <p:cNvSpPr/>
          <p:nvPr/>
        </p:nvSpPr>
        <p:spPr>
          <a:xfrm>
            <a:off x="11503406" y="1618996"/>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03406" y="1606296"/>
            <a:ext cx="173228" cy="173228"/>
          </a:xfrm>
          <a:prstGeom prst="rect">
            <a:avLst/>
          </a:prstGeom>
          <a:noFill/>
        </p:spPr>
        <p:txBody>
          <a:bodyPr wrap="square">
            <a:spAutoFit/>
          </a:bodyPr>
          <a:lstStyle/>
          <a:p>
            <a:pPr algn="ctr"/>
            <a:r>
              <a:rPr sz="600" b="1">
                <a:solidFill>
                  <a:srgbClr val="0D0D0D"/>
                </a:solidFill>
                <a:latin typeface="Arial"/>
              </a:rPr>
              <a:t>2</a:t>
            </a:r>
          </a:p>
        </p:txBody>
      </p:sp>
      <p:sp>
        <p:nvSpPr>
          <p:cNvPr id="25" name="Oval 24"/>
          <p:cNvSpPr/>
          <p:nvPr/>
        </p:nvSpPr>
        <p:spPr>
          <a:xfrm>
            <a:off x="10952226" y="143789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52226" y="1425194"/>
            <a:ext cx="141732" cy="141732"/>
          </a:xfrm>
          <a:prstGeom prst="rect">
            <a:avLst/>
          </a:prstGeom>
          <a:noFill/>
        </p:spPr>
        <p:txBody>
          <a:bodyPr wrap="square">
            <a:spAutoFit/>
          </a:bodyPr>
          <a:lstStyle/>
          <a:p>
            <a:pPr algn="ctr"/>
            <a:r>
              <a:rPr sz="600" b="1">
                <a:solidFill>
                  <a:srgbClr val="FFFFFF"/>
                </a:solidFill>
                <a:latin typeface="Arial"/>
              </a:rPr>
              <a:t>6</a:t>
            </a:r>
          </a:p>
        </p:txBody>
      </p:sp>
      <p:sp>
        <p:nvSpPr>
          <p:cNvPr id="27" name="Oval 26"/>
          <p:cNvSpPr/>
          <p:nvPr/>
        </p:nvSpPr>
        <p:spPr>
          <a:xfrm>
            <a:off x="10653014"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53014" y="1204722"/>
            <a:ext cx="141732" cy="141732"/>
          </a:xfrm>
          <a:prstGeom prst="rect">
            <a:avLst/>
          </a:prstGeom>
          <a:noFill/>
        </p:spPr>
        <p:txBody>
          <a:bodyPr wrap="square">
            <a:spAutoFit/>
          </a:bodyPr>
          <a:lstStyle/>
          <a:p>
            <a:pPr algn="ctr"/>
            <a:r>
              <a:rPr sz="600" b="1">
                <a:solidFill>
                  <a:srgbClr val="FFFFFF"/>
                </a:solidFill>
                <a:latin typeface="Arial"/>
              </a:rPr>
              <a:t>8</a:t>
            </a:r>
          </a:p>
        </p:txBody>
      </p:sp>
      <p:sp>
        <p:nvSpPr>
          <p:cNvPr id="29" name="Oval 28"/>
          <p:cNvSpPr/>
          <p:nvPr/>
        </p:nvSpPr>
        <p:spPr>
          <a:xfrm>
            <a:off x="11251438"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1438" y="1204722"/>
            <a:ext cx="141732" cy="141732"/>
          </a:xfrm>
          <a:prstGeom prst="rect">
            <a:avLst/>
          </a:prstGeom>
          <a:noFill/>
        </p:spPr>
        <p:txBody>
          <a:bodyPr wrap="square">
            <a:spAutoFit/>
          </a:bodyPr>
          <a:lstStyle/>
          <a:p>
            <a:pPr algn="ctr"/>
            <a:r>
              <a:rPr sz="600" b="1">
                <a:solidFill>
                  <a:srgbClr val="FFFFFF"/>
                </a:solidFill>
                <a:latin typeface="Arial"/>
              </a:rPr>
              <a:t>10</a:t>
            </a:r>
          </a:p>
        </p:txBody>
      </p:sp>
      <p:sp>
        <p:nvSpPr>
          <p:cNvPr id="31" name="Oval 30"/>
          <p:cNvSpPr/>
          <p:nvPr/>
        </p:nvSpPr>
        <p:spPr>
          <a:xfrm>
            <a:off x="10385298"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85298" y="700786"/>
            <a:ext cx="141732" cy="141732"/>
          </a:xfrm>
          <a:prstGeom prst="rect">
            <a:avLst/>
          </a:prstGeom>
          <a:noFill/>
        </p:spPr>
        <p:txBody>
          <a:bodyPr wrap="square">
            <a:spAutoFit/>
          </a:bodyPr>
          <a:lstStyle/>
          <a:p>
            <a:pPr algn="ctr"/>
            <a:r>
              <a:rPr sz="600" b="1">
                <a:solidFill>
                  <a:srgbClr val="FFFFFF"/>
                </a:solidFill>
                <a:latin typeface="Arial"/>
              </a:rPr>
              <a:t>11</a:t>
            </a:r>
          </a:p>
        </p:txBody>
      </p:sp>
      <p:sp>
        <p:nvSpPr>
          <p:cNvPr id="33" name="Oval 32"/>
          <p:cNvSpPr/>
          <p:nvPr/>
        </p:nvSpPr>
        <p:spPr>
          <a:xfrm>
            <a:off x="11519154"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19154" y="700786"/>
            <a:ext cx="141732" cy="141732"/>
          </a:xfrm>
          <a:prstGeom prst="rect">
            <a:avLst/>
          </a:prstGeom>
          <a:noFill/>
        </p:spPr>
        <p:txBody>
          <a:bodyPr wrap="square">
            <a:spAutoFit/>
          </a:bodyPr>
          <a:lstStyle/>
          <a:p>
            <a:pPr algn="ctr"/>
            <a:r>
              <a:rPr sz="600" b="1">
                <a:solidFill>
                  <a:srgbClr val="FFFFFF"/>
                </a:solidFill>
                <a:latin typeface="Arial"/>
              </a:rPr>
              <a:t>7</a:t>
            </a:r>
          </a:p>
        </p:txBody>
      </p:sp>
      <p:sp>
        <p:nvSpPr>
          <p:cNvPr id="35" name="Oval 34"/>
          <p:cNvSpPr/>
          <p:nvPr/>
        </p:nvSpPr>
        <p:spPr>
          <a:xfrm>
            <a:off x="10952226" y="4300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2226" y="417322"/>
            <a:ext cx="141732" cy="141732"/>
          </a:xfrm>
          <a:prstGeom prst="rect">
            <a:avLst/>
          </a:prstGeom>
          <a:noFill/>
        </p:spPr>
        <p:txBody>
          <a:bodyPr wrap="square">
            <a:spAutoFit/>
          </a:bodyPr>
          <a:lstStyle/>
          <a:p>
            <a:pPr algn="ctr"/>
            <a:r>
              <a:rPr sz="600" b="1">
                <a:solidFill>
                  <a:srgbClr val="FFFFFF"/>
                </a:solidFill>
                <a:latin typeface="Arial"/>
              </a:rPr>
              <a:t>9</a:t>
            </a:r>
          </a:p>
        </p:txBody>
      </p:sp>
      <p:sp>
        <p:nvSpPr>
          <p:cNvPr id="37" name="TextBox 36"/>
          <p:cNvSpPr txBox="1"/>
          <p:nvPr/>
        </p:nvSpPr>
        <p:spPr>
          <a:xfrm>
            <a:off x="457200" y="676656"/>
            <a:ext cx="1417320" cy="219456"/>
          </a:xfrm>
          <a:prstGeom prst="rect">
            <a:avLst/>
          </a:prstGeom>
          <a:noFill/>
        </p:spPr>
        <p:txBody>
          <a:bodyPr wrap="square">
            <a:spAutoFit/>
          </a:bodyPr>
          <a:lstStyle/>
          <a:p>
            <a:pPr algn="l"/>
            <a:r>
              <a:rPr sz="900" b="1">
                <a:solidFill>
                  <a:srgbClr val="00D4E4"/>
                </a:solidFill>
                <a:latin typeface="Inter"/>
              </a:rPr>
              <a:t>KEY QUALITIES:</a:t>
            </a:r>
          </a:p>
        </p:txBody>
      </p:sp>
      <p:sp>
        <p:nvSpPr>
          <p:cNvPr id="38" name="Rectangle 37"/>
          <p:cNvSpPr/>
          <p:nvPr/>
        </p:nvSpPr>
        <p:spPr>
          <a:xfrm>
            <a:off x="1874520" y="702056"/>
            <a:ext cx="17475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50720" y="702056"/>
            <a:ext cx="1671320" cy="210312"/>
          </a:xfrm>
          <a:prstGeom prst="rect">
            <a:avLst/>
          </a:prstGeom>
          <a:noFill/>
        </p:spPr>
        <p:txBody>
          <a:bodyPr wrap="square">
            <a:spAutoFit/>
          </a:bodyPr>
          <a:lstStyle/>
          <a:p>
            <a:pPr algn="l"/>
            <a:r>
              <a:rPr sz="900" b="0">
                <a:solidFill>
                  <a:srgbClr val="F2F2F0"/>
                </a:solidFill>
                <a:latin typeface="Inter"/>
              </a:rPr>
              <a:t>High Level of Endurance</a:t>
            </a:r>
          </a:p>
        </p:txBody>
      </p:sp>
      <p:sp>
        <p:nvSpPr>
          <p:cNvPr id="40" name="Rectangle 39"/>
          <p:cNvSpPr/>
          <p:nvPr/>
        </p:nvSpPr>
        <p:spPr>
          <a:xfrm>
            <a:off x="3676904" y="702056"/>
            <a:ext cx="148336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53104" y="702056"/>
            <a:ext cx="1407160" cy="210312"/>
          </a:xfrm>
          <a:prstGeom prst="rect">
            <a:avLst/>
          </a:prstGeom>
          <a:noFill/>
        </p:spPr>
        <p:txBody>
          <a:bodyPr wrap="square">
            <a:spAutoFit/>
          </a:bodyPr>
          <a:lstStyle/>
          <a:p>
            <a:pPr algn="l"/>
            <a:r>
              <a:rPr sz="900" b="0">
                <a:solidFill>
                  <a:srgbClr val="F2F2F0"/>
                </a:solidFill>
                <a:latin typeface="Inter"/>
              </a:rPr>
              <a:t>Proficient Dribbler</a:t>
            </a:r>
          </a:p>
        </p:txBody>
      </p:sp>
      <p:sp>
        <p:nvSpPr>
          <p:cNvPr id="42" name="Rectangle 41"/>
          <p:cNvSpPr/>
          <p:nvPr/>
        </p:nvSpPr>
        <p:spPr>
          <a:xfrm>
            <a:off x="5215128" y="702056"/>
            <a:ext cx="2407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91328" y="702056"/>
            <a:ext cx="2331720" cy="210312"/>
          </a:xfrm>
          <a:prstGeom prst="rect">
            <a:avLst/>
          </a:prstGeom>
          <a:noFill/>
        </p:spPr>
        <p:txBody>
          <a:bodyPr wrap="square">
            <a:spAutoFit/>
          </a:bodyPr>
          <a:lstStyle/>
          <a:p>
            <a:pPr algn="l"/>
            <a:r>
              <a:rPr sz="900" b="0">
                <a:solidFill>
                  <a:srgbClr val="F2F2F0"/>
                </a:solidFill>
                <a:latin typeface="Inter"/>
              </a:rPr>
              <a:t>High-Concentration / Anticipation</a:t>
            </a:r>
          </a:p>
        </p:txBody>
      </p:sp>
      <p:sp>
        <p:nvSpPr>
          <p:cNvPr id="44" name="Rectangle 43"/>
          <p:cNvSpPr/>
          <p:nvPr/>
        </p:nvSpPr>
        <p:spPr>
          <a:xfrm>
            <a:off x="7677912" y="702056"/>
            <a:ext cx="22758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54112" y="702056"/>
            <a:ext cx="2199640" cy="210312"/>
          </a:xfrm>
          <a:prstGeom prst="rect">
            <a:avLst/>
          </a:prstGeom>
          <a:noFill/>
        </p:spPr>
        <p:txBody>
          <a:bodyPr wrap="square">
            <a:spAutoFit/>
          </a:bodyPr>
          <a:lstStyle/>
          <a:p>
            <a:pPr algn="l"/>
            <a:r>
              <a:rPr sz="900" b="0">
                <a:solidFill>
                  <a:srgbClr val="F2F2F0"/>
                </a:solidFill>
                <a:latin typeface="Inter"/>
              </a:rPr>
              <a:t>Proficient Cross / Long Passing</a:t>
            </a:r>
          </a:p>
        </p:txBody>
      </p:sp>
      <p:sp>
        <p:nvSpPr>
          <p:cNvPr id="46" name="Rectangle 45"/>
          <p:cNvSpPr/>
          <p:nvPr/>
        </p:nvSpPr>
        <p:spPr>
          <a:xfrm>
            <a:off x="1874520" y="948944"/>
            <a:ext cx="181356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950720" y="948944"/>
            <a:ext cx="1737360" cy="210312"/>
          </a:xfrm>
          <a:prstGeom prst="rect">
            <a:avLst/>
          </a:prstGeom>
          <a:noFill/>
        </p:spPr>
        <p:txBody>
          <a:bodyPr wrap="square">
            <a:spAutoFit/>
          </a:bodyPr>
          <a:lstStyle/>
          <a:p>
            <a:pPr algn="l"/>
            <a:r>
              <a:rPr sz="900" b="0">
                <a:solidFill>
                  <a:srgbClr val="F2F2F0"/>
                </a:solidFill>
                <a:latin typeface="Inter"/>
              </a:rPr>
              <a:t>Proficient Defending 1v1</a:t>
            </a:r>
          </a:p>
        </p:txBody>
      </p:sp>
      <p:sp>
        <p:nvSpPr>
          <p:cNvPr id="48" name="Rectangle 47"/>
          <p:cNvSpPr/>
          <p:nvPr/>
        </p:nvSpPr>
        <p:spPr>
          <a:xfrm>
            <a:off x="457200"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 y="2433320"/>
            <a:ext cx="3416808" cy="201168"/>
          </a:xfrm>
          <a:prstGeom prst="rect">
            <a:avLst/>
          </a:prstGeom>
          <a:noFill/>
        </p:spPr>
        <p:txBody>
          <a:bodyPr wrap="square">
            <a:spAutoFit/>
          </a:bodyPr>
          <a:lstStyle/>
          <a:p>
            <a:pPr algn="l"/>
            <a:r>
              <a:rPr sz="1500" b="1">
                <a:solidFill>
                  <a:srgbClr val="F5C518"/>
                </a:solidFill>
                <a:latin typeface="Barlow Condensed"/>
              </a:rPr>
              <a:t>DEF 1/3</a:t>
            </a:r>
          </a:p>
        </p:txBody>
      </p:sp>
      <p:sp>
        <p:nvSpPr>
          <p:cNvPr id="51" name="TextBox 50"/>
          <p:cNvSpPr txBox="1"/>
          <p:nvPr/>
        </p:nvSpPr>
        <p:spPr>
          <a:xfrm>
            <a:off x="566928"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52" name="TextBox 51"/>
          <p:cNvSpPr txBox="1"/>
          <p:nvPr/>
        </p:nvSpPr>
        <p:spPr>
          <a:xfrm>
            <a:off x="566928" y="2917952"/>
            <a:ext cx="3453384" cy="868680"/>
          </a:xfrm>
          <a:prstGeom prst="rect">
            <a:avLst/>
          </a:prstGeom>
          <a:noFill/>
        </p:spPr>
        <p:txBody>
          <a:bodyPr wrap="square">
            <a:spAutoFit/>
          </a:bodyPr>
          <a:lstStyle/>
          <a:p>
            <a:pPr algn="l"/>
            <a:r>
              <a:rPr sz="1000" b="0">
                <a:solidFill>
                  <a:srgbClr val="F2F2F0"/>
                </a:solidFill>
                <a:latin typeface="Inter"/>
              </a:rPr>
              <a:t>Position wide &amp; high to receive ball and/or create space; Pass forward (diagonal or behind) or hold the ball</a:t>
            </a:r>
          </a:p>
        </p:txBody>
      </p:sp>
      <p:sp>
        <p:nvSpPr>
          <p:cNvPr id="53" name="TextBox 52"/>
          <p:cNvSpPr txBox="1"/>
          <p:nvPr/>
        </p:nvSpPr>
        <p:spPr>
          <a:xfrm>
            <a:off x="566928"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54" name="TextBox 53"/>
          <p:cNvSpPr txBox="1"/>
          <p:nvPr/>
        </p:nvSpPr>
        <p:spPr>
          <a:xfrm>
            <a:off x="566928" y="4024376"/>
            <a:ext cx="3453384" cy="777240"/>
          </a:xfrm>
          <a:prstGeom prst="rect">
            <a:avLst/>
          </a:prstGeom>
          <a:noFill/>
        </p:spPr>
        <p:txBody>
          <a:bodyPr wrap="square">
            <a:spAutoFit/>
          </a:bodyPr>
          <a:lstStyle/>
          <a:p>
            <a:pPr algn="l"/>
            <a:r>
              <a:rPr sz="1000" b="0">
                <a:solidFill>
                  <a:srgbClr val="F2F2F0"/>
                </a:solidFill>
                <a:latin typeface="Inter"/>
              </a:rPr>
              <a:t>Pressure the player with the ball to regain or delay attack; Deny penetration, prevent crosses in 1v1</a:t>
            </a:r>
          </a:p>
        </p:txBody>
      </p:sp>
      <p:sp>
        <p:nvSpPr>
          <p:cNvPr id="55" name="TextBox 54"/>
          <p:cNvSpPr txBox="1"/>
          <p:nvPr/>
        </p:nvSpPr>
        <p:spPr>
          <a:xfrm>
            <a:off x="566928"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56" name="TextBox 55"/>
          <p:cNvSpPr txBox="1"/>
          <p:nvPr/>
        </p:nvSpPr>
        <p:spPr>
          <a:xfrm>
            <a:off x="566928" y="5039360"/>
            <a:ext cx="3453384" cy="713232"/>
          </a:xfrm>
          <a:prstGeom prst="rect">
            <a:avLst/>
          </a:prstGeom>
          <a:noFill/>
        </p:spPr>
        <p:txBody>
          <a:bodyPr wrap="square">
            <a:spAutoFit/>
          </a:bodyPr>
          <a:lstStyle/>
          <a:p>
            <a:pPr algn="l"/>
            <a:r>
              <a:rPr sz="1000" b="0">
                <a:solidFill>
                  <a:srgbClr val="F2F2F0"/>
                </a:solidFill>
                <a:latin typeface="Inter"/>
              </a:rPr>
              <a:t>D→A: Give quick support in space (forward &amp; wide)  ·  A→D: If closest, put pressure on the ball immediately</a:t>
            </a:r>
          </a:p>
        </p:txBody>
      </p:sp>
      <p:sp>
        <p:nvSpPr>
          <p:cNvPr id="57" name="Rectangle 56"/>
          <p:cNvSpPr/>
          <p:nvPr/>
        </p:nvSpPr>
        <p:spPr>
          <a:xfrm>
            <a:off x="4258056"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58056"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86072" y="2433320"/>
            <a:ext cx="3416808" cy="201168"/>
          </a:xfrm>
          <a:prstGeom prst="rect">
            <a:avLst/>
          </a:prstGeom>
          <a:noFill/>
        </p:spPr>
        <p:txBody>
          <a:bodyPr wrap="square">
            <a:spAutoFit/>
          </a:bodyPr>
          <a:lstStyle/>
          <a:p>
            <a:pPr algn="l"/>
            <a:r>
              <a:rPr sz="1500" b="1">
                <a:solidFill>
                  <a:srgbClr val="F5C518"/>
                </a:solidFill>
                <a:latin typeface="Barlow Condensed"/>
              </a:rPr>
              <a:t>MID 1/3</a:t>
            </a:r>
          </a:p>
        </p:txBody>
      </p:sp>
      <p:sp>
        <p:nvSpPr>
          <p:cNvPr id="60" name="TextBox 59"/>
          <p:cNvSpPr txBox="1"/>
          <p:nvPr/>
        </p:nvSpPr>
        <p:spPr>
          <a:xfrm>
            <a:off x="4367784"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1" name="TextBox 60"/>
          <p:cNvSpPr txBox="1"/>
          <p:nvPr/>
        </p:nvSpPr>
        <p:spPr>
          <a:xfrm>
            <a:off x="4367784" y="2917952"/>
            <a:ext cx="3453384" cy="868680"/>
          </a:xfrm>
          <a:prstGeom prst="rect">
            <a:avLst/>
          </a:prstGeom>
          <a:noFill/>
        </p:spPr>
        <p:txBody>
          <a:bodyPr wrap="square">
            <a:spAutoFit/>
          </a:bodyPr>
          <a:lstStyle/>
          <a:p>
            <a:pPr algn="l"/>
            <a:r>
              <a:rPr sz="1000" b="0">
                <a:solidFill>
                  <a:srgbClr val="F2F2F0"/>
                </a:solidFill>
                <a:latin typeface="Inter"/>
              </a:rPr>
              <a:t>Support attack wide &amp; with runs behind; Provide balance on opposite side and monitor teammates</a:t>
            </a:r>
          </a:p>
        </p:txBody>
      </p:sp>
      <p:sp>
        <p:nvSpPr>
          <p:cNvPr id="62" name="TextBox 61"/>
          <p:cNvSpPr txBox="1"/>
          <p:nvPr/>
        </p:nvSpPr>
        <p:spPr>
          <a:xfrm>
            <a:off x="4367784"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63" name="TextBox 62"/>
          <p:cNvSpPr txBox="1"/>
          <p:nvPr/>
        </p:nvSpPr>
        <p:spPr>
          <a:xfrm>
            <a:off x="4367784" y="4024376"/>
            <a:ext cx="3453384" cy="777240"/>
          </a:xfrm>
          <a:prstGeom prst="rect">
            <a:avLst/>
          </a:prstGeom>
          <a:noFill/>
        </p:spPr>
        <p:txBody>
          <a:bodyPr wrap="square">
            <a:spAutoFit/>
          </a:bodyPr>
          <a:lstStyle/>
          <a:p>
            <a:pPr algn="l"/>
            <a:r>
              <a:rPr sz="1000" b="0">
                <a:solidFill>
                  <a:srgbClr val="F2F2F0"/>
                </a:solidFill>
                <a:latin typeface="Inter"/>
              </a:rPr>
              <a:t>Monitor organization &amp; coach fellow defenders; Move centrally to provide cover when ball is on opposite side</a:t>
            </a:r>
          </a:p>
        </p:txBody>
      </p:sp>
      <p:sp>
        <p:nvSpPr>
          <p:cNvPr id="64" name="TextBox 63"/>
          <p:cNvSpPr txBox="1"/>
          <p:nvPr/>
        </p:nvSpPr>
        <p:spPr>
          <a:xfrm>
            <a:off x="4367784"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5" name="TextBox 64"/>
          <p:cNvSpPr txBox="1"/>
          <p:nvPr/>
        </p:nvSpPr>
        <p:spPr>
          <a:xfrm>
            <a:off x="4367784" y="5039360"/>
            <a:ext cx="3453384" cy="713232"/>
          </a:xfrm>
          <a:prstGeom prst="rect">
            <a:avLst/>
          </a:prstGeom>
          <a:noFill/>
        </p:spPr>
        <p:txBody>
          <a:bodyPr wrap="square">
            <a:spAutoFit/>
          </a:bodyPr>
          <a:lstStyle/>
          <a:p>
            <a:pPr algn="l"/>
            <a:r>
              <a:rPr sz="1000" b="0">
                <a:solidFill>
                  <a:srgbClr val="F2F2F0"/>
                </a:solidFill>
                <a:latin typeface="Inter"/>
              </a:rPr>
              <a:t>D→A: Move up with the defensive line, as part of a collective unit  ·  A→D: If farthest, drop back quickly to re-position with defensive line; Based on situation, decide to press or drop</a:t>
            </a:r>
          </a:p>
        </p:txBody>
      </p:sp>
      <p:sp>
        <p:nvSpPr>
          <p:cNvPr id="66" name="Rectangle 65"/>
          <p:cNvSpPr/>
          <p:nvPr/>
        </p:nvSpPr>
        <p:spPr>
          <a:xfrm>
            <a:off x="8058912"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058912"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186928" y="2433320"/>
            <a:ext cx="3416808" cy="201168"/>
          </a:xfrm>
          <a:prstGeom prst="rect">
            <a:avLst/>
          </a:prstGeom>
          <a:noFill/>
        </p:spPr>
        <p:txBody>
          <a:bodyPr wrap="square">
            <a:spAutoFit/>
          </a:bodyPr>
          <a:lstStyle/>
          <a:p>
            <a:pPr algn="l"/>
            <a:r>
              <a:rPr sz="1500" b="1">
                <a:solidFill>
                  <a:srgbClr val="F5C518"/>
                </a:solidFill>
                <a:latin typeface="Barlow Condensed"/>
              </a:rPr>
              <a:t>OFF 1/3</a:t>
            </a:r>
          </a:p>
        </p:txBody>
      </p:sp>
      <p:sp>
        <p:nvSpPr>
          <p:cNvPr id="69" name="TextBox 68"/>
          <p:cNvSpPr txBox="1"/>
          <p:nvPr/>
        </p:nvSpPr>
        <p:spPr>
          <a:xfrm>
            <a:off x="8168640"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70" name="TextBox 69"/>
          <p:cNvSpPr txBox="1"/>
          <p:nvPr/>
        </p:nvSpPr>
        <p:spPr>
          <a:xfrm>
            <a:off x="8168640" y="2917952"/>
            <a:ext cx="3453384" cy="868680"/>
          </a:xfrm>
          <a:prstGeom prst="rect">
            <a:avLst/>
          </a:prstGeom>
          <a:noFill/>
        </p:spPr>
        <p:txBody>
          <a:bodyPr wrap="square">
            <a:spAutoFit/>
          </a:bodyPr>
          <a:lstStyle/>
          <a:p>
            <a:pPr algn="l"/>
            <a:r>
              <a:rPr sz="1000" b="0">
                <a:solidFill>
                  <a:srgbClr val="F2F2F0"/>
                </a:solidFill>
                <a:latin typeface="Inter"/>
              </a:rPr>
              <a:t>Pass or dribble forward, create 1v1 or 2v1 (overlapping runs); Play the early cross when space is behind the line</a:t>
            </a:r>
          </a:p>
        </p:txBody>
      </p:sp>
      <p:sp>
        <p:nvSpPr>
          <p:cNvPr id="71" name="TextBox 70"/>
          <p:cNvSpPr txBox="1"/>
          <p:nvPr/>
        </p:nvSpPr>
        <p:spPr>
          <a:xfrm>
            <a:off x="8168640"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72" name="TextBox 71"/>
          <p:cNvSpPr txBox="1"/>
          <p:nvPr/>
        </p:nvSpPr>
        <p:spPr>
          <a:xfrm>
            <a:off x="8168640" y="4024376"/>
            <a:ext cx="3453384" cy="777240"/>
          </a:xfrm>
          <a:prstGeom prst="rect">
            <a:avLst/>
          </a:prstGeom>
          <a:noFill/>
        </p:spPr>
        <p:txBody>
          <a:bodyPr wrap="square">
            <a:spAutoFit/>
          </a:bodyPr>
          <a:lstStyle/>
          <a:p>
            <a:pPr algn="l"/>
            <a:r>
              <a:rPr sz="1000" b="0">
                <a:solidFill>
                  <a:srgbClr val="F2F2F0"/>
                </a:solidFill>
                <a:latin typeface="Inter"/>
              </a:rPr>
              <a:t>Position &amp; reposition to intercept passes while monitoring opponent</a:t>
            </a:r>
          </a:p>
        </p:txBody>
      </p:sp>
      <p:sp>
        <p:nvSpPr>
          <p:cNvPr id="73" name="TextBox 72"/>
          <p:cNvSpPr txBox="1"/>
          <p:nvPr/>
        </p:nvSpPr>
        <p:spPr>
          <a:xfrm>
            <a:off x="8168640"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74" name="TextBox 73"/>
          <p:cNvSpPr txBox="1"/>
          <p:nvPr/>
        </p:nvSpPr>
        <p:spPr>
          <a:xfrm>
            <a:off x="8168640" y="5039360"/>
            <a:ext cx="3453384" cy="713232"/>
          </a:xfrm>
          <a:prstGeom prst="rect">
            <a:avLst/>
          </a:prstGeom>
          <a:noFill/>
        </p:spPr>
        <p:txBody>
          <a:bodyPr wrap="square">
            <a:spAutoFit/>
          </a:bodyPr>
          <a:lstStyle/>
          <a:p>
            <a:pPr algn="l"/>
            <a:r>
              <a:rPr sz="1000" b="0">
                <a:solidFill>
                  <a:srgbClr val="F2F2F0"/>
                </a:solidFill>
                <a:latin typeface="Inter"/>
              </a:rPr>
              <a:t>D→A: Pass or dribble forward quickly to exploit opponent if disorganized  ·  A→D: If closest, put pressure on the ball immediately</a:t>
            </a:r>
          </a:p>
        </p:txBody>
      </p:sp>
      <p:sp>
        <p:nvSpPr>
          <p:cNvPr id="75" name="TextBox 74"/>
          <p:cNvSpPr txBox="1"/>
          <p:nvPr/>
        </p:nvSpPr>
        <p:spPr>
          <a:xfrm>
            <a:off x="457200" y="5405120"/>
            <a:ext cx="11274552" cy="219456"/>
          </a:xfrm>
          <a:prstGeom prst="rect">
            <a:avLst/>
          </a:prstGeom>
          <a:noFill/>
        </p:spPr>
        <p:txBody>
          <a:bodyPr wrap="square">
            <a:spAutoFit/>
          </a:bodyPr>
          <a:lstStyle/>
          <a:p>
            <a:pPr algn="l"/>
            <a:r>
              <a:rPr sz="900" b="1">
                <a:solidFill>
                  <a:srgbClr val="00D4E4"/>
                </a:solidFill>
                <a:latin typeface="Inter"/>
              </a:rPr>
              <a:t>PRINCIPLES OF PLAY</a:t>
            </a:r>
          </a:p>
        </p:txBody>
      </p:sp>
      <p:sp>
        <p:nvSpPr>
          <p:cNvPr id="76" name="Rectangle 75"/>
          <p:cNvSpPr/>
          <p:nvPr/>
        </p:nvSpPr>
        <p:spPr>
          <a:xfrm>
            <a:off x="457200"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6928" y="5706872"/>
            <a:ext cx="3453384" cy="219456"/>
          </a:xfrm>
          <a:prstGeom prst="rect">
            <a:avLst/>
          </a:prstGeom>
          <a:noFill/>
        </p:spPr>
        <p:txBody>
          <a:bodyPr wrap="square">
            <a:spAutoFit/>
          </a:bodyPr>
          <a:lstStyle/>
          <a:p>
            <a:pPr algn="l"/>
            <a:r>
              <a:rPr sz="800" b="1">
                <a:solidFill>
                  <a:srgbClr val="F5C518"/>
                </a:solidFill>
                <a:latin typeface="Inter"/>
              </a:rPr>
              <a:t>BUILD OUT</a:t>
            </a:r>
          </a:p>
        </p:txBody>
      </p:sp>
      <p:sp>
        <p:nvSpPr>
          <p:cNvPr id="78" name="TextBox 77"/>
          <p:cNvSpPr txBox="1"/>
          <p:nvPr/>
        </p:nvSpPr>
        <p:spPr>
          <a:xfrm>
            <a:off x="566928" y="5953760"/>
            <a:ext cx="3453384" cy="219456"/>
          </a:xfrm>
          <a:prstGeom prst="rect">
            <a:avLst/>
          </a:prstGeom>
          <a:noFill/>
        </p:spPr>
        <p:txBody>
          <a:bodyPr wrap="square">
            <a:spAutoFit/>
          </a:bodyPr>
          <a:lstStyle/>
          <a:p>
            <a:pPr algn="l"/>
            <a:r>
              <a:rPr sz="1000" b="0">
                <a:solidFill>
                  <a:srgbClr val="F2F2F0"/>
                </a:solidFill>
                <a:latin typeface="Inter"/>
              </a:rPr>
              <a:t>• Disorganize opponent</a:t>
            </a:r>
          </a:p>
        </p:txBody>
      </p:sp>
      <p:sp>
        <p:nvSpPr>
          <p:cNvPr id="79" name="TextBox 78"/>
          <p:cNvSpPr txBox="1"/>
          <p:nvPr/>
        </p:nvSpPr>
        <p:spPr>
          <a:xfrm>
            <a:off x="566928" y="6200648"/>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80" name="TextBox 79"/>
          <p:cNvSpPr txBox="1"/>
          <p:nvPr/>
        </p:nvSpPr>
        <p:spPr>
          <a:xfrm>
            <a:off x="566928" y="6447536"/>
            <a:ext cx="3453384" cy="219456"/>
          </a:xfrm>
          <a:prstGeom prst="rect">
            <a:avLst/>
          </a:prstGeom>
          <a:noFill/>
        </p:spPr>
        <p:txBody>
          <a:bodyPr wrap="square">
            <a:spAutoFit/>
          </a:bodyPr>
          <a:lstStyle/>
          <a:p>
            <a:pPr algn="l"/>
            <a:r>
              <a:rPr sz="1000" b="0">
                <a:solidFill>
                  <a:srgbClr val="F2F2F0"/>
                </a:solidFill>
                <a:latin typeface="Inter"/>
              </a:rPr>
              <a:t>• Counter movements to create space</a:t>
            </a:r>
          </a:p>
        </p:txBody>
      </p:sp>
      <p:sp>
        <p:nvSpPr>
          <p:cNvPr id="81" name="Rectangle 80"/>
          <p:cNvSpPr/>
          <p:nvPr/>
        </p:nvSpPr>
        <p:spPr>
          <a:xfrm>
            <a:off x="4258056"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67784" y="5706872"/>
            <a:ext cx="3453384" cy="219456"/>
          </a:xfrm>
          <a:prstGeom prst="rect">
            <a:avLst/>
          </a:prstGeom>
          <a:noFill/>
        </p:spPr>
        <p:txBody>
          <a:bodyPr wrap="square">
            <a:spAutoFit/>
          </a:bodyPr>
          <a:lstStyle/>
          <a:p>
            <a:pPr algn="l"/>
            <a:r>
              <a:rPr sz="800" b="1">
                <a:solidFill>
                  <a:srgbClr val="F5C518"/>
                </a:solidFill>
                <a:latin typeface="Inter"/>
              </a:rPr>
              <a:t>ADVANCEMENT PHASE</a:t>
            </a:r>
          </a:p>
        </p:txBody>
      </p:sp>
      <p:sp>
        <p:nvSpPr>
          <p:cNvPr id="83" name="TextBox 82"/>
          <p:cNvSpPr txBox="1"/>
          <p:nvPr/>
        </p:nvSpPr>
        <p:spPr>
          <a:xfrm>
            <a:off x="4367784" y="5953760"/>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84" name="TextBox 83"/>
          <p:cNvSpPr txBox="1"/>
          <p:nvPr/>
        </p:nvSpPr>
        <p:spPr>
          <a:xfrm>
            <a:off x="4367784" y="6200648"/>
            <a:ext cx="3453384" cy="219456"/>
          </a:xfrm>
          <a:prstGeom prst="rect">
            <a:avLst/>
          </a:prstGeom>
          <a:noFill/>
        </p:spPr>
        <p:txBody>
          <a:bodyPr wrap="square">
            <a:spAutoFit/>
          </a:bodyPr>
          <a:lstStyle/>
          <a:p>
            <a:pPr algn="l"/>
            <a:r>
              <a:rPr sz="1000" b="0">
                <a:solidFill>
                  <a:srgbClr val="F2F2F0"/>
                </a:solidFill>
                <a:latin typeface="Inter"/>
              </a:rPr>
              <a:t>• Counter movements to create space</a:t>
            </a:r>
          </a:p>
        </p:txBody>
      </p:sp>
      <p:sp>
        <p:nvSpPr>
          <p:cNvPr id="85" name="TextBox 84"/>
          <p:cNvSpPr txBox="1"/>
          <p:nvPr/>
        </p:nvSpPr>
        <p:spPr>
          <a:xfrm>
            <a:off x="4367784" y="6447536"/>
            <a:ext cx="3453384" cy="219456"/>
          </a:xfrm>
          <a:prstGeom prst="rect">
            <a:avLst/>
          </a:prstGeom>
          <a:noFill/>
        </p:spPr>
        <p:txBody>
          <a:bodyPr wrap="square">
            <a:spAutoFit/>
          </a:bodyPr>
          <a:lstStyle/>
          <a:p>
            <a:pPr algn="l"/>
            <a:r>
              <a:rPr sz="1000" b="0">
                <a:solidFill>
                  <a:srgbClr val="F2F2F0"/>
                </a:solidFill>
                <a:latin typeface="Inter"/>
              </a:rPr>
              <a:t>• Movement centrally to provide double 6</a:t>
            </a:r>
          </a:p>
        </p:txBody>
      </p:sp>
      <p:sp>
        <p:nvSpPr>
          <p:cNvPr id="86" name="Rectangle 85"/>
          <p:cNvSpPr/>
          <p:nvPr/>
        </p:nvSpPr>
        <p:spPr>
          <a:xfrm>
            <a:off x="8058912"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168640" y="5706872"/>
            <a:ext cx="3453384" cy="219456"/>
          </a:xfrm>
          <a:prstGeom prst="rect">
            <a:avLst/>
          </a:prstGeom>
          <a:noFill/>
        </p:spPr>
        <p:txBody>
          <a:bodyPr wrap="square">
            <a:spAutoFit/>
          </a:bodyPr>
          <a:lstStyle/>
          <a:p>
            <a:pPr algn="l"/>
            <a:r>
              <a:rPr sz="800" b="1">
                <a:solidFill>
                  <a:srgbClr val="F5C518"/>
                </a:solidFill>
                <a:latin typeface="Inter"/>
              </a:rPr>
              <a:t>CHANCE CREATION / SCORING</a:t>
            </a:r>
          </a:p>
        </p:txBody>
      </p:sp>
      <p:sp>
        <p:nvSpPr>
          <p:cNvPr id="88" name="TextBox 87"/>
          <p:cNvSpPr txBox="1"/>
          <p:nvPr/>
        </p:nvSpPr>
        <p:spPr>
          <a:xfrm>
            <a:off x="8168640" y="5953760"/>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89" name="TextBox 88"/>
          <p:cNvSpPr txBox="1"/>
          <p:nvPr/>
        </p:nvSpPr>
        <p:spPr>
          <a:xfrm>
            <a:off x="8168640" y="6200648"/>
            <a:ext cx="3453384" cy="219456"/>
          </a:xfrm>
          <a:prstGeom prst="rect">
            <a:avLst/>
          </a:prstGeom>
          <a:noFill/>
        </p:spPr>
        <p:txBody>
          <a:bodyPr wrap="square">
            <a:spAutoFit/>
          </a:bodyPr>
          <a:lstStyle/>
          <a:p>
            <a:pPr algn="l"/>
            <a:r>
              <a:rPr sz="1000" b="0">
                <a:solidFill>
                  <a:srgbClr val="F2F2F0"/>
                </a:solidFill>
                <a:latin typeface="Inter"/>
              </a:rPr>
              <a:t>• Eliminate defenders with pass or dribble</a:t>
            </a:r>
          </a:p>
        </p:txBody>
      </p:sp>
      <p:sp>
        <p:nvSpPr>
          <p:cNvPr id="90" name="TextBox 89"/>
          <p:cNvSpPr txBox="1"/>
          <p:nvPr/>
        </p:nvSpPr>
        <p:spPr>
          <a:xfrm>
            <a:off x="8168640" y="6447536"/>
            <a:ext cx="3453384" cy="219456"/>
          </a:xfrm>
          <a:prstGeom prst="rect">
            <a:avLst/>
          </a:prstGeom>
          <a:noFill/>
        </p:spPr>
        <p:txBody>
          <a:bodyPr wrap="square">
            <a:spAutoFit/>
          </a:bodyPr>
          <a:lstStyle/>
          <a:p>
            <a:pPr algn="l"/>
            <a:r>
              <a:rPr sz="1000" b="0">
                <a:solidFill>
                  <a:srgbClr val="F2F2F0"/>
                </a:solidFill>
                <a:latin typeface="Inter"/>
              </a:rPr>
              <a:t>• Crossing from variety of positions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
            <a:ext cx="685800" cy="530352"/>
          </a:xfrm>
          <a:prstGeom prst="rect">
            <a:avLst/>
          </a:prstGeom>
          <a:solidFill>
            <a:srgbClr val="00D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685800" cy="530352"/>
          </a:xfrm>
          <a:prstGeom prst="rect">
            <a:avLst/>
          </a:prstGeom>
          <a:noFill/>
        </p:spPr>
        <p:txBody>
          <a:bodyPr wrap="square">
            <a:spAutoFit/>
          </a:bodyPr>
          <a:lstStyle/>
          <a:p>
            <a:pPr algn="ctr"/>
            <a:r>
              <a:rPr sz="2000" b="1">
                <a:solidFill>
                  <a:srgbClr val="0D0D0D"/>
                </a:solidFill>
                <a:latin typeface="Barlow Condensed"/>
              </a:rPr>
              <a:t>#6</a:t>
            </a:r>
          </a:p>
        </p:txBody>
      </p:sp>
      <p:sp>
        <p:nvSpPr>
          <p:cNvPr id="5" name="TextBox 4"/>
          <p:cNvSpPr txBox="1"/>
          <p:nvPr/>
        </p:nvSpPr>
        <p:spPr>
          <a:xfrm>
            <a:off x="1271016" y="91440"/>
            <a:ext cx="9043416" cy="530352"/>
          </a:xfrm>
          <a:prstGeom prst="rect">
            <a:avLst/>
          </a:prstGeom>
          <a:noFill/>
        </p:spPr>
        <p:txBody>
          <a:bodyPr wrap="square">
            <a:spAutoFit/>
          </a:bodyPr>
          <a:lstStyle/>
          <a:p>
            <a:pPr algn="l"/>
            <a:r>
              <a:rPr sz="2800" b="1">
                <a:solidFill>
                  <a:srgbClr val="F5C518"/>
                </a:solidFill>
                <a:latin typeface="Barlow Condensed"/>
              </a:rPr>
              <a:t>DEFENSIVE MIDFIELDER — DM</a:t>
            </a:r>
          </a:p>
        </p:txBody>
      </p:sp>
      <p:sp>
        <p:nvSpPr>
          <p:cNvPr id="6" name="Rectangle 5"/>
          <p:cNvSpPr/>
          <p:nvPr/>
        </p:nvSpPr>
        <p:spPr>
          <a:xfrm>
            <a:off x="10314432" y="91440"/>
            <a:ext cx="1417320" cy="2204720"/>
          </a:xfrm>
          <a:prstGeom prst="rect">
            <a:avLst/>
          </a:prstGeom>
          <a:solidFill>
            <a:srgbClr val="1E6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7424" y="154432"/>
            <a:ext cx="1291336" cy="2078736"/>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7424" y="1193800"/>
            <a:ext cx="1291336" cy="7874"/>
          </a:xfrm>
          <a:prstGeom prst="rect">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18368" y="989076"/>
            <a:ext cx="409448" cy="409448"/>
          </a:xfrm>
          <a:prstGeom prst="ellipse">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11281" y="1189863"/>
            <a:ext cx="23622" cy="23622"/>
          </a:xfrm>
          <a:prstGeom prst="ellipse">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76636" y="1760728"/>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76636" y="217424"/>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02620" y="2044192"/>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02620" y="217424"/>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52226" y="205206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52226" y="2039366"/>
            <a:ext cx="141732" cy="141732"/>
          </a:xfrm>
          <a:prstGeom prst="rect">
            <a:avLst/>
          </a:prstGeom>
          <a:noFill/>
        </p:spPr>
        <p:txBody>
          <a:bodyPr wrap="square">
            <a:spAutoFit/>
          </a:bodyPr>
          <a:lstStyle/>
          <a:p>
            <a:pPr algn="ctr"/>
            <a:r>
              <a:rPr sz="600" b="1">
                <a:solidFill>
                  <a:srgbClr val="FFFFFF"/>
                </a:solidFill>
                <a:latin typeface="Arial"/>
              </a:rPr>
              <a:t>1</a:t>
            </a:r>
          </a:p>
        </p:txBody>
      </p:sp>
      <p:sp>
        <p:nvSpPr>
          <p:cNvPr id="17" name="Oval 16"/>
          <p:cNvSpPr/>
          <p:nvPr/>
        </p:nvSpPr>
        <p:spPr>
          <a:xfrm>
            <a:off x="10731754"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31754" y="1755902"/>
            <a:ext cx="141732" cy="141732"/>
          </a:xfrm>
          <a:prstGeom prst="rect">
            <a:avLst/>
          </a:prstGeom>
          <a:noFill/>
        </p:spPr>
        <p:txBody>
          <a:bodyPr wrap="square">
            <a:spAutoFit/>
          </a:bodyPr>
          <a:lstStyle/>
          <a:p>
            <a:pPr algn="ctr"/>
            <a:r>
              <a:rPr sz="600" b="1">
                <a:solidFill>
                  <a:srgbClr val="FFFFFF"/>
                </a:solidFill>
                <a:latin typeface="Arial"/>
              </a:rPr>
              <a:t>5</a:t>
            </a:r>
          </a:p>
        </p:txBody>
      </p:sp>
      <p:sp>
        <p:nvSpPr>
          <p:cNvPr id="19" name="Oval 18"/>
          <p:cNvSpPr/>
          <p:nvPr/>
        </p:nvSpPr>
        <p:spPr>
          <a:xfrm>
            <a:off x="11172698"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72698" y="1755902"/>
            <a:ext cx="141732" cy="141732"/>
          </a:xfrm>
          <a:prstGeom prst="rect">
            <a:avLst/>
          </a:prstGeom>
          <a:noFill/>
        </p:spPr>
        <p:txBody>
          <a:bodyPr wrap="square">
            <a:spAutoFit/>
          </a:bodyPr>
          <a:lstStyle/>
          <a:p>
            <a:pPr algn="ctr"/>
            <a:r>
              <a:rPr sz="600" b="1">
                <a:solidFill>
                  <a:srgbClr val="FFFFFF"/>
                </a:solidFill>
                <a:latin typeface="Arial"/>
              </a:rPr>
              <a:t>4</a:t>
            </a:r>
          </a:p>
        </p:txBody>
      </p:sp>
      <p:sp>
        <p:nvSpPr>
          <p:cNvPr id="21" name="Oval 20"/>
          <p:cNvSpPr/>
          <p:nvPr/>
        </p:nvSpPr>
        <p:spPr>
          <a:xfrm>
            <a:off x="10385298"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85298" y="1622044"/>
            <a:ext cx="141732" cy="141732"/>
          </a:xfrm>
          <a:prstGeom prst="rect">
            <a:avLst/>
          </a:prstGeom>
          <a:noFill/>
        </p:spPr>
        <p:txBody>
          <a:bodyPr wrap="square">
            <a:spAutoFit/>
          </a:bodyPr>
          <a:lstStyle/>
          <a:p>
            <a:pPr algn="ctr"/>
            <a:r>
              <a:rPr sz="600" b="1">
                <a:solidFill>
                  <a:srgbClr val="FFFFFF"/>
                </a:solidFill>
                <a:latin typeface="Arial"/>
              </a:rPr>
              <a:t>3</a:t>
            </a:r>
          </a:p>
        </p:txBody>
      </p:sp>
      <p:sp>
        <p:nvSpPr>
          <p:cNvPr id="23" name="Oval 22"/>
          <p:cNvSpPr/>
          <p:nvPr/>
        </p:nvSpPr>
        <p:spPr>
          <a:xfrm>
            <a:off x="11519154"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19154" y="1622044"/>
            <a:ext cx="141732" cy="141732"/>
          </a:xfrm>
          <a:prstGeom prst="rect">
            <a:avLst/>
          </a:prstGeom>
          <a:noFill/>
        </p:spPr>
        <p:txBody>
          <a:bodyPr wrap="square">
            <a:spAutoFit/>
          </a:bodyPr>
          <a:lstStyle/>
          <a:p>
            <a:pPr algn="ctr"/>
            <a:r>
              <a:rPr sz="600" b="1">
                <a:solidFill>
                  <a:srgbClr val="FFFFFF"/>
                </a:solidFill>
                <a:latin typeface="Arial"/>
              </a:rPr>
              <a:t>2</a:t>
            </a:r>
          </a:p>
        </p:txBody>
      </p:sp>
      <p:sp>
        <p:nvSpPr>
          <p:cNvPr id="25" name="Oval 24"/>
          <p:cNvSpPr/>
          <p:nvPr/>
        </p:nvSpPr>
        <p:spPr>
          <a:xfrm>
            <a:off x="10936478" y="1422146"/>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36478" y="1409446"/>
            <a:ext cx="173228" cy="173228"/>
          </a:xfrm>
          <a:prstGeom prst="rect">
            <a:avLst/>
          </a:prstGeom>
          <a:noFill/>
        </p:spPr>
        <p:txBody>
          <a:bodyPr wrap="square">
            <a:spAutoFit/>
          </a:bodyPr>
          <a:lstStyle/>
          <a:p>
            <a:pPr algn="ctr"/>
            <a:r>
              <a:rPr sz="600" b="1">
                <a:solidFill>
                  <a:srgbClr val="0D0D0D"/>
                </a:solidFill>
                <a:latin typeface="Arial"/>
              </a:rPr>
              <a:t>6</a:t>
            </a:r>
          </a:p>
        </p:txBody>
      </p:sp>
      <p:sp>
        <p:nvSpPr>
          <p:cNvPr id="27" name="Oval 26"/>
          <p:cNvSpPr/>
          <p:nvPr/>
        </p:nvSpPr>
        <p:spPr>
          <a:xfrm>
            <a:off x="10653014"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53014" y="1204722"/>
            <a:ext cx="141732" cy="141732"/>
          </a:xfrm>
          <a:prstGeom prst="rect">
            <a:avLst/>
          </a:prstGeom>
          <a:noFill/>
        </p:spPr>
        <p:txBody>
          <a:bodyPr wrap="square">
            <a:spAutoFit/>
          </a:bodyPr>
          <a:lstStyle/>
          <a:p>
            <a:pPr algn="ctr"/>
            <a:r>
              <a:rPr sz="600" b="1">
                <a:solidFill>
                  <a:srgbClr val="FFFFFF"/>
                </a:solidFill>
                <a:latin typeface="Arial"/>
              </a:rPr>
              <a:t>8</a:t>
            </a:r>
          </a:p>
        </p:txBody>
      </p:sp>
      <p:sp>
        <p:nvSpPr>
          <p:cNvPr id="29" name="Oval 28"/>
          <p:cNvSpPr/>
          <p:nvPr/>
        </p:nvSpPr>
        <p:spPr>
          <a:xfrm>
            <a:off x="11251438"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1438" y="1204722"/>
            <a:ext cx="141732" cy="141732"/>
          </a:xfrm>
          <a:prstGeom prst="rect">
            <a:avLst/>
          </a:prstGeom>
          <a:noFill/>
        </p:spPr>
        <p:txBody>
          <a:bodyPr wrap="square">
            <a:spAutoFit/>
          </a:bodyPr>
          <a:lstStyle/>
          <a:p>
            <a:pPr algn="ctr"/>
            <a:r>
              <a:rPr sz="600" b="1">
                <a:solidFill>
                  <a:srgbClr val="FFFFFF"/>
                </a:solidFill>
                <a:latin typeface="Arial"/>
              </a:rPr>
              <a:t>10</a:t>
            </a:r>
          </a:p>
        </p:txBody>
      </p:sp>
      <p:sp>
        <p:nvSpPr>
          <p:cNvPr id="31" name="Oval 30"/>
          <p:cNvSpPr/>
          <p:nvPr/>
        </p:nvSpPr>
        <p:spPr>
          <a:xfrm>
            <a:off x="10385298"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85298" y="700786"/>
            <a:ext cx="141732" cy="141732"/>
          </a:xfrm>
          <a:prstGeom prst="rect">
            <a:avLst/>
          </a:prstGeom>
          <a:noFill/>
        </p:spPr>
        <p:txBody>
          <a:bodyPr wrap="square">
            <a:spAutoFit/>
          </a:bodyPr>
          <a:lstStyle/>
          <a:p>
            <a:pPr algn="ctr"/>
            <a:r>
              <a:rPr sz="600" b="1">
                <a:solidFill>
                  <a:srgbClr val="FFFFFF"/>
                </a:solidFill>
                <a:latin typeface="Arial"/>
              </a:rPr>
              <a:t>11</a:t>
            </a:r>
          </a:p>
        </p:txBody>
      </p:sp>
      <p:sp>
        <p:nvSpPr>
          <p:cNvPr id="33" name="Oval 32"/>
          <p:cNvSpPr/>
          <p:nvPr/>
        </p:nvSpPr>
        <p:spPr>
          <a:xfrm>
            <a:off x="11519154"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19154" y="700786"/>
            <a:ext cx="141732" cy="141732"/>
          </a:xfrm>
          <a:prstGeom prst="rect">
            <a:avLst/>
          </a:prstGeom>
          <a:noFill/>
        </p:spPr>
        <p:txBody>
          <a:bodyPr wrap="square">
            <a:spAutoFit/>
          </a:bodyPr>
          <a:lstStyle/>
          <a:p>
            <a:pPr algn="ctr"/>
            <a:r>
              <a:rPr sz="600" b="1">
                <a:solidFill>
                  <a:srgbClr val="FFFFFF"/>
                </a:solidFill>
                <a:latin typeface="Arial"/>
              </a:rPr>
              <a:t>7</a:t>
            </a:r>
          </a:p>
        </p:txBody>
      </p:sp>
      <p:sp>
        <p:nvSpPr>
          <p:cNvPr id="35" name="Oval 34"/>
          <p:cNvSpPr/>
          <p:nvPr/>
        </p:nvSpPr>
        <p:spPr>
          <a:xfrm>
            <a:off x="10952226" y="4300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2226" y="417322"/>
            <a:ext cx="141732" cy="141732"/>
          </a:xfrm>
          <a:prstGeom prst="rect">
            <a:avLst/>
          </a:prstGeom>
          <a:noFill/>
        </p:spPr>
        <p:txBody>
          <a:bodyPr wrap="square">
            <a:spAutoFit/>
          </a:bodyPr>
          <a:lstStyle/>
          <a:p>
            <a:pPr algn="ctr"/>
            <a:r>
              <a:rPr sz="600" b="1">
                <a:solidFill>
                  <a:srgbClr val="FFFFFF"/>
                </a:solidFill>
                <a:latin typeface="Arial"/>
              </a:rPr>
              <a:t>9</a:t>
            </a:r>
          </a:p>
        </p:txBody>
      </p:sp>
      <p:sp>
        <p:nvSpPr>
          <p:cNvPr id="37" name="TextBox 36"/>
          <p:cNvSpPr txBox="1"/>
          <p:nvPr/>
        </p:nvSpPr>
        <p:spPr>
          <a:xfrm>
            <a:off x="457200" y="676656"/>
            <a:ext cx="1417320" cy="219456"/>
          </a:xfrm>
          <a:prstGeom prst="rect">
            <a:avLst/>
          </a:prstGeom>
          <a:noFill/>
        </p:spPr>
        <p:txBody>
          <a:bodyPr wrap="square">
            <a:spAutoFit/>
          </a:bodyPr>
          <a:lstStyle/>
          <a:p>
            <a:pPr algn="l"/>
            <a:r>
              <a:rPr sz="900" b="1">
                <a:solidFill>
                  <a:srgbClr val="00D4E4"/>
                </a:solidFill>
                <a:latin typeface="Inter"/>
              </a:rPr>
              <a:t>KEY QUALITIES:</a:t>
            </a:r>
          </a:p>
        </p:txBody>
      </p:sp>
      <p:sp>
        <p:nvSpPr>
          <p:cNvPr id="38" name="Rectangle 37"/>
          <p:cNvSpPr/>
          <p:nvPr/>
        </p:nvSpPr>
        <p:spPr>
          <a:xfrm>
            <a:off x="1874520" y="702056"/>
            <a:ext cx="17475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50720" y="702056"/>
            <a:ext cx="1671320" cy="210312"/>
          </a:xfrm>
          <a:prstGeom prst="rect">
            <a:avLst/>
          </a:prstGeom>
          <a:noFill/>
        </p:spPr>
        <p:txBody>
          <a:bodyPr wrap="square">
            <a:spAutoFit/>
          </a:bodyPr>
          <a:lstStyle/>
          <a:p>
            <a:pPr algn="l"/>
            <a:r>
              <a:rPr sz="900" b="0">
                <a:solidFill>
                  <a:srgbClr val="F2F2F0"/>
                </a:solidFill>
                <a:latin typeface="Inter"/>
              </a:rPr>
              <a:t>Strong Tackling Ability</a:t>
            </a:r>
          </a:p>
        </p:txBody>
      </p:sp>
      <p:sp>
        <p:nvSpPr>
          <p:cNvPr id="40" name="Rectangle 39"/>
          <p:cNvSpPr/>
          <p:nvPr/>
        </p:nvSpPr>
        <p:spPr>
          <a:xfrm>
            <a:off x="3676904" y="702056"/>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53104" y="702056"/>
            <a:ext cx="680720" cy="210312"/>
          </a:xfrm>
          <a:prstGeom prst="rect">
            <a:avLst/>
          </a:prstGeom>
          <a:noFill/>
        </p:spPr>
        <p:txBody>
          <a:bodyPr wrap="square">
            <a:spAutoFit/>
          </a:bodyPr>
          <a:lstStyle/>
          <a:p>
            <a:pPr algn="l"/>
            <a:r>
              <a:rPr sz="900" b="0">
                <a:solidFill>
                  <a:srgbClr val="F2F2F0"/>
                </a:solidFill>
                <a:latin typeface="Inter"/>
              </a:rPr>
              <a:t>Athletic</a:t>
            </a:r>
          </a:p>
        </p:txBody>
      </p:sp>
      <p:sp>
        <p:nvSpPr>
          <p:cNvPr id="42" name="Rectangle 41"/>
          <p:cNvSpPr/>
          <p:nvPr/>
        </p:nvSpPr>
        <p:spPr>
          <a:xfrm>
            <a:off x="4488688" y="702056"/>
            <a:ext cx="16154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64888" y="702056"/>
            <a:ext cx="1539240" cy="210312"/>
          </a:xfrm>
          <a:prstGeom prst="rect">
            <a:avLst/>
          </a:prstGeom>
          <a:noFill/>
        </p:spPr>
        <p:txBody>
          <a:bodyPr wrap="square">
            <a:spAutoFit/>
          </a:bodyPr>
          <a:lstStyle/>
          <a:p>
            <a:pPr algn="l"/>
            <a:r>
              <a:rPr sz="900" b="0">
                <a:solidFill>
                  <a:srgbClr val="F2F2F0"/>
                </a:solidFill>
                <a:latin typeface="Inter"/>
              </a:rPr>
              <a:t>Positionally Dominant</a:t>
            </a:r>
          </a:p>
        </p:txBody>
      </p:sp>
      <p:sp>
        <p:nvSpPr>
          <p:cNvPr id="44" name="Rectangle 43"/>
          <p:cNvSpPr/>
          <p:nvPr/>
        </p:nvSpPr>
        <p:spPr>
          <a:xfrm>
            <a:off x="6158992" y="702056"/>
            <a:ext cx="234188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35192" y="702056"/>
            <a:ext cx="2265680" cy="210312"/>
          </a:xfrm>
          <a:prstGeom prst="rect">
            <a:avLst/>
          </a:prstGeom>
          <a:noFill/>
        </p:spPr>
        <p:txBody>
          <a:bodyPr wrap="square">
            <a:spAutoFit/>
          </a:bodyPr>
          <a:lstStyle/>
          <a:p>
            <a:pPr algn="l"/>
            <a:r>
              <a:rPr sz="900" b="0">
                <a:solidFill>
                  <a:srgbClr val="F2F2F0"/>
                </a:solidFill>
                <a:latin typeface="Inter"/>
              </a:rPr>
              <a:t>Accurate, Efficient Distribution</a:t>
            </a:r>
          </a:p>
        </p:txBody>
      </p:sp>
      <p:sp>
        <p:nvSpPr>
          <p:cNvPr id="46" name="Rectangle 45"/>
          <p:cNvSpPr/>
          <p:nvPr/>
        </p:nvSpPr>
        <p:spPr>
          <a:xfrm>
            <a:off x="1874520" y="948944"/>
            <a:ext cx="254000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950720" y="948944"/>
            <a:ext cx="2463800" cy="210312"/>
          </a:xfrm>
          <a:prstGeom prst="rect">
            <a:avLst/>
          </a:prstGeom>
          <a:noFill/>
        </p:spPr>
        <p:txBody>
          <a:bodyPr wrap="square">
            <a:spAutoFit/>
          </a:bodyPr>
          <a:lstStyle/>
          <a:p>
            <a:pPr algn="l"/>
            <a:r>
              <a:rPr sz="900" b="0">
                <a:solidFill>
                  <a:srgbClr val="F2F2F0"/>
                </a:solidFill>
                <a:latin typeface="Inter"/>
              </a:rPr>
              <a:t>Control / Dictate Tempo of the Game</a:t>
            </a:r>
          </a:p>
        </p:txBody>
      </p:sp>
      <p:sp>
        <p:nvSpPr>
          <p:cNvPr id="48" name="Rectangle 47"/>
          <p:cNvSpPr/>
          <p:nvPr/>
        </p:nvSpPr>
        <p:spPr>
          <a:xfrm>
            <a:off x="457200"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 y="2433320"/>
            <a:ext cx="3416808" cy="201168"/>
          </a:xfrm>
          <a:prstGeom prst="rect">
            <a:avLst/>
          </a:prstGeom>
          <a:noFill/>
        </p:spPr>
        <p:txBody>
          <a:bodyPr wrap="square">
            <a:spAutoFit/>
          </a:bodyPr>
          <a:lstStyle/>
          <a:p>
            <a:pPr algn="l"/>
            <a:r>
              <a:rPr sz="1500" b="1">
                <a:solidFill>
                  <a:srgbClr val="F5C518"/>
                </a:solidFill>
                <a:latin typeface="Barlow Condensed"/>
              </a:rPr>
              <a:t>DEF 1/3</a:t>
            </a:r>
          </a:p>
        </p:txBody>
      </p:sp>
      <p:sp>
        <p:nvSpPr>
          <p:cNvPr id="51" name="TextBox 50"/>
          <p:cNvSpPr txBox="1"/>
          <p:nvPr/>
        </p:nvSpPr>
        <p:spPr>
          <a:xfrm>
            <a:off x="566928"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52" name="TextBox 51"/>
          <p:cNvSpPr txBox="1"/>
          <p:nvPr/>
        </p:nvSpPr>
        <p:spPr>
          <a:xfrm>
            <a:off x="566928" y="2917952"/>
            <a:ext cx="3453384" cy="868680"/>
          </a:xfrm>
          <a:prstGeom prst="rect">
            <a:avLst/>
          </a:prstGeom>
          <a:noFill/>
        </p:spPr>
        <p:txBody>
          <a:bodyPr wrap="square">
            <a:spAutoFit/>
          </a:bodyPr>
          <a:lstStyle/>
          <a:p>
            <a:pPr algn="l"/>
            <a:r>
              <a:rPr sz="1000" b="0">
                <a:solidFill>
                  <a:srgbClr val="F2F2F0"/>
                </a:solidFill>
                <a:latin typeface="Inter"/>
              </a:rPr>
              <a:t>Position centrally to support diagonally in spaces between lines; Make diagonal passes to unbalance opponent</a:t>
            </a:r>
          </a:p>
        </p:txBody>
      </p:sp>
      <p:sp>
        <p:nvSpPr>
          <p:cNvPr id="53" name="TextBox 52"/>
          <p:cNvSpPr txBox="1"/>
          <p:nvPr/>
        </p:nvSpPr>
        <p:spPr>
          <a:xfrm>
            <a:off x="566928"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54" name="TextBox 53"/>
          <p:cNvSpPr txBox="1"/>
          <p:nvPr/>
        </p:nvSpPr>
        <p:spPr>
          <a:xfrm>
            <a:off x="566928" y="4024376"/>
            <a:ext cx="3453384" cy="777240"/>
          </a:xfrm>
          <a:prstGeom prst="rect">
            <a:avLst/>
          </a:prstGeom>
          <a:noFill/>
        </p:spPr>
        <p:txBody>
          <a:bodyPr wrap="square">
            <a:spAutoFit/>
          </a:bodyPr>
          <a:lstStyle/>
          <a:p>
            <a:pPr algn="l"/>
            <a:r>
              <a:rPr sz="1000" b="0">
                <a:solidFill>
                  <a:srgbClr val="F2F2F0"/>
                </a:solidFill>
                <a:latin typeface="Inter"/>
              </a:rPr>
              <a:t>Make decision to switch from zonal marking to player tracking (also in middle third)</a:t>
            </a:r>
          </a:p>
        </p:txBody>
      </p:sp>
      <p:sp>
        <p:nvSpPr>
          <p:cNvPr id="55" name="TextBox 54"/>
          <p:cNvSpPr txBox="1"/>
          <p:nvPr/>
        </p:nvSpPr>
        <p:spPr>
          <a:xfrm>
            <a:off x="566928"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56" name="TextBox 55"/>
          <p:cNvSpPr txBox="1"/>
          <p:nvPr/>
        </p:nvSpPr>
        <p:spPr>
          <a:xfrm>
            <a:off x="566928" y="5039360"/>
            <a:ext cx="3453384" cy="713232"/>
          </a:xfrm>
          <a:prstGeom prst="rect">
            <a:avLst/>
          </a:prstGeom>
          <a:noFill/>
        </p:spPr>
        <p:txBody>
          <a:bodyPr wrap="square">
            <a:spAutoFit/>
          </a:bodyPr>
          <a:lstStyle/>
          <a:p>
            <a:pPr algn="l"/>
            <a:r>
              <a:rPr sz="1000" b="0">
                <a:solidFill>
                  <a:srgbClr val="F2F2F0"/>
                </a:solidFill>
                <a:latin typeface="Inter"/>
              </a:rPr>
              <a:t>D→A: Move quickly to support in space &amp; wide; Make diagonal passes or dribble to create 2v1  ·  A→D: If closest, put pressure on the ball immediately</a:t>
            </a:r>
          </a:p>
        </p:txBody>
      </p:sp>
      <p:sp>
        <p:nvSpPr>
          <p:cNvPr id="57" name="Rectangle 56"/>
          <p:cNvSpPr/>
          <p:nvPr/>
        </p:nvSpPr>
        <p:spPr>
          <a:xfrm>
            <a:off x="4258056"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58056"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86072" y="2433320"/>
            <a:ext cx="3416808" cy="201168"/>
          </a:xfrm>
          <a:prstGeom prst="rect">
            <a:avLst/>
          </a:prstGeom>
          <a:noFill/>
        </p:spPr>
        <p:txBody>
          <a:bodyPr wrap="square">
            <a:spAutoFit/>
          </a:bodyPr>
          <a:lstStyle/>
          <a:p>
            <a:pPr algn="l"/>
            <a:r>
              <a:rPr sz="1500" b="1">
                <a:solidFill>
                  <a:srgbClr val="F5C518"/>
                </a:solidFill>
                <a:latin typeface="Barlow Condensed"/>
              </a:rPr>
              <a:t>MID 1/3</a:t>
            </a:r>
          </a:p>
        </p:txBody>
      </p:sp>
      <p:sp>
        <p:nvSpPr>
          <p:cNvPr id="60" name="TextBox 59"/>
          <p:cNvSpPr txBox="1"/>
          <p:nvPr/>
        </p:nvSpPr>
        <p:spPr>
          <a:xfrm>
            <a:off x="4367784"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1" name="TextBox 60"/>
          <p:cNvSpPr txBox="1"/>
          <p:nvPr/>
        </p:nvSpPr>
        <p:spPr>
          <a:xfrm>
            <a:off x="4367784" y="2917952"/>
            <a:ext cx="3453384" cy="868680"/>
          </a:xfrm>
          <a:prstGeom prst="rect">
            <a:avLst/>
          </a:prstGeom>
          <a:noFill/>
        </p:spPr>
        <p:txBody>
          <a:bodyPr wrap="square">
            <a:spAutoFit/>
          </a:bodyPr>
          <a:lstStyle/>
          <a:p>
            <a:pPr algn="l"/>
            <a:r>
              <a:rPr sz="1000" b="0">
                <a:solidFill>
                  <a:srgbClr val="F2F2F0"/>
                </a:solidFill>
                <a:latin typeface="Inter"/>
              </a:rPr>
              <a:t>Align movements with other midfielders/rotate positions &amp; triangulate; Dribble forward when no option</a:t>
            </a:r>
          </a:p>
        </p:txBody>
      </p:sp>
      <p:sp>
        <p:nvSpPr>
          <p:cNvPr id="62" name="TextBox 61"/>
          <p:cNvSpPr txBox="1"/>
          <p:nvPr/>
        </p:nvSpPr>
        <p:spPr>
          <a:xfrm>
            <a:off x="4367784"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63" name="TextBox 62"/>
          <p:cNvSpPr txBox="1"/>
          <p:nvPr/>
        </p:nvSpPr>
        <p:spPr>
          <a:xfrm>
            <a:off x="4367784" y="4024376"/>
            <a:ext cx="3453384" cy="777240"/>
          </a:xfrm>
          <a:prstGeom prst="rect">
            <a:avLst/>
          </a:prstGeom>
          <a:noFill/>
        </p:spPr>
        <p:txBody>
          <a:bodyPr wrap="square">
            <a:spAutoFit/>
          </a:bodyPr>
          <a:lstStyle/>
          <a:p>
            <a:pPr algn="l"/>
            <a:r>
              <a:rPr sz="1000" b="0">
                <a:solidFill>
                  <a:srgbClr val="F2F2F0"/>
                </a:solidFill>
                <a:latin typeface="Inter"/>
              </a:rPr>
              <a:t>Position to defend opponent &amp; passing lanes/central space in front of CBs; Pressure the ball</a:t>
            </a:r>
          </a:p>
        </p:txBody>
      </p:sp>
      <p:sp>
        <p:nvSpPr>
          <p:cNvPr id="64" name="TextBox 63"/>
          <p:cNvSpPr txBox="1"/>
          <p:nvPr/>
        </p:nvSpPr>
        <p:spPr>
          <a:xfrm>
            <a:off x="4367784"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5" name="TextBox 64"/>
          <p:cNvSpPr txBox="1"/>
          <p:nvPr/>
        </p:nvSpPr>
        <p:spPr>
          <a:xfrm>
            <a:off x="4367784" y="5039360"/>
            <a:ext cx="3453384" cy="713232"/>
          </a:xfrm>
          <a:prstGeom prst="rect">
            <a:avLst/>
          </a:prstGeom>
          <a:noFill/>
        </p:spPr>
        <p:txBody>
          <a:bodyPr wrap="square">
            <a:spAutoFit/>
          </a:bodyPr>
          <a:lstStyle/>
          <a:p>
            <a:pPr algn="l"/>
            <a:r>
              <a:rPr sz="1000" b="0">
                <a:solidFill>
                  <a:srgbClr val="F2F2F0"/>
                </a:solidFill>
                <a:latin typeface="Inter"/>
              </a:rPr>
              <a:t>D→A: Keep the ball when cannot play forward &amp; manage the pace of the game  ·  A→D: Quick decision to pressure, delay attack when team is disorganized, or drop back</a:t>
            </a:r>
          </a:p>
        </p:txBody>
      </p:sp>
      <p:sp>
        <p:nvSpPr>
          <p:cNvPr id="66" name="Rectangle 65"/>
          <p:cNvSpPr/>
          <p:nvPr/>
        </p:nvSpPr>
        <p:spPr>
          <a:xfrm>
            <a:off x="8058912"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058912"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186928" y="2433320"/>
            <a:ext cx="3416808" cy="201168"/>
          </a:xfrm>
          <a:prstGeom prst="rect">
            <a:avLst/>
          </a:prstGeom>
          <a:noFill/>
        </p:spPr>
        <p:txBody>
          <a:bodyPr wrap="square">
            <a:spAutoFit/>
          </a:bodyPr>
          <a:lstStyle/>
          <a:p>
            <a:pPr algn="l"/>
            <a:r>
              <a:rPr sz="1500" b="1">
                <a:solidFill>
                  <a:srgbClr val="F5C518"/>
                </a:solidFill>
                <a:latin typeface="Barlow Condensed"/>
              </a:rPr>
              <a:t>OFF 1/3</a:t>
            </a:r>
          </a:p>
        </p:txBody>
      </p:sp>
      <p:sp>
        <p:nvSpPr>
          <p:cNvPr id="69" name="TextBox 68"/>
          <p:cNvSpPr txBox="1"/>
          <p:nvPr/>
        </p:nvSpPr>
        <p:spPr>
          <a:xfrm>
            <a:off x="8168640"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70" name="TextBox 69"/>
          <p:cNvSpPr txBox="1"/>
          <p:nvPr/>
        </p:nvSpPr>
        <p:spPr>
          <a:xfrm>
            <a:off x="8168640" y="2917952"/>
            <a:ext cx="3453384" cy="868680"/>
          </a:xfrm>
          <a:prstGeom prst="rect">
            <a:avLst/>
          </a:prstGeom>
          <a:noFill/>
        </p:spPr>
        <p:txBody>
          <a:bodyPr wrap="square">
            <a:spAutoFit/>
          </a:bodyPr>
          <a:lstStyle/>
          <a:p>
            <a:pPr algn="l"/>
            <a:r>
              <a:rPr sz="1000" b="0">
                <a:solidFill>
                  <a:srgbClr val="F2F2F0"/>
                </a:solidFill>
                <a:latin typeface="Inter"/>
              </a:rPr>
              <a:t>Support attack with forward runs &amp; scoring goals; Position to take preventive defensive action</a:t>
            </a:r>
          </a:p>
        </p:txBody>
      </p:sp>
      <p:sp>
        <p:nvSpPr>
          <p:cNvPr id="71" name="TextBox 70"/>
          <p:cNvSpPr txBox="1"/>
          <p:nvPr/>
        </p:nvSpPr>
        <p:spPr>
          <a:xfrm>
            <a:off x="8168640"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72" name="TextBox 71"/>
          <p:cNvSpPr txBox="1"/>
          <p:nvPr/>
        </p:nvSpPr>
        <p:spPr>
          <a:xfrm>
            <a:off x="8168640" y="4024376"/>
            <a:ext cx="3453384" cy="777240"/>
          </a:xfrm>
          <a:prstGeom prst="rect">
            <a:avLst/>
          </a:prstGeom>
          <a:noFill/>
        </p:spPr>
        <p:txBody>
          <a:bodyPr wrap="square">
            <a:spAutoFit/>
          </a:bodyPr>
          <a:lstStyle/>
          <a:p>
            <a:pPr algn="l"/>
            <a:r>
              <a:rPr sz="1000" b="0">
                <a:solidFill>
                  <a:srgbClr val="F2F2F0"/>
                </a:solidFill>
                <a:latin typeface="Inter"/>
              </a:rPr>
              <a:t>Organize teammates to make/keep team compact; Deny penetration in 1v1 situations</a:t>
            </a:r>
          </a:p>
        </p:txBody>
      </p:sp>
      <p:sp>
        <p:nvSpPr>
          <p:cNvPr id="73" name="TextBox 72"/>
          <p:cNvSpPr txBox="1"/>
          <p:nvPr/>
        </p:nvSpPr>
        <p:spPr>
          <a:xfrm>
            <a:off x="8168640"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74" name="TextBox 73"/>
          <p:cNvSpPr txBox="1"/>
          <p:nvPr/>
        </p:nvSpPr>
        <p:spPr>
          <a:xfrm>
            <a:off x="8168640" y="5039360"/>
            <a:ext cx="3453384" cy="713232"/>
          </a:xfrm>
          <a:prstGeom prst="rect">
            <a:avLst/>
          </a:prstGeom>
          <a:noFill/>
        </p:spPr>
        <p:txBody>
          <a:bodyPr wrap="square">
            <a:spAutoFit/>
          </a:bodyPr>
          <a:lstStyle/>
          <a:p>
            <a:pPr algn="l"/>
            <a:r>
              <a:rPr sz="1000" b="0">
                <a:solidFill>
                  <a:srgbClr val="F2F2F0"/>
                </a:solidFill>
                <a:latin typeface="Inter"/>
              </a:rPr>
              <a:t>A→D: Position to take preventive defensive action</a:t>
            </a:r>
          </a:p>
        </p:txBody>
      </p:sp>
      <p:sp>
        <p:nvSpPr>
          <p:cNvPr id="75" name="TextBox 74"/>
          <p:cNvSpPr txBox="1"/>
          <p:nvPr/>
        </p:nvSpPr>
        <p:spPr>
          <a:xfrm>
            <a:off x="457200" y="5405120"/>
            <a:ext cx="11274552" cy="219456"/>
          </a:xfrm>
          <a:prstGeom prst="rect">
            <a:avLst/>
          </a:prstGeom>
          <a:noFill/>
        </p:spPr>
        <p:txBody>
          <a:bodyPr wrap="square">
            <a:spAutoFit/>
          </a:bodyPr>
          <a:lstStyle/>
          <a:p>
            <a:pPr algn="l"/>
            <a:r>
              <a:rPr sz="900" b="1">
                <a:solidFill>
                  <a:srgbClr val="00D4E4"/>
                </a:solidFill>
                <a:latin typeface="Inter"/>
              </a:rPr>
              <a:t>PRINCIPLES OF PLAY</a:t>
            </a:r>
          </a:p>
        </p:txBody>
      </p:sp>
      <p:sp>
        <p:nvSpPr>
          <p:cNvPr id="76" name="Rectangle 75"/>
          <p:cNvSpPr/>
          <p:nvPr/>
        </p:nvSpPr>
        <p:spPr>
          <a:xfrm>
            <a:off x="457200"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6928" y="5706872"/>
            <a:ext cx="3453384" cy="219456"/>
          </a:xfrm>
          <a:prstGeom prst="rect">
            <a:avLst/>
          </a:prstGeom>
          <a:noFill/>
        </p:spPr>
        <p:txBody>
          <a:bodyPr wrap="square">
            <a:spAutoFit/>
          </a:bodyPr>
          <a:lstStyle/>
          <a:p>
            <a:pPr algn="l"/>
            <a:r>
              <a:rPr sz="800" b="1">
                <a:solidFill>
                  <a:srgbClr val="F5C518"/>
                </a:solidFill>
                <a:latin typeface="Inter"/>
              </a:rPr>
              <a:t>BUILD OUT</a:t>
            </a:r>
          </a:p>
        </p:txBody>
      </p:sp>
      <p:sp>
        <p:nvSpPr>
          <p:cNvPr id="78" name="TextBox 77"/>
          <p:cNvSpPr txBox="1"/>
          <p:nvPr/>
        </p:nvSpPr>
        <p:spPr>
          <a:xfrm>
            <a:off x="566928" y="5953760"/>
            <a:ext cx="3453384" cy="219456"/>
          </a:xfrm>
          <a:prstGeom prst="rect">
            <a:avLst/>
          </a:prstGeom>
          <a:noFill/>
        </p:spPr>
        <p:txBody>
          <a:bodyPr wrap="square">
            <a:spAutoFit/>
          </a:bodyPr>
          <a:lstStyle/>
          <a:p>
            <a:pPr algn="l"/>
            <a:r>
              <a:rPr sz="1000" b="0">
                <a:solidFill>
                  <a:srgbClr val="F2F2F0"/>
                </a:solidFill>
                <a:latin typeface="Inter"/>
              </a:rPr>
              <a:t>• Disorganize the opponent</a:t>
            </a:r>
          </a:p>
        </p:txBody>
      </p:sp>
      <p:sp>
        <p:nvSpPr>
          <p:cNvPr id="79" name="TextBox 78"/>
          <p:cNvSpPr txBox="1"/>
          <p:nvPr/>
        </p:nvSpPr>
        <p:spPr>
          <a:xfrm>
            <a:off x="566928" y="6200648"/>
            <a:ext cx="3453384" cy="219456"/>
          </a:xfrm>
          <a:prstGeom prst="rect">
            <a:avLst/>
          </a:prstGeom>
          <a:noFill/>
        </p:spPr>
        <p:txBody>
          <a:bodyPr wrap="square">
            <a:spAutoFit/>
          </a:bodyPr>
          <a:lstStyle/>
          <a:p>
            <a:pPr algn="l"/>
            <a:r>
              <a:rPr sz="1000" b="0">
                <a:solidFill>
                  <a:srgbClr val="F2F2F0"/>
                </a:solidFill>
                <a:latin typeface="Inter"/>
              </a:rPr>
              <a:t>• Create diamond shape</a:t>
            </a:r>
          </a:p>
        </p:txBody>
      </p:sp>
      <p:sp>
        <p:nvSpPr>
          <p:cNvPr id="80" name="TextBox 79"/>
          <p:cNvSpPr txBox="1"/>
          <p:nvPr/>
        </p:nvSpPr>
        <p:spPr>
          <a:xfrm>
            <a:off x="566928" y="6447536"/>
            <a:ext cx="3453384" cy="219456"/>
          </a:xfrm>
          <a:prstGeom prst="rect">
            <a:avLst/>
          </a:prstGeom>
          <a:noFill/>
        </p:spPr>
        <p:txBody>
          <a:bodyPr wrap="square">
            <a:spAutoFit/>
          </a:bodyPr>
          <a:lstStyle/>
          <a:p>
            <a:pPr algn="l"/>
            <a:r>
              <a:rPr sz="1000" b="0">
                <a:solidFill>
                  <a:srgbClr val="F2F2F0"/>
                </a:solidFill>
                <a:latin typeface="Inter"/>
              </a:rPr>
              <a:t>• Rotation in midfield</a:t>
            </a:r>
          </a:p>
        </p:txBody>
      </p:sp>
      <p:sp>
        <p:nvSpPr>
          <p:cNvPr id="81" name="Rectangle 80"/>
          <p:cNvSpPr/>
          <p:nvPr/>
        </p:nvSpPr>
        <p:spPr>
          <a:xfrm>
            <a:off x="4258056"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67784" y="5706872"/>
            <a:ext cx="3453384" cy="219456"/>
          </a:xfrm>
          <a:prstGeom prst="rect">
            <a:avLst/>
          </a:prstGeom>
          <a:noFill/>
        </p:spPr>
        <p:txBody>
          <a:bodyPr wrap="square">
            <a:spAutoFit/>
          </a:bodyPr>
          <a:lstStyle/>
          <a:p>
            <a:pPr algn="l"/>
            <a:r>
              <a:rPr sz="800" b="1">
                <a:solidFill>
                  <a:srgbClr val="F5C518"/>
                </a:solidFill>
                <a:latin typeface="Inter"/>
              </a:rPr>
              <a:t>ADVANCEMENT PHASE</a:t>
            </a:r>
          </a:p>
        </p:txBody>
      </p:sp>
      <p:sp>
        <p:nvSpPr>
          <p:cNvPr id="83" name="TextBox 82"/>
          <p:cNvSpPr txBox="1"/>
          <p:nvPr/>
        </p:nvSpPr>
        <p:spPr>
          <a:xfrm>
            <a:off x="4367784" y="5953760"/>
            <a:ext cx="3453384" cy="219456"/>
          </a:xfrm>
          <a:prstGeom prst="rect">
            <a:avLst/>
          </a:prstGeom>
          <a:noFill/>
        </p:spPr>
        <p:txBody>
          <a:bodyPr wrap="square">
            <a:spAutoFit/>
          </a:bodyPr>
          <a:lstStyle/>
          <a:p>
            <a:pPr algn="l"/>
            <a:r>
              <a:rPr sz="1000" b="0">
                <a:solidFill>
                  <a:srgbClr val="F2F2F0"/>
                </a:solidFill>
                <a:latin typeface="Inter"/>
              </a:rPr>
              <a:t>• Create diamond shape</a:t>
            </a:r>
          </a:p>
        </p:txBody>
      </p:sp>
      <p:sp>
        <p:nvSpPr>
          <p:cNvPr id="84" name="TextBox 83"/>
          <p:cNvSpPr txBox="1"/>
          <p:nvPr/>
        </p:nvSpPr>
        <p:spPr>
          <a:xfrm>
            <a:off x="4367784" y="6200648"/>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85" name="TextBox 84"/>
          <p:cNvSpPr txBox="1"/>
          <p:nvPr/>
        </p:nvSpPr>
        <p:spPr>
          <a:xfrm>
            <a:off x="4367784" y="6447536"/>
            <a:ext cx="3453384" cy="219456"/>
          </a:xfrm>
          <a:prstGeom prst="rect">
            <a:avLst/>
          </a:prstGeom>
          <a:noFill/>
        </p:spPr>
        <p:txBody>
          <a:bodyPr wrap="square">
            <a:spAutoFit/>
          </a:bodyPr>
          <a:lstStyle/>
          <a:p>
            <a:pPr algn="l"/>
            <a:r>
              <a:rPr sz="1000" b="0">
                <a:solidFill>
                  <a:srgbClr val="F2F2F0"/>
                </a:solidFill>
                <a:latin typeface="Inter"/>
              </a:rPr>
              <a:t>• Eliminate defenders with pass</a:t>
            </a:r>
          </a:p>
        </p:txBody>
      </p:sp>
      <p:sp>
        <p:nvSpPr>
          <p:cNvPr id="86" name="Rectangle 85"/>
          <p:cNvSpPr/>
          <p:nvPr/>
        </p:nvSpPr>
        <p:spPr>
          <a:xfrm>
            <a:off x="8058912"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168640" y="5706872"/>
            <a:ext cx="3453384" cy="219456"/>
          </a:xfrm>
          <a:prstGeom prst="rect">
            <a:avLst/>
          </a:prstGeom>
          <a:noFill/>
        </p:spPr>
        <p:txBody>
          <a:bodyPr wrap="square">
            <a:spAutoFit/>
          </a:bodyPr>
          <a:lstStyle/>
          <a:p>
            <a:pPr algn="l"/>
            <a:r>
              <a:rPr sz="800" b="1">
                <a:solidFill>
                  <a:srgbClr val="F5C518"/>
                </a:solidFill>
                <a:latin typeface="Inter"/>
              </a:rPr>
              <a:t>CHANCE CREATION / SCORING</a:t>
            </a:r>
          </a:p>
        </p:txBody>
      </p:sp>
      <p:sp>
        <p:nvSpPr>
          <p:cNvPr id="88" name="TextBox 87"/>
          <p:cNvSpPr txBox="1"/>
          <p:nvPr/>
        </p:nvSpPr>
        <p:spPr>
          <a:xfrm>
            <a:off x="8168640" y="5953760"/>
            <a:ext cx="3453384" cy="219456"/>
          </a:xfrm>
          <a:prstGeom prst="rect">
            <a:avLst/>
          </a:prstGeom>
          <a:noFill/>
        </p:spPr>
        <p:txBody>
          <a:bodyPr wrap="square">
            <a:spAutoFit/>
          </a:bodyPr>
          <a:lstStyle/>
          <a:p>
            <a:pPr algn="l"/>
            <a:r>
              <a:rPr sz="1000" b="0">
                <a:solidFill>
                  <a:srgbClr val="F2F2F0"/>
                </a:solidFill>
                <a:latin typeface="Inter"/>
              </a:rPr>
              <a:t>• Awareness of position on field</a:t>
            </a:r>
          </a:p>
        </p:txBody>
      </p:sp>
      <p:sp>
        <p:nvSpPr>
          <p:cNvPr id="89" name="TextBox 88"/>
          <p:cNvSpPr txBox="1"/>
          <p:nvPr/>
        </p:nvSpPr>
        <p:spPr>
          <a:xfrm>
            <a:off x="8168640" y="6200648"/>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90" name="TextBox 89"/>
          <p:cNvSpPr txBox="1"/>
          <p:nvPr/>
        </p:nvSpPr>
        <p:spPr>
          <a:xfrm>
            <a:off x="8168640" y="6447536"/>
            <a:ext cx="3453384" cy="219456"/>
          </a:xfrm>
          <a:prstGeom prst="rect">
            <a:avLst/>
          </a:prstGeom>
          <a:noFill/>
        </p:spPr>
        <p:txBody>
          <a:bodyPr wrap="square">
            <a:spAutoFit/>
          </a:bodyPr>
          <a:lstStyle/>
          <a:p>
            <a:pPr algn="l"/>
            <a:r>
              <a:rPr sz="1000" b="0">
                <a:solidFill>
                  <a:srgbClr val="F2F2F0"/>
                </a:solidFill>
                <a:latin typeface="Inter"/>
              </a:rPr>
              <a:t>• Rotation in midfield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
            <a:ext cx="1032256" cy="530352"/>
          </a:xfrm>
          <a:prstGeom prst="rect">
            <a:avLst/>
          </a:prstGeom>
          <a:solidFill>
            <a:srgbClr val="00D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32256" cy="530352"/>
          </a:xfrm>
          <a:prstGeom prst="rect">
            <a:avLst/>
          </a:prstGeom>
          <a:noFill/>
        </p:spPr>
        <p:txBody>
          <a:bodyPr wrap="square">
            <a:spAutoFit/>
          </a:bodyPr>
          <a:lstStyle/>
          <a:p>
            <a:pPr algn="ctr"/>
            <a:r>
              <a:rPr sz="2000" b="1">
                <a:solidFill>
                  <a:srgbClr val="0D0D0D"/>
                </a:solidFill>
                <a:latin typeface="Barlow Condensed"/>
              </a:rPr>
              <a:t>#8 / #10</a:t>
            </a:r>
          </a:p>
        </p:txBody>
      </p:sp>
      <p:sp>
        <p:nvSpPr>
          <p:cNvPr id="5" name="TextBox 4"/>
          <p:cNvSpPr txBox="1"/>
          <p:nvPr/>
        </p:nvSpPr>
        <p:spPr>
          <a:xfrm>
            <a:off x="1617472" y="91440"/>
            <a:ext cx="8696960" cy="530352"/>
          </a:xfrm>
          <a:prstGeom prst="rect">
            <a:avLst/>
          </a:prstGeom>
          <a:noFill/>
        </p:spPr>
        <p:txBody>
          <a:bodyPr wrap="square">
            <a:spAutoFit/>
          </a:bodyPr>
          <a:lstStyle/>
          <a:p>
            <a:pPr algn="l"/>
            <a:r>
              <a:rPr sz="2800" b="1">
                <a:solidFill>
                  <a:srgbClr val="F5C518"/>
                </a:solidFill>
                <a:latin typeface="Barlow Condensed"/>
              </a:rPr>
              <a:t>CENTRAL &amp; ATTACKING MIDFIELDER — CM / ACM</a:t>
            </a:r>
          </a:p>
        </p:txBody>
      </p:sp>
      <p:sp>
        <p:nvSpPr>
          <p:cNvPr id="6" name="Rectangle 5"/>
          <p:cNvSpPr/>
          <p:nvPr/>
        </p:nvSpPr>
        <p:spPr>
          <a:xfrm>
            <a:off x="10314432" y="91440"/>
            <a:ext cx="1417320" cy="2204720"/>
          </a:xfrm>
          <a:prstGeom prst="rect">
            <a:avLst/>
          </a:prstGeom>
          <a:solidFill>
            <a:srgbClr val="1E6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7424" y="154432"/>
            <a:ext cx="1291336" cy="2078736"/>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7424" y="1193800"/>
            <a:ext cx="1291336" cy="7874"/>
          </a:xfrm>
          <a:prstGeom prst="rect">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18368" y="989076"/>
            <a:ext cx="409448" cy="409448"/>
          </a:xfrm>
          <a:prstGeom prst="ellipse">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11281" y="1189863"/>
            <a:ext cx="23622" cy="23622"/>
          </a:xfrm>
          <a:prstGeom prst="ellipse">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76636" y="1760728"/>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76636" y="217424"/>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02620" y="2044192"/>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02620" y="217424"/>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52226" y="205206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52226" y="2039366"/>
            <a:ext cx="141732" cy="141732"/>
          </a:xfrm>
          <a:prstGeom prst="rect">
            <a:avLst/>
          </a:prstGeom>
          <a:noFill/>
        </p:spPr>
        <p:txBody>
          <a:bodyPr wrap="square">
            <a:spAutoFit/>
          </a:bodyPr>
          <a:lstStyle/>
          <a:p>
            <a:pPr algn="ctr"/>
            <a:r>
              <a:rPr sz="600" b="1">
                <a:solidFill>
                  <a:srgbClr val="FFFFFF"/>
                </a:solidFill>
                <a:latin typeface="Arial"/>
              </a:rPr>
              <a:t>1</a:t>
            </a:r>
          </a:p>
        </p:txBody>
      </p:sp>
      <p:sp>
        <p:nvSpPr>
          <p:cNvPr id="17" name="Oval 16"/>
          <p:cNvSpPr/>
          <p:nvPr/>
        </p:nvSpPr>
        <p:spPr>
          <a:xfrm>
            <a:off x="10731754"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31754" y="1755902"/>
            <a:ext cx="141732" cy="141732"/>
          </a:xfrm>
          <a:prstGeom prst="rect">
            <a:avLst/>
          </a:prstGeom>
          <a:noFill/>
        </p:spPr>
        <p:txBody>
          <a:bodyPr wrap="square">
            <a:spAutoFit/>
          </a:bodyPr>
          <a:lstStyle/>
          <a:p>
            <a:pPr algn="ctr"/>
            <a:r>
              <a:rPr sz="600" b="1">
                <a:solidFill>
                  <a:srgbClr val="FFFFFF"/>
                </a:solidFill>
                <a:latin typeface="Arial"/>
              </a:rPr>
              <a:t>5</a:t>
            </a:r>
          </a:p>
        </p:txBody>
      </p:sp>
      <p:sp>
        <p:nvSpPr>
          <p:cNvPr id="19" name="Oval 18"/>
          <p:cNvSpPr/>
          <p:nvPr/>
        </p:nvSpPr>
        <p:spPr>
          <a:xfrm>
            <a:off x="11172698"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72698" y="1755902"/>
            <a:ext cx="141732" cy="141732"/>
          </a:xfrm>
          <a:prstGeom prst="rect">
            <a:avLst/>
          </a:prstGeom>
          <a:noFill/>
        </p:spPr>
        <p:txBody>
          <a:bodyPr wrap="square">
            <a:spAutoFit/>
          </a:bodyPr>
          <a:lstStyle/>
          <a:p>
            <a:pPr algn="ctr"/>
            <a:r>
              <a:rPr sz="600" b="1">
                <a:solidFill>
                  <a:srgbClr val="FFFFFF"/>
                </a:solidFill>
                <a:latin typeface="Arial"/>
              </a:rPr>
              <a:t>4</a:t>
            </a:r>
          </a:p>
        </p:txBody>
      </p:sp>
      <p:sp>
        <p:nvSpPr>
          <p:cNvPr id="21" name="Oval 20"/>
          <p:cNvSpPr/>
          <p:nvPr/>
        </p:nvSpPr>
        <p:spPr>
          <a:xfrm>
            <a:off x="10385298"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85298" y="1622044"/>
            <a:ext cx="141732" cy="141732"/>
          </a:xfrm>
          <a:prstGeom prst="rect">
            <a:avLst/>
          </a:prstGeom>
          <a:noFill/>
        </p:spPr>
        <p:txBody>
          <a:bodyPr wrap="square">
            <a:spAutoFit/>
          </a:bodyPr>
          <a:lstStyle/>
          <a:p>
            <a:pPr algn="ctr"/>
            <a:r>
              <a:rPr sz="600" b="1">
                <a:solidFill>
                  <a:srgbClr val="FFFFFF"/>
                </a:solidFill>
                <a:latin typeface="Arial"/>
              </a:rPr>
              <a:t>3</a:t>
            </a:r>
          </a:p>
        </p:txBody>
      </p:sp>
      <p:sp>
        <p:nvSpPr>
          <p:cNvPr id="23" name="Oval 22"/>
          <p:cNvSpPr/>
          <p:nvPr/>
        </p:nvSpPr>
        <p:spPr>
          <a:xfrm>
            <a:off x="11519154"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19154" y="1622044"/>
            <a:ext cx="141732" cy="141732"/>
          </a:xfrm>
          <a:prstGeom prst="rect">
            <a:avLst/>
          </a:prstGeom>
          <a:noFill/>
        </p:spPr>
        <p:txBody>
          <a:bodyPr wrap="square">
            <a:spAutoFit/>
          </a:bodyPr>
          <a:lstStyle/>
          <a:p>
            <a:pPr algn="ctr"/>
            <a:r>
              <a:rPr sz="600" b="1">
                <a:solidFill>
                  <a:srgbClr val="FFFFFF"/>
                </a:solidFill>
                <a:latin typeface="Arial"/>
              </a:rPr>
              <a:t>2</a:t>
            </a:r>
          </a:p>
        </p:txBody>
      </p:sp>
      <p:sp>
        <p:nvSpPr>
          <p:cNvPr id="25" name="Oval 24"/>
          <p:cNvSpPr/>
          <p:nvPr/>
        </p:nvSpPr>
        <p:spPr>
          <a:xfrm>
            <a:off x="10952226" y="143789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52226" y="1425194"/>
            <a:ext cx="141732" cy="141732"/>
          </a:xfrm>
          <a:prstGeom prst="rect">
            <a:avLst/>
          </a:prstGeom>
          <a:noFill/>
        </p:spPr>
        <p:txBody>
          <a:bodyPr wrap="square">
            <a:spAutoFit/>
          </a:bodyPr>
          <a:lstStyle/>
          <a:p>
            <a:pPr algn="ctr"/>
            <a:r>
              <a:rPr sz="600" b="1">
                <a:solidFill>
                  <a:srgbClr val="FFFFFF"/>
                </a:solidFill>
                <a:latin typeface="Arial"/>
              </a:rPr>
              <a:t>6</a:t>
            </a:r>
          </a:p>
        </p:txBody>
      </p:sp>
      <p:sp>
        <p:nvSpPr>
          <p:cNvPr id="27" name="Oval 26"/>
          <p:cNvSpPr/>
          <p:nvPr/>
        </p:nvSpPr>
        <p:spPr>
          <a:xfrm>
            <a:off x="10637266" y="1201674"/>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37266" y="1188974"/>
            <a:ext cx="173228" cy="173228"/>
          </a:xfrm>
          <a:prstGeom prst="rect">
            <a:avLst/>
          </a:prstGeom>
          <a:noFill/>
        </p:spPr>
        <p:txBody>
          <a:bodyPr wrap="square">
            <a:spAutoFit/>
          </a:bodyPr>
          <a:lstStyle/>
          <a:p>
            <a:pPr algn="ctr"/>
            <a:r>
              <a:rPr sz="600" b="1">
                <a:solidFill>
                  <a:srgbClr val="0D0D0D"/>
                </a:solidFill>
                <a:latin typeface="Arial"/>
              </a:rPr>
              <a:t>8</a:t>
            </a:r>
          </a:p>
        </p:txBody>
      </p:sp>
      <p:sp>
        <p:nvSpPr>
          <p:cNvPr id="29" name="Oval 28"/>
          <p:cNvSpPr/>
          <p:nvPr/>
        </p:nvSpPr>
        <p:spPr>
          <a:xfrm>
            <a:off x="11235690" y="1201674"/>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35690" y="1188974"/>
            <a:ext cx="173228" cy="173228"/>
          </a:xfrm>
          <a:prstGeom prst="rect">
            <a:avLst/>
          </a:prstGeom>
          <a:noFill/>
        </p:spPr>
        <p:txBody>
          <a:bodyPr wrap="square">
            <a:spAutoFit/>
          </a:bodyPr>
          <a:lstStyle/>
          <a:p>
            <a:pPr algn="ctr"/>
            <a:r>
              <a:rPr sz="600" b="1">
                <a:solidFill>
                  <a:srgbClr val="0D0D0D"/>
                </a:solidFill>
                <a:latin typeface="Arial"/>
              </a:rPr>
              <a:t>10</a:t>
            </a:r>
          </a:p>
        </p:txBody>
      </p:sp>
      <p:sp>
        <p:nvSpPr>
          <p:cNvPr id="31" name="Oval 30"/>
          <p:cNvSpPr/>
          <p:nvPr/>
        </p:nvSpPr>
        <p:spPr>
          <a:xfrm>
            <a:off x="10385298"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85298" y="700786"/>
            <a:ext cx="141732" cy="141732"/>
          </a:xfrm>
          <a:prstGeom prst="rect">
            <a:avLst/>
          </a:prstGeom>
          <a:noFill/>
        </p:spPr>
        <p:txBody>
          <a:bodyPr wrap="square">
            <a:spAutoFit/>
          </a:bodyPr>
          <a:lstStyle/>
          <a:p>
            <a:pPr algn="ctr"/>
            <a:r>
              <a:rPr sz="600" b="1">
                <a:solidFill>
                  <a:srgbClr val="FFFFFF"/>
                </a:solidFill>
                <a:latin typeface="Arial"/>
              </a:rPr>
              <a:t>11</a:t>
            </a:r>
          </a:p>
        </p:txBody>
      </p:sp>
      <p:sp>
        <p:nvSpPr>
          <p:cNvPr id="33" name="Oval 32"/>
          <p:cNvSpPr/>
          <p:nvPr/>
        </p:nvSpPr>
        <p:spPr>
          <a:xfrm>
            <a:off x="11519154"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19154" y="700786"/>
            <a:ext cx="141732" cy="141732"/>
          </a:xfrm>
          <a:prstGeom prst="rect">
            <a:avLst/>
          </a:prstGeom>
          <a:noFill/>
        </p:spPr>
        <p:txBody>
          <a:bodyPr wrap="square">
            <a:spAutoFit/>
          </a:bodyPr>
          <a:lstStyle/>
          <a:p>
            <a:pPr algn="ctr"/>
            <a:r>
              <a:rPr sz="600" b="1">
                <a:solidFill>
                  <a:srgbClr val="FFFFFF"/>
                </a:solidFill>
                <a:latin typeface="Arial"/>
              </a:rPr>
              <a:t>7</a:t>
            </a:r>
          </a:p>
        </p:txBody>
      </p:sp>
      <p:sp>
        <p:nvSpPr>
          <p:cNvPr id="35" name="Oval 34"/>
          <p:cNvSpPr/>
          <p:nvPr/>
        </p:nvSpPr>
        <p:spPr>
          <a:xfrm>
            <a:off x="10952226" y="4300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2226" y="417322"/>
            <a:ext cx="141732" cy="141732"/>
          </a:xfrm>
          <a:prstGeom prst="rect">
            <a:avLst/>
          </a:prstGeom>
          <a:noFill/>
        </p:spPr>
        <p:txBody>
          <a:bodyPr wrap="square">
            <a:spAutoFit/>
          </a:bodyPr>
          <a:lstStyle/>
          <a:p>
            <a:pPr algn="ctr"/>
            <a:r>
              <a:rPr sz="600" b="1">
                <a:solidFill>
                  <a:srgbClr val="FFFFFF"/>
                </a:solidFill>
                <a:latin typeface="Arial"/>
              </a:rPr>
              <a:t>9</a:t>
            </a:r>
          </a:p>
        </p:txBody>
      </p:sp>
      <p:sp>
        <p:nvSpPr>
          <p:cNvPr id="37" name="TextBox 36"/>
          <p:cNvSpPr txBox="1"/>
          <p:nvPr/>
        </p:nvSpPr>
        <p:spPr>
          <a:xfrm>
            <a:off x="457200" y="676656"/>
            <a:ext cx="1417320" cy="219456"/>
          </a:xfrm>
          <a:prstGeom prst="rect">
            <a:avLst/>
          </a:prstGeom>
          <a:noFill/>
        </p:spPr>
        <p:txBody>
          <a:bodyPr wrap="square">
            <a:spAutoFit/>
          </a:bodyPr>
          <a:lstStyle/>
          <a:p>
            <a:pPr algn="l"/>
            <a:r>
              <a:rPr sz="900" b="1">
                <a:solidFill>
                  <a:srgbClr val="00D4E4"/>
                </a:solidFill>
                <a:latin typeface="Inter"/>
              </a:rPr>
              <a:t>KEY QUALITIES:</a:t>
            </a:r>
          </a:p>
        </p:txBody>
      </p:sp>
      <p:sp>
        <p:nvSpPr>
          <p:cNvPr id="38" name="Rectangle 37"/>
          <p:cNvSpPr/>
          <p:nvPr/>
        </p:nvSpPr>
        <p:spPr>
          <a:xfrm>
            <a:off x="1874520" y="702056"/>
            <a:ext cx="14173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50720" y="702056"/>
            <a:ext cx="1341120" cy="210312"/>
          </a:xfrm>
          <a:prstGeom prst="rect">
            <a:avLst/>
          </a:prstGeom>
          <a:noFill/>
        </p:spPr>
        <p:txBody>
          <a:bodyPr wrap="square">
            <a:spAutoFit/>
          </a:bodyPr>
          <a:lstStyle/>
          <a:p>
            <a:pPr algn="l"/>
            <a:r>
              <a:rPr sz="900" b="0">
                <a:solidFill>
                  <a:srgbClr val="F2F2F0"/>
                </a:solidFill>
                <a:latin typeface="Inter"/>
              </a:rPr>
              <a:t>CM: High Endurance</a:t>
            </a:r>
          </a:p>
        </p:txBody>
      </p:sp>
      <p:sp>
        <p:nvSpPr>
          <p:cNvPr id="40" name="Rectangle 39"/>
          <p:cNvSpPr/>
          <p:nvPr/>
        </p:nvSpPr>
        <p:spPr>
          <a:xfrm>
            <a:off x="3346704" y="702056"/>
            <a:ext cx="148336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22904" y="702056"/>
            <a:ext cx="1407160" cy="210312"/>
          </a:xfrm>
          <a:prstGeom prst="rect">
            <a:avLst/>
          </a:prstGeom>
          <a:noFill/>
        </p:spPr>
        <p:txBody>
          <a:bodyPr wrap="square">
            <a:spAutoFit/>
          </a:bodyPr>
          <a:lstStyle/>
          <a:p>
            <a:pPr algn="l"/>
            <a:r>
              <a:rPr sz="900" b="0">
                <a:solidFill>
                  <a:srgbClr val="F2F2F0"/>
                </a:solidFill>
                <a:latin typeface="Inter"/>
              </a:rPr>
              <a:t>Proficient Dribbler</a:t>
            </a:r>
          </a:p>
        </p:txBody>
      </p:sp>
      <p:sp>
        <p:nvSpPr>
          <p:cNvPr id="42" name="Rectangle 41"/>
          <p:cNvSpPr/>
          <p:nvPr/>
        </p:nvSpPr>
        <p:spPr>
          <a:xfrm>
            <a:off x="4884928" y="702056"/>
            <a:ext cx="148336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61128" y="702056"/>
            <a:ext cx="1407160" cy="210312"/>
          </a:xfrm>
          <a:prstGeom prst="rect">
            <a:avLst/>
          </a:prstGeom>
          <a:noFill/>
        </p:spPr>
        <p:txBody>
          <a:bodyPr wrap="square">
            <a:spAutoFit/>
          </a:bodyPr>
          <a:lstStyle/>
          <a:p>
            <a:pPr algn="l"/>
            <a:r>
              <a:rPr sz="900" b="0">
                <a:solidFill>
                  <a:srgbClr val="F2F2F0"/>
                </a:solidFill>
                <a:latin typeface="Inter"/>
              </a:rPr>
              <a:t>Calm Under Pressure</a:t>
            </a:r>
          </a:p>
        </p:txBody>
      </p:sp>
      <p:sp>
        <p:nvSpPr>
          <p:cNvPr id="44" name="Rectangle 43"/>
          <p:cNvSpPr/>
          <p:nvPr/>
        </p:nvSpPr>
        <p:spPr>
          <a:xfrm>
            <a:off x="6423152" y="702056"/>
            <a:ext cx="201168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9352" y="702056"/>
            <a:ext cx="1935480" cy="210312"/>
          </a:xfrm>
          <a:prstGeom prst="rect">
            <a:avLst/>
          </a:prstGeom>
          <a:noFill/>
        </p:spPr>
        <p:txBody>
          <a:bodyPr wrap="square">
            <a:spAutoFit/>
          </a:bodyPr>
          <a:lstStyle/>
          <a:p>
            <a:pPr algn="l"/>
            <a:r>
              <a:rPr sz="900" b="0">
                <a:solidFill>
                  <a:srgbClr val="F2F2F0"/>
                </a:solidFill>
                <a:latin typeface="Inter"/>
              </a:rPr>
              <a:t>Accurate, Efficient Passing</a:t>
            </a:r>
          </a:p>
        </p:txBody>
      </p:sp>
      <p:sp>
        <p:nvSpPr>
          <p:cNvPr id="46" name="Rectangle 45"/>
          <p:cNvSpPr/>
          <p:nvPr/>
        </p:nvSpPr>
        <p:spPr>
          <a:xfrm>
            <a:off x="1874520" y="948944"/>
            <a:ext cx="19456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950720" y="948944"/>
            <a:ext cx="1869440" cy="210312"/>
          </a:xfrm>
          <a:prstGeom prst="rect">
            <a:avLst/>
          </a:prstGeom>
          <a:noFill/>
        </p:spPr>
        <p:txBody>
          <a:bodyPr wrap="square">
            <a:spAutoFit/>
          </a:bodyPr>
          <a:lstStyle/>
          <a:p>
            <a:pPr algn="l"/>
            <a:r>
              <a:rPr sz="900" b="0">
                <a:solidFill>
                  <a:srgbClr val="F2F2F0"/>
                </a:solidFill>
                <a:latin typeface="Inter"/>
              </a:rPr>
              <a:t>Accurate Finishing 18–30yd</a:t>
            </a:r>
          </a:p>
        </p:txBody>
      </p:sp>
      <p:sp>
        <p:nvSpPr>
          <p:cNvPr id="48" name="Rectangle 47"/>
          <p:cNvSpPr/>
          <p:nvPr/>
        </p:nvSpPr>
        <p:spPr>
          <a:xfrm>
            <a:off x="3875024" y="948944"/>
            <a:ext cx="16154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951224" y="948944"/>
            <a:ext cx="1539240" cy="210312"/>
          </a:xfrm>
          <a:prstGeom prst="rect">
            <a:avLst/>
          </a:prstGeom>
          <a:noFill/>
        </p:spPr>
        <p:txBody>
          <a:bodyPr wrap="square">
            <a:spAutoFit/>
          </a:bodyPr>
          <a:lstStyle/>
          <a:p>
            <a:pPr algn="l"/>
            <a:r>
              <a:rPr sz="900" b="0">
                <a:solidFill>
                  <a:srgbClr val="F2F2F0"/>
                </a:solidFill>
                <a:latin typeface="Inter"/>
              </a:rPr>
              <a:t>ACM: Dynamic Dribbler</a:t>
            </a:r>
          </a:p>
        </p:txBody>
      </p:sp>
      <p:sp>
        <p:nvSpPr>
          <p:cNvPr id="50" name="Rectangle 49"/>
          <p:cNvSpPr/>
          <p:nvPr/>
        </p:nvSpPr>
        <p:spPr>
          <a:xfrm>
            <a:off x="5545328" y="948944"/>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21528" y="948944"/>
            <a:ext cx="680720" cy="210312"/>
          </a:xfrm>
          <a:prstGeom prst="rect">
            <a:avLst/>
          </a:prstGeom>
          <a:noFill/>
        </p:spPr>
        <p:txBody>
          <a:bodyPr wrap="square">
            <a:spAutoFit/>
          </a:bodyPr>
          <a:lstStyle/>
          <a:p>
            <a:pPr algn="l"/>
            <a:r>
              <a:rPr sz="900" b="0">
                <a:solidFill>
                  <a:srgbClr val="F2F2F0"/>
                </a:solidFill>
                <a:latin typeface="Inter"/>
              </a:rPr>
              <a:t>Creative</a:t>
            </a:r>
          </a:p>
        </p:txBody>
      </p:sp>
      <p:sp>
        <p:nvSpPr>
          <p:cNvPr id="52" name="Rectangle 51"/>
          <p:cNvSpPr/>
          <p:nvPr/>
        </p:nvSpPr>
        <p:spPr>
          <a:xfrm>
            <a:off x="6357112" y="948944"/>
            <a:ext cx="214376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33312" y="948944"/>
            <a:ext cx="2067560" cy="210312"/>
          </a:xfrm>
          <a:prstGeom prst="rect">
            <a:avLst/>
          </a:prstGeom>
          <a:noFill/>
        </p:spPr>
        <p:txBody>
          <a:bodyPr wrap="square">
            <a:spAutoFit/>
          </a:bodyPr>
          <a:lstStyle/>
          <a:p>
            <a:pPr algn="l"/>
            <a:r>
              <a:rPr sz="900" b="0">
                <a:solidFill>
                  <a:srgbClr val="F2F2F0"/>
                </a:solidFill>
                <a:latin typeface="Inter"/>
              </a:rPr>
              <a:t>Accurate Finishing All Ranges</a:t>
            </a:r>
          </a:p>
        </p:txBody>
      </p:sp>
      <p:sp>
        <p:nvSpPr>
          <p:cNvPr id="54" name="Rectangle 53"/>
          <p:cNvSpPr/>
          <p:nvPr/>
        </p:nvSpPr>
        <p:spPr>
          <a:xfrm>
            <a:off x="1874520" y="1195832"/>
            <a:ext cx="220980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950720" y="1195832"/>
            <a:ext cx="2133600" cy="210312"/>
          </a:xfrm>
          <a:prstGeom prst="rect">
            <a:avLst/>
          </a:prstGeom>
          <a:noFill/>
        </p:spPr>
        <p:txBody>
          <a:bodyPr wrap="square">
            <a:spAutoFit/>
          </a:bodyPr>
          <a:lstStyle/>
          <a:p>
            <a:pPr algn="l"/>
            <a:r>
              <a:rPr sz="900" b="0">
                <a:solidFill>
                  <a:srgbClr val="F2F2F0"/>
                </a:solidFill>
                <a:latin typeface="Inter"/>
              </a:rPr>
              <a:t>Penetrate Opponent's Back Line</a:t>
            </a:r>
          </a:p>
        </p:txBody>
      </p:sp>
      <p:sp>
        <p:nvSpPr>
          <p:cNvPr id="56" name="Rectangle 55"/>
          <p:cNvSpPr/>
          <p:nvPr/>
        </p:nvSpPr>
        <p:spPr>
          <a:xfrm>
            <a:off x="457200"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5216" y="2433320"/>
            <a:ext cx="3416808" cy="201168"/>
          </a:xfrm>
          <a:prstGeom prst="rect">
            <a:avLst/>
          </a:prstGeom>
          <a:noFill/>
        </p:spPr>
        <p:txBody>
          <a:bodyPr wrap="square">
            <a:spAutoFit/>
          </a:bodyPr>
          <a:lstStyle/>
          <a:p>
            <a:pPr algn="l"/>
            <a:r>
              <a:rPr sz="1500" b="1">
                <a:solidFill>
                  <a:srgbClr val="F5C518"/>
                </a:solidFill>
                <a:latin typeface="Barlow Condensed"/>
              </a:rPr>
              <a:t>DEF 1/3</a:t>
            </a:r>
          </a:p>
        </p:txBody>
      </p:sp>
      <p:sp>
        <p:nvSpPr>
          <p:cNvPr id="59" name="TextBox 58"/>
          <p:cNvSpPr txBox="1"/>
          <p:nvPr/>
        </p:nvSpPr>
        <p:spPr>
          <a:xfrm>
            <a:off x="566928"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0" name="TextBox 59"/>
          <p:cNvSpPr txBox="1"/>
          <p:nvPr/>
        </p:nvSpPr>
        <p:spPr>
          <a:xfrm>
            <a:off x="566928" y="2917952"/>
            <a:ext cx="3453384" cy="868680"/>
          </a:xfrm>
          <a:prstGeom prst="rect">
            <a:avLst/>
          </a:prstGeom>
          <a:noFill/>
        </p:spPr>
        <p:txBody>
          <a:bodyPr wrap="square">
            <a:spAutoFit/>
          </a:bodyPr>
          <a:lstStyle/>
          <a:p>
            <a:pPr algn="l"/>
            <a:r>
              <a:rPr sz="1000" b="0">
                <a:solidFill>
                  <a:srgbClr val="F2F2F0"/>
                </a:solidFill>
                <a:latin typeface="Inter"/>
              </a:rPr>
              <a:t>Position centrally diagonally in spaces between lines; Align movements with other midfielders &amp; triangulate</a:t>
            </a:r>
          </a:p>
        </p:txBody>
      </p:sp>
      <p:sp>
        <p:nvSpPr>
          <p:cNvPr id="61" name="TextBox 60"/>
          <p:cNvSpPr txBox="1"/>
          <p:nvPr/>
        </p:nvSpPr>
        <p:spPr>
          <a:xfrm>
            <a:off x="566928"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62" name="TextBox 61"/>
          <p:cNvSpPr txBox="1"/>
          <p:nvPr/>
        </p:nvSpPr>
        <p:spPr>
          <a:xfrm>
            <a:off x="566928" y="4024376"/>
            <a:ext cx="3453384" cy="777240"/>
          </a:xfrm>
          <a:prstGeom prst="rect">
            <a:avLst/>
          </a:prstGeom>
          <a:noFill/>
        </p:spPr>
        <p:txBody>
          <a:bodyPr wrap="square">
            <a:spAutoFit/>
          </a:bodyPr>
          <a:lstStyle/>
          <a:p>
            <a:pPr algn="l"/>
            <a:r>
              <a:rPr sz="1000" b="0">
                <a:solidFill>
                  <a:srgbClr val="F2F2F0"/>
                </a:solidFill>
                <a:latin typeface="Inter"/>
              </a:rPr>
              <a:t>Recover into defensive third to assist 6 &amp; 8; Take anticipated attacking action/position</a:t>
            </a:r>
          </a:p>
        </p:txBody>
      </p:sp>
      <p:sp>
        <p:nvSpPr>
          <p:cNvPr id="63" name="TextBox 62"/>
          <p:cNvSpPr txBox="1"/>
          <p:nvPr/>
        </p:nvSpPr>
        <p:spPr>
          <a:xfrm>
            <a:off x="566928"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4" name="TextBox 63"/>
          <p:cNvSpPr txBox="1"/>
          <p:nvPr/>
        </p:nvSpPr>
        <p:spPr>
          <a:xfrm>
            <a:off x="566928" y="5039360"/>
            <a:ext cx="3453384" cy="713232"/>
          </a:xfrm>
          <a:prstGeom prst="rect">
            <a:avLst/>
          </a:prstGeom>
          <a:noFill/>
        </p:spPr>
        <p:txBody>
          <a:bodyPr wrap="square">
            <a:spAutoFit/>
          </a:bodyPr>
          <a:lstStyle/>
          <a:p>
            <a:pPr algn="l"/>
            <a:r>
              <a:rPr sz="1000" b="0">
                <a:solidFill>
                  <a:srgbClr val="F2F2F0"/>
                </a:solidFill>
                <a:latin typeface="Inter"/>
              </a:rPr>
              <a:t>D→A: Move quickly to support in space; Make diagonal passes or dribble to create 2v1  ·  A→D: If closest, put pressure on the ball immediately</a:t>
            </a:r>
          </a:p>
        </p:txBody>
      </p:sp>
      <p:sp>
        <p:nvSpPr>
          <p:cNvPr id="65" name="Rectangle 64"/>
          <p:cNvSpPr/>
          <p:nvPr/>
        </p:nvSpPr>
        <p:spPr>
          <a:xfrm>
            <a:off x="4258056"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258056"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86072" y="2433320"/>
            <a:ext cx="3416808" cy="201168"/>
          </a:xfrm>
          <a:prstGeom prst="rect">
            <a:avLst/>
          </a:prstGeom>
          <a:noFill/>
        </p:spPr>
        <p:txBody>
          <a:bodyPr wrap="square">
            <a:spAutoFit/>
          </a:bodyPr>
          <a:lstStyle/>
          <a:p>
            <a:pPr algn="l"/>
            <a:r>
              <a:rPr sz="1500" b="1">
                <a:solidFill>
                  <a:srgbClr val="F5C518"/>
                </a:solidFill>
                <a:latin typeface="Barlow Condensed"/>
              </a:rPr>
              <a:t>MID 1/3</a:t>
            </a:r>
          </a:p>
        </p:txBody>
      </p:sp>
      <p:sp>
        <p:nvSpPr>
          <p:cNvPr id="68" name="TextBox 67"/>
          <p:cNvSpPr txBox="1"/>
          <p:nvPr/>
        </p:nvSpPr>
        <p:spPr>
          <a:xfrm>
            <a:off x="4367784"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9" name="TextBox 68"/>
          <p:cNvSpPr txBox="1"/>
          <p:nvPr/>
        </p:nvSpPr>
        <p:spPr>
          <a:xfrm>
            <a:off x="4367784" y="2917952"/>
            <a:ext cx="3453384" cy="868680"/>
          </a:xfrm>
          <a:prstGeom prst="rect">
            <a:avLst/>
          </a:prstGeom>
          <a:noFill/>
        </p:spPr>
        <p:txBody>
          <a:bodyPr wrap="square">
            <a:spAutoFit/>
          </a:bodyPr>
          <a:lstStyle/>
          <a:p>
            <a:pPr algn="l"/>
            <a:r>
              <a:rPr sz="1000" b="0">
                <a:solidFill>
                  <a:srgbClr val="F2F2F0"/>
                </a:solidFill>
                <a:latin typeface="Inter"/>
              </a:rPr>
              <a:t>Dribble forward when no passing option; Make diagonal &amp; through passes to unbalance opponent</a:t>
            </a:r>
          </a:p>
        </p:txBody>
      </p:sp>
      <p:sp>
        <p:nvSpPr>
          <p:cNvPr id="70" name="TextBox 69"/>
          <p:cNvSpPr txBox="1"/>
          <p:nvPr/>
        </p:nvSpPr>
        <p:spPr>
          <a:xfrm>
            <a:off x="4367784"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71" name="TextBox 70"/>
          <p:cNvSpPr txBox="1"/>
          <p:nvPr/>
        </p:nvSpPr>
        <p:spPr>
          <a:xfrm>
            <a:off x="4367784" y="4024376"/>
            <a:ext cx="3453384" cy="777240"/>
          </a:xfrm>
          <a:prstGeom prst="rect">
            <a:avLst/>
          </a:prstGeom>
          <a:noFill/>
        </p:spPr>
        <p:txBody>
          <a:bodyPr wrap="square">
            <a:spAutoFit/>
          </a:bodyPr>
          <a:lstStyle/>
          <a:p>
            <a:pPr algn="l"/>
            <a:r>
              <a:rPr sz="1000" b="0">
                <a:solidFill>
                  <a:srgbClr val="F2F2F0"/>
                </a:solidFill>
                <a:latin typeface="Inter"/>
              </a:rPr>
              <a:t>Prevent opponent from dribbling or passing forward</a:t>
            </a:r>
          </a:p>
        </p:txBody>
      </p:sp>
      <p:sp>
        <p:nvSpPr>
          <p:cNvPr id="72" name="TextBox 71"/>
          <p:cNvSpPr txBox="1"/>
          <p:nvPr/>
        </p:nvSpPr>
        <p:spPr>
          <a:xfrm>
            <a:off x="4367784"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73" name="TextBox 72"/>
          <p:cNvSpPr txBox="1"/>
          <p:nvPr/>
        </p:nvSpPr>
        <p:spPr>
          <a:xfrm>
            <a:off x="4367784" y="5039360"/>
            <a:ext cx="3453384" cy="713232"/>
          </a:xfrm>
          <a:prstGeom prst="rect">
            <a:avLst/>
          </a:prstGeom>
          <a:noFill/>
        </p:spPr>
        <p:txBody>
          <a:bodyPr wrap="square">
            <a:spAutoFit/>
          </a:bodyPr>
          <a:lstStyle/>
          <a:p>
            <a:pPr algn="l"/>
            <a:r>
              <a:rPr sz="1000" b="0">
                <a:solidFill>
                  <a:srgbClr val="F2F2F0"/>
                </a:solidFill>
                <a:latin typeface="Inter"/>
              </a:rPr>
              <a:t>D→A: Keep the ball when cannot play forward &amp; manage the pace of the game  ·  A→D: Quick decision to pressure, delay the attack, or drop back</a:t>
            </a:r>
          </a:p>
        </p:txBody>
      </p:sp>
      <p:sp>
        <p:nvSpPr>
          <p:cNvPr id="74" name="Rectangle 73"/>
          <p:cNvSpPr/>
          <p:nvPr/>
        </p:nvSpPr>
        <p:spPr>
          <a:xfrm>
            <a:off x="8058912"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058912"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186928" y="2433320"/>
            <a:ext cx="3416808" cy="201168"/>
          </a:xfrm>
          <a:prstGeom prst="rect">
            <a:avLst/>
          </a:prstGeom>
          <a:noFill/>
        </p:spPr>
        <p:txBody>
          <a:bodyPr wrap="square">
            <a:spAutoFit/>
          </a:bodyPr>
          <a:lstStyle/>
          <a:p>
            <a:pPr algn="l"/>
            <a:r>
              <a:rPr sz="1500" b="1">
                <a:solidFill>
                  <a:srgbClr val="F5C518"/>
                </a:solidFill>
                <a:latin typeface="Barlow Condensed"/>
              </a:rPr>
              <a:t>OFF 1/3</a:t>
            </a:r>
          </a:p>
        </p:txBody>
      </p:sp>
      <p:sp>
        <p:nvSpPr>
          <p:cNvPr id="77" name="TextBox 76"/>
          <p:cNvSpPr txBox="1"/>
          <p:nvPr/>
        </p:nvSpPr>
        <p:spPr>
          <a:xfrm>
            <a:off x="8168640"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78" name="TextBox 77"/>
          <p:cNvSpPr txBox="1"/>
          <p:nvPr/>
        </p:nvSpPr>
        <p:spPr>
          <a:xfrm>
            <a:off x="8168640" y="2917952"/>
            <a:ext cx="3453384" cy="868680"/>
          </a:xfrm>
          <a:prstGeom prst="rect">
            <a:avLst/>
          </a:prstGeom>
          <a:noFill/>
        </p:spPr>
        <p:txBody>
          <a:bodyPr wrap="square">
            <a:spAutoFit/>
          </a:bodyPr>
          <a:lstStyle/>
          <a:p>
            <a:pPr algn="l"/>
            <a:r>
              <a:rPr sz="1000" b="0">
                <a:solidFill>
                  <a:srgbClr val="F2F2F0"/>
                </a:solidFill>
                <a:latin typeface="Inter"/>
              </a:rPr>
              <a:t>Support attack with forward runs behind defensive line; Position to support in the box near goal</a:t>
            </a:r>
          </a:p>
        </p:txBody>
      </p:sp>
      <p:sp>
        <p:nvSpPr>
          <p:cNvPr id="79" name="TextBox 78"/>
          <p:cNvSpPr txBox="1"/>
          <p:nvPr/>
        </p:nvSpPr>
        <p:spPr>
          <a:xfrm>
            <a:off x="8168640"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80" name="TextBox 79"/>
          <p:cNvSpPr txBox="1"/>
          <p:nvPr/>
        </p:nvSpPr>
        <p:spPr>
          <a:xfrm>
            <a:off x="8168640" y="4024376"/>
            <a:ext cx="3453384" cy="777240"/>
          </a:xfrm>
          <a:prstGeom prst="rect">
            <a:avLst/>
          </a:prstGeom>
          <a:noFill/>
        </p:spPr>
        <p:txBody>
          <a:bodyPr wrap="square">
            <a:spAutoFit/>
          </a:bodyPr>
          <a:lstStyle/>
          <a:p>
            <a:pPr algn="l"/>
            <a:r>
              <a:rPr sz="1000" b="0">
                <a:solidFill>
                  <a:srgbClr val="F2F2F0"/>
                </a:solidFill>
                <a:latin typeface="Inter"/>
              </a:rPr>
              <a:t>Organize &amp; coach teammates to press in identified situations; Decide to pressure, stay in zone, or track opposition holding mid</a:t>
            </a:r>
          </a:p>
        </p:txBody>
      </p:sp>
      <p:sp>
        <p:nvSpPr>
          <p:cNvPr id="81" name="TextBox 80"/>
          <p:cNvSpPr txBox="1"/>
          <p:nvPr/>
        </p:nvSpPr>
        <p:spPr>
          <a:xfrm>
            <a:off x="8168640"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82" name="TextBox 81"/>
          <p:cNvSpPr txBox="1"/>
          <p:nvPr/>
        </p:nvSpPr>
        <p:spPr>
          <a:xfrm>
            <a:off x="8168640" y="5039360"/>
            <a:ext cx="3453384" cy="713232"/>
          </a:xfrm>
          <a:prstGeom prst="rect">
            <a:avLst/>
          </a:prstGeom>
          <a:noFill/>
        </p:spPr>
        <p:txBody>
          <a:bodyPr wrap="square">
            <a:spAutoFit/>
          </a:bodyPr>
          <a:lstStyle/>
          <a:p>
            <a:pPr algn="l"/>
            <a:r>
              <a:rPr sz="1000" b="0">
                <a:solidFill>
                  <a:srgbClr val="F2F2F0"/>
                </a:solidFill>
                <a:latin typeface="Inter"/>
              </a:rPr>
              <a:t>D→A: Position &amp; support quickly in space to exploit opponent &amp; create chances  ·  A→D: If closest, put pressure on the ball immediately</a:t>
            </a:r>
          </a:p>
        </p:txBody>
      </p:sp>
      <p:sp>
        <p:nvSpPr>
          <p:cNvPr id="83" name="TextBox 82"/>
          <p:cNvSpPr txBox="1"/>
          <p:nvPr/>
        </p:nvSpPr>
        <p:spPr>
          <a:xfrm>
            <a:off x="457200" y="5405120"/>
            <a:ext cx="11274552" cy="219456"/>
          </a:xfrm>
          <a:prstGeom prst="rect">
            <a:avLst/>
          </a:prstGeom>
          <a:noFill/>
        </p:spPr>
        <p:txBody>
          <a:bodyPr wrap="square">
            <a:spAutoFit/>
          </a:bodyPr>
          <a:lstStyle/>
          <a:p>
            <a:pPr algn="l"/>
            <a:r>
              <a:rPr sz="900" b="1">
                <a:solidFill>
                  <a:srgbClr val="00D4E4"/>
                </a:solidFill>
                <a:latin typeface="Inter"/>
              </a:rPr>
              <a:t>PRINCIPLES OF PLAY</a:t>
            </a:r>
          </a:p>
        </p:txBody>
      </p:sp>
      <p:sp>
        <p:nvSpPr>
          <p:cNvPr id="84" name="Rectangle 83"/>
          <p:cNvSpPr/>
          <p:nvPr/>
        </p:nvSpPr>
        <p:spPr>
          <a:xfrm>
            <a:off x="457200"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6928" y="5706872"/>
            <a:ext cx="3453384" cy="219456"/>
          </a:xfrm>
          <a:prstGeom prst="rect">
            <a:avLst/>
          </a:prstGeom>
          <a:noFill/>
        </p:spPr>
        <p:txBody>
          <a:bodyPr wrap="square">
            <a:spAutoFit/>
          </a:bodyPr>
          <a:lstStyle/>
          <a:p>
            <a:pPr algn="l"/>
            <a:r>
              <a:rPr sz="800" b="1">
                <a:solidFill>
                  <a:srgbClr val="F5C518"/>
                </a:solidFill>
                <a:latin typeface="Inter"/>
              </a:rPr>
              <a:t>BUILD OUT</a:t>
            </a:r>
          </a:p>
        </p:txBody>
      </p:sp>
      <p:sp>
        <p:nvSpPr>
          <p:cNvPr id="86" name="TextBox 85"/>
          <p:cNvSpPr txBox="1"/>
          <p:nvPr/>
        </p:nvSpPr>
        <p:spPr>
          <a:xfrm>
            <a:off x="566928" y="5953760"/>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87" name="TextBox 86"/>
          <p:cNvSpPr txBox="1"/>
          <p:nvPr/>
        </p:nvSpPr>
        <p:spPr>
          <a:xfrm>
            <a:off x="566928" y="6200648"/>
            <a:ext cx="3453384" cy="219456"/>
          </a:xfrm>
          <a:prstGeom prst="rect">
            <a:avLst/>
          </a:prstGeom>
          <a:noFill/>
        </p:spPr>
        <p:txBody>
          <a:bodyPr wrap="square">
            <a:spAutoFit/>
          </a:bodyPr>
          <a:lstStyle/>
          <a:p>
            <a:pPr algn="l"/>
            <a:r>
              <a:rPr sz="1000" b="0">
                <a:solidFill>
                  <a:srgbClr val="F2F2F0"/>
                </a:solidFill>
                <a:latin typeface="Inter"/>
              </a:rPr>
              <a:t>• Create diamond shape</a:t>
            </a:r>
          </a:p>
        </p:txBody>
      </p:sp>
      <p:sp>
        <p:nvSpPr>
          <p:cNvPr id="88" name="TextBox 87"/>
          <p:cNvSpPr txBox="1"/>
          <p:nvPr/>
        </p:nvSpPr>
        <p:spPr>
          <a:xfrm>
            <a:off x="566928" y="6447536"/>
            <a:ext cx="3453384" cy="219456"/>
          </a:xfrm>
          <a:prstGeom prst="rect">
            <a:avLst/>
          </a:prstGeom>
          <a:noFill/>
        </p:spPr>
        <p:txBody>
          <a:bodyPr wrap="square">
            <a:spAutoFit/>
          </a:bodyPr>
          <a:lstStyle/>
          <a:p>
            <a:pPr algn="l"/>
            <a:r>
              <a:rPr sz="1000" b="0">
                <a:solidFill>
                  <a:srgbClr val="F2F2F0"/>
                </a:solidFill>
                <a:latin typeface="Inter"/>
              </a:rPr>
              <a:t>• Disorganize opponent</a:t>
            </a:r>
          </a:p>
        </p:txBody>
      </p:sp>
      <p:sp>
        <p:nvSpPr>
          <p:cNvPr id="89" name="Rectangle 88"/>
          <p:cNvSpPr/>
          <p:nvPr/>
        </p:nvSpPr>
        <p:spPr>
          <a:xfrm>
            <a:off x="4258056"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367784" y="5706872"/>
            <a:ext cx="3453384" cy="219456"/>
          </a:xfrm>
          <a:prstGeom prst="rect">
            <a:avLst/>
          </a:prstGeom>
          <a:noFill/>
        </p:spPr>
        <p:txBody>
          <a:bodyPr wrap="square">
            <a:spAutoFit/>
          </a:bodyPr>
          <a:lstStyle/>
          <a:p>
            <a:pPr algn="l"/>
            <a:r>
              <a:rPr sz="800" b="1">
                <a:solidFill>
                  <a:srgbClr val="F5C518"/>
                </a:solidFill>
                <a:latin typeface="Inter"/>
              </a:rPr>
              <a:t>ADVANCEMENT PHASE</a:t>
            </a:r>
          </a:p>
        </p:txBody>
      </p:sp>
      <p:sp>
        <p:nvSpPr>
          <p:cNvPr id="91" name="TextBox 90"/>
          <p:cNvSpPr txBox="1"/>
          <p:nvPr/>
        </p:nvSpPr>
        <p:spPr>
          <a:xfrm>
            <a:off x="4367784" y="5953760"/>
            <a:ext cx="3453384" cy="219456"/>
          </a:xfrm>
          <a:prstGeom prst="rect">
            <a:avLst/>
          </a:prstGeom>
          <a:noFill/>
        </p:spPr>
        <p:txBody>
          <a:bodyPr wrap="square">
            <a:spAutoFit/>
          </a:bodyPr>
          <a:lstStyle/>
          <a:p>
            <a:pPr algn="l"/>
            <a:r>
              <a:rPr sz="1000" b="0">
                <a:solidFill>
                  <a:srgbClr val="F2F2F0"/>
                </a:solidFill>
                <a:latin typeface="Inter"/>
              </a:rPr>
              <a:t>• Occupy half space</a:t>
            </a:r>
          </a:p>
        </p:txBody>
      </p:sp>
      <p:sp>
        <p:nvSpPr>
          <p:cNvPr id="92" name="TextBox 91"/>
          <p:cNvSpPr txBox="1"/>
          <p:nvPr/>
        </p:nvSpPr>
        <p:spPr>
          <a:xfrm>
            <a:off x="4367784" y="6200648"/>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93" name="TextBox 92"/>
          <p:cNvSpPr txBox="1"/>
          <p:nvPr/>
        </p:nvSpPr>
        <p:spPr>
          <a:xfrm>
            <a:off x="4367784" y="6447536"/>
            <a:ext cx="3453384" cy="219456"/>
          </a:xfrm>
          <a:prstGeom prst="rect">
            <a:avLst/>
          </a:prstGeom>
          <a:noFill/>
        </p:spPr>
        <p:txBody>
          <a:bodyPr wrap="square">
            <a:spAutoFit/>
          </a:bodyPr>
          <a:lstStyle/>
          <a:p>
            <a:pPr algn="l"/>
            <a:r>
              <a:rPr sz="1000" b="0">
                <a:solidFill>
                  <a:srgbClr val="F2F2F0"/>
                </a:solidFill>
                <a:latin typeface="Inter"/>
              </a:rPr>
              <a:t>• Create diamond shape</a:t>
            </a:r>
          </a:p>
        </p:txBody>
      </p:sp>
      <p:sp>
        <p:nvSpPr>
          <p:cNvPr id="94" name="Rectangle 93"/>
          <p:cNvSpPr/>
          <p:nvPr/>
        </p:nvSpPr>
        <p:spPr>
          <a:xfrm>
            <a:off x="8058912"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168640" y="5706872"/>
            <a:ext cx="3453384" cy="219456"/>
          </a:xfrm>
          <a:prstGeom prst="rect">
            <a:avLst/>
          </a:prstGeom>
          <a:noFill/>
        </p:spPr>
        <p:txBody>
          <a:bodyPr wrap="square">
            <a:spAutoFit/>
          </a:bodyPr>
          <a:lstStyle/>
          <a:p>
            <a:pPr algn="l"/>
            <a:r>
              <a:rPr sz="800" b="1">
                <a:solidFill>
                  <a:srgbClr val="F5C518"/>
                </a:solidFill>
                <a:latin typeface="Inter"/>
              </a:rPr>
              <a:t>CHANCE CREATION / SCORING</a:t>
            </a:r>
          </a:p>
        </p:txBody>
      </p:sp>
      <p:sp>
        <p:nvSpPr>
          <p:cNvPr id="96" name="TextBox 95"/>
          <p:cNvSpPr txBox="1"/>
          <p:nvPr/>
        </p:nvSpPr>
        <p:spPr>
          <a:xfrm>
            <a:off x="8168640" y="5953760"/>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97" name="TextBox 96"/>
          <p:cNvSpPr txBox="1"/>
          <p:nvPr/>
        </p:nvSpPr>
        <p:spPr>
          <a:xfrm>
            <a:off x="8168640" y="6200648"/>
            <a:ext cx="3453384" cy="219456"/>
          </a:xfrm>
          <a:prstGeom prst="rect">
            <a:avLst/>
          </a:prstGeom>
          <a:noFill/>
        </p:spPr>
        <p:txBody>
          <a:bodyPr wrap="square">
            <a:spAutoFit/>
          </a:bodyPr>
          <a:lstStyle/>
          <a:p>
            <a:pPr algn="l"/>
            <a:r>
              <a:rPr sz="1000" b="0">
                <a:solidFill>
                  <a:srgbClr val="F2F2F0"/>
                </a:solidFill>
                <a:latin typeface="Inter"/>
              </a:rPr>
              <a:t>• Penetrate through dribble or pass</a:t>
            </a:r>
          </a:p>
        </p:txBody>
      </p:sp>
      <p:sp>
        <p:nvSpPr>
          <p:cNvPr id="98" name="TextBox 97"/>
          <p:cNvSpPr txBox="1"/>
          <p:nvPr/>
        </p:nvSpPr>
        <p:spPr>
          <a:xfrm>
            <a:off x="8168640" y="6447536"/>
            <a:ext cx="3453384" cy="219456"/>
          </a:xfrm>
          <a:prstGeom prst="rect">
            <a:avLst/>
          </a:prstGeom>
          <a:noFill/>
        </p:spPr>
        <p:txBody>
          <a:bodyPr wrap="square">
            <a:spAutoFit/>
          </a:bodyPr>
          <a:lstStyle/>
          <a:p>
            <a:pPr algn="l"/>
            <a:r>
              <a:rPr sz="1000" b="0">
                <a:solidFill>
                  <a:srgbClr val="F2F2F0"/>
                </a:solidFill>
                <a:latin typeface="Inter"/>
              </a:rPr>
              <a:t>• Dynamic runs into the box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
            <a:ext cx="1032256" cy="5303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32256" cy="530352"/>
          </a:xfrm>
          <a:prstGeom prst="rect">
            <a:avLst/>
          </a:prstGeom>
          <a:noFill/>
        </p:spPr>
        <p:txBody>
          <a:bodyPr wrap="square">
            <a:spAutoFit/>
          </a:bodyPr>
          <a:lstStyle/>
          <a:p>
            <a:pPr algn="ctr"/>
            <a:r>
              <a:rPr sz="2000" b="1">
                <a:solidFill>
                  <a:srgbClr val="0D0D0D"/>
                </a:solidFill>
                <a:latin typeface="Barlow Condensed"/>
              </a:rPr>
              <a:t>#7 / #11</a:t>
            </a:r>
          </a:p>
        </p:txBody>
      </p:sp>
      <p:sp>
        <p:nvSpPr>
          <p:cNvPr id="5" name="TextBox 4"/>
          <p:cNvSpPr txBox="1"/>
          <p:nvPr/>
        </p:nvSpPr>
        <p:spPr>
          <a:xfrm>
            <a:off x="1617472" y="91440"/>
            <a:ext cx="8696960" cy="530352"/>
          </a:xfrm>
          <a:prstGeom prst="rect">
            <a:avLst/>
          </a:prstGeom>
          <a:noFill/>
        </p:spPr>
        <p:txBody>
          <a:bodyPr wrap="square">
            <a:spAutoFit/>
          </a:bodyPr>
          <a:lstStyle/>
          <a:p>
            <a:pPr algn="l"/>
            <a:r>
              <a:rPr sz="2800" b="1">
                <a:solidFill>
                  <a:srgbClr val="F5C518"/>
                </a:solidFill>
                <a:latin typeface="Barlow Condensed"/>
              </a:rPr>
              <a:t>WIDE FORWARD — WIDE FWD</a:t>
            </a:r>
          </a:p>
        </p:txBody>
      </p:sp>
      <p:sp>
        <p:nvSpPr>
          <p:cNvPr id="6" name="Rectangle 5"/>
          <p:cNvSpPr/>
          <p:nvPr/>
        </p:nvSpPr>
        <p:spPr>
          <a:xfrm>
            <a:off x="10314432" y="91440"/>
            <a:ext cx="1417320" cy="2204720"/>
          </a:xfrm>
          <a:prstGeom prst="rect">
            <a:avLst/>
          </a:prstGeom>
          <a:solidFill>
            <a:srgbClr val="1E6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7424" y="154432"/>
            <a:ext cx="1291336" cy="2078736"/>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7424" y="1193800"/>
            <a:ext cx="1291336" cy="7874"/>
          </a:xfrm>
          <a:prstGeom prst="rect">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18368" y="989076"/>
            <a:ext cx="409448" cy="409448"/>
          </a:xfrm>
          <a:prstGeom prst="ellipse">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11281" y="1189863"/>
            <a:ext cx="23622" cy="23622"/>
          </a:xfrm>
          <a:prstGeom prst="ellipse">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76636" y="1760728"/>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76636" y="217424"/>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02620" y="2044192"/>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02620" y="217424"/>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52226" y="205206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52226" y="2039366"/>
            <a:ext cx="141732" cy="141732"/>
          </a:xfrm>
          <a:prstGeom prst="rect">
            <a:avLst/>
          </a:prstGeom>
          <a:noFill/>
        </p:spPr>
        <p:txBody>
          <a:bodyPr wrap="square">
            <a:spAutoFit/>
          </a:bodyPr>
          <a:lstStyle/>
          <a:p>
            <a:pPr algn="ctr"/>
            <a:r>
              <a:rPr sz="600" b="1">
                <a:solidFill>
                  <a:srgbClr val="FFFFFF"/>
                </a:solidFill>
                <a:latin typeface="Arial"/>
              </a:rPr>
              <a:t>1</a:t>
            </a:r>
          </a:p>
        </p:txBody>
      </p:sp>
      <p:sp>
        <p:nvSpPr>
          <p:cNvPr id="17" name="Oval 16"/>
          <p:cNvSpPr/>
          <p:nvPr/>
        </p:nvSpPr>
        <p:spPr>
          <a:xfrm>
            <a:off x="10731754"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31754" y="1755902"/>
            <a:ext cx="141732" cy="141732"/>
          </a:xfrm>
          <a:prstGeom prst="rect">
            <a:avLst/>
          </a:prstGeom>
          <a:noFill/>
        </p:spPr>
        <p:txBody>
          <a:bodyPr wrap="square">
            <a:spAutoFit/>
          </a:bodyPr>
          <a:lstStyle/>
          <a:p>
            <a:pPr algn="ctr"/>
            <a:r>
              <a:rPr sz="600" b="1">
                <a:solidFill>
                  <a:srgbClr val="FFFFFF"/>
                </a:solidFill>
                <a:latin typeface="Arial"/>
              </a:rPr>
              <a:t>5</a:t>
            </a:r>
          </a:p>
        </p:txBody>
      </p:sp>
      <p:sp>
        <p:nvSpPr>
          <p:cNvPr id="19" name="Oval 18"/>
          <p:cNvSpPr/>
          <p:nvPr/>
        </p:nvSpPr>
        <p:spPr>
          <a:xfrm>
            <a:off x="11172698"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72698" y="1755902"/>
            <a:ext cx="141732" cy="141732"/>
          </a:xfrm>
          <a:prstGeom prst="rect">
            <a:avLst/>
          </a:prstGeom>
          <a:noFill/>
        </p:spPr>
        <p:txBody>
          <a:bodyPr wrap="square">
            <a:spAutoFit/>
          </a:bodyPr>
          <a:lstStyle/>
          <a:p>
            <a:pPr algn="ctr"/>
            <a:r>
              <a:rPr sz="600" b="1">
                <a:solidFill>
                  <a:srgbClr val="FFFFFF"/>
                </a:solidFill>
                <a:latin typeface="Arial"/>
              </a:rPr>
              <a:t>4</a:t>
            </a:r>
          </a:p>
        </p:txBody>
      </p:sp>
      <p:sp>
        <p:nvSpPr>
          <p:cNvPr id="21" name="Oval 20"/>
          <p:cNvSpPr/>
          <p:nvPr/>
        </p:nvSpPr>
        <p:spPr>
          <a:xfrm>
            <a:off x="10385298"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85298" y="1622044"/>
            <a:ext cx="141732" cy="141732"/>
          </a:xfrm>
          <a:prstGeom prst="rect">
            <a:avLst/>
          </a:prstGeom>
          <a:noFill/>
        </p:spPr>
        <p:txBody>
          <a:bodyPr wrap="square">
            <a:spAutoFit/>
          </a:bodyPr>
          <a:lstStyle/>
          <a:p>
            <a:pPr algn="ctr"/>
            <a:r>
              <a:rPr sz="600" b="1">
                <a:solidFill>
                  <a:srgbClr val="FFFFFF"/>
                </a:solidFill>
                <a:latin typeface="Arial"/>
              </a:rPr>
              <a:t>3</a:t>
            </a:r>
          </a:p>
        </p:txBody>
      </p:sp>
      <p:sp>
        <p:nvSpPr>
          <p:cNvPr id="23" name="Oval 22"/>
          <p:cNvSpPr/>
          <p:nvPr/>
        </p:nvSpPr>
        <p:spPr>
          <a:xfrm>
            <a:off x="11519154"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19154" y="1622044"/>
            <a:ext cx="141732" cy="141732"/>
          </a:xfrm>
          <a:prstGeom prst="rect">
            <a:avLst/>
          </a:prstGeom>
          <a:noFill/>
        </p:spPr>
        <p:txBody>
          <a:bodyPr wrap="square">
            <a:spAutoFit/>
          </a:bodyPr>
          <a:lstStyle/>
          <a:p>
            <a:pPr algn="ctr"/>
            <a:r>
              <a:rPr sz="600" b="1">
                <a:solidFill>
                  <a:srgbClr val="FFFFFF"/>
                </a:solidFill>
                <a:latin typeface="Arial"/>
              </a:rPr>
              <a:t>2</a:t>
            </a:r>
          </a:p>
        </p:txBody>
      </p:sp>
      <p:sp>
        <p:nvSpPr>
          <p:cNvPr id="25" name="Oval 24"/>
          <p:cNvSpPr/>
          <p:nvPr/>
        </p:nvSpPr>
        <p:spPr>
          <a:xfrm>
            <a:off x="10952226" y="143789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52226" y="1425194"/>
            <a:ext cx="141732" cy="141732"/>
          </a:xfrm>
          <a:prstGeom prst="rect">
            <a:avLst/>
          </a:prstGeom>
          <a:noFill/>
        </p:spPr>
        <p:txBody>
          <a:bodyPr wrap="square">
            <a:spAutoFit/>
          </a:bodyPr>
          <a:lstStyle/>
          <a:p>
            <a:pPr algn="ctr"/>
            <a:r>
              <a:rPr sz="600" b="1">
                <a:solidFill>
                  <a:srgbClr val="FFFFFF"/>
                </a:solidFill>
                <a:latin typeface="Arial"/>
              </a:rPr>
              <a:t>6</a:t>
            </a:r>
          </a:p>
        </p:txBody>
      </p:sp>
      <p:sp>
        <p:nvSpPr>
          <p:cNvPr id="27" name="Oval 26"/>
          <p:cNvSpPr/>
          <p:nvPr/>
        </p:nvSpPr>
        <p:spPr>
          <a:xfrm>
            <a:off x="10653014"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53014" y="1204722"/>
            <a:ext cx="141732" cy="141732"/>
          </a:xfrm>
          <a:prstGeom prst="rect">
            <a:avLst/>
          </a:prstGeom>
          <a:noFill/>
        </p:spPr>
        <p:txBody>
          <a:bodyPr wrap="square">
            <a:spAutoFit/>
          </a:bodyPr>
          <a:lstStyle/>
          <a:p>
            <a:pPr algn="ctr"/>
            <a:r>
              <a:rPr sz="600" b="1">
                <a:solidFill>
                  <a:srgbClr val="FFFFFF"/>
                </a:solidFill>
                <a:latin typeface="Arial"/>
              </a:rPr>
              <a:t>8</a:t>
            </a:r>
          </a:p>
        </p:txBody>
      </p:sp>
      <p:sp>
        <p:nvSpPr>
          <p:cNvPr id="29" name="Oval 28"/>
          <p:cNvSpPr/>
          <p:nvPr/>
        </p:nvSpPr>
        <p:spPr>
          <a:xfrm>
            <a:off x="11251438"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1438" y="1204722"/>
            <a:ext cx="141732" cy="141732"/>
          </a:xfrm>
          <a:prstGeom prst="rect">
            <a:avLst/>
          </a:prstGeom>
          <a:noFill/>
        </p:spPr>
        <p:txBody>
          <a:bodyPr wrap="square">
            <a:spAutoFit/>
          </a:bodyPr>
          <a:lstStyle/>
          <a:p>
            <a:pPr algn="ctr"/>
            <a:r>
              <a:rPr sz="600" b="1">
                <a:solidFill>
                  <a:srgbClr val="FFFFFF"/>
                </a:solidFill>
                <a:latin typeface="Arial"/>
              </a:rPr>
              <a:t>10</a:t>
            </a:r>
          </a:p>
        </p:txBody>
      </p:sp>
      <p:sp>
        <p:nvSpPr>
          <p:cNvPr id="31" name="Oval 30"/>
          <p:cNvSpPr/>
          <p:nvPr/>
        </p:nvSpPr>
        <p:spPr>
          <a:xfrm>
            <a:off x="10369550" y="697738"/>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69550" y="685038"/>
            <a:ext cx="173228" cy="173228"/>
          </a:xfrm>
          <a:prstGeom prst="rect">
            <a:avLst/>
          </a:prstGeom>
          <a:noFill/>
        </p:spPr>
        <p:txBody>
          <a:bodyPr wrap="square">
            <a:spAutoFit/>
          </a:bodyPr>
          <a:lstStyle/>
          <a:p>
            <a:pPr algn="ctr"/>
            <a:r>
              <a:rPr sz="600" b="1">
                <a:solidFill>
                  <a:srgbClr val="0D0D0D"/>
                </a:solidFill>
                <a:latin typeface="Arial"/>
              </a:rPr>
              <a:t>11</a:t>
            </a:r>
          </a:p>
        </p:txBody>
      </p:sp>
      <p:sp>
        <p:nvSpPr>
          <p:cNvPr id="33" name="Oval 32"/>
          <p:cNvSpPr/>
          <p:nvPr/>
        </p:nvSpPr>
        <p:spPr>
          <a:xfrm>
            <a:off x="11503406" y="697738"/>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03406" y="685038"/>
            <a:ext cx="173228" cy="173228"/>
          </a:xfrm>
          <a:prstGeom prst="rect">
            <a:avLst/>
          </a:prstGeom>
          <a:noFill/>
        </p:spPr>
        <p:txBody>
          <a:bodyPr wrap="square">
            <a:spAutoFit/>
          </a:bodyPr>
          <a:lstStyle/>
          <a:p>
            <a:pPr algn="ctr"/>
            <a:r>
              <a:rPr sz="600" b="1">
                <a:solidFill>
                  <a:srgbClr val="0D0D0D"/>
                </a:solidFill>
                <a:latin typeface="Arial"/>
              </a:rPr>
              <a:t>7</a:t>
            </a:r>
          </a:p>
        </p:txBody>
      </p:sp>
      <p:sp>
        <p:nvSpPr>
          <p:cNvPr id="35" name="Oval 34"/>
          <p:cNvSpPr/>
          <p:nvPr/>
        </p:nvSpPr>
        <p:spPr>
          <a:xfrm>
            <a:off x="10952226" y="4300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2226" y="417322"/>
            <a:ext cx="141732" cy="141732"/>
          </a:xfrm>
          <a:prstGeom prst="rect">
            <a:avLst/>
          </a:prstGeom>
          <a:noFill/>
        </p:spPr>
        <p:txBody>
          <a:bodyPr wrap="square">
            <a:spAutoFit/>
          </a:bodyPr>
          <a:lstStyle/>
          <a:p>
            <a:pPr algn="ctr"/>
            <a:r>
              <a:rPr sz="600" b="1">
                <a:solidFill>
                  <a:srgbClr val="FFFFFF"/>
                </a:solidFill>
                <a:latin typeface="Arial"/>
              </a:rPr>
              <a:t>9</a:t>
            </a:r>
          </a:p>
        </p:txBody>
      </p:sp>
      <p:sp>
        <p:nvSpPr>
          <p:cNvPr id="37" name="TextBox 36"/>
          <p:cNvSpPr txBox="1"/>
          <p:nvPr/>
        </p:nvSpPr>
        <p:spPr>
          <a:xfrm>
            <a:off x="457200" y="676656"/>
            <a:ext cx="1417320" cy="219456"/>
          </a:xfrm>
          <a:prstGeom prst="rect">
            <a:avLst/>
          </a:prstGeom>
          <a:noFill/>
        </p:spPr>
        <p:txBody>
          <a:bodyPr wrap="square">
            <a:spAutoFit/>
          </a:bodyPr>
          <a:lstStyle/>
          <a:p>
            <a:pPr algn="l"/>
            <a:r>
              <a:rPr sz="900" b="1">
                <a:solidFill>
                  <a:srgbClr val="00D4E4"/>
                </a:solidFill>
                <a:latin typeface="Inter"/>
              </a:rPr>
              <a:t>KEY QUALITIES:</a:t>
            </a:r>
          </a:p>
        </p:txBody>
      </p:sp>
      <p:sp>
        <p:nvSpPr>
          <p:cNvPr id="38" name="Rectangle 37"/>
          <p:cNvSpPr/>
          <p:nvPr/>
        </p:nvSpPr>
        <p:spPr>
          <a:xfrm>
            <a:off x="1874520" y="702056"/>
            <a:ext cx="168148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50720" y="702056"/>
            <a:ext cx="1605280" cy="210312"/>
          </a:xfrm>
          <a:prstGeom prst="rect">
            <a:avLst/>
          </a:prstGeom>
          <a:noFill/>
        </p:spPr>
        <p:txBody>
          <a:bodyPr wrap="square">
            <a:spAutoFit/>
          </a:bodyPr>
          <a:lstStyle/>
          <a:p>
            <a:pPr algn="l"/>
            <a:r>
              <a:rPr sz="900" b="0">
                <a:solidFill>
                  <a:srgbClr val="F2F2F0"/>
                </a:solidFill>
                <a:latin typeface="Inter"/>
              </a:rPr>
              <a:t>Dynamic Dribbler (1v1)</a:t>
            </a:r>
          </a:p>
        </p:txBody>
      </p:sp>
      <p:sp>
        <p:nvSpPr>
          <p:cNvPr id="40" name="Rectangle 39"/>
          <p:cNvSpPr/>
          <p:nvPr/>
        </p:nvSpPr>
        <p:spPr>
          <a:xfrm>
            <a:off x="3610864" y="702056"/>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87064" y="702056"/>
            <a:ext cx="680720" cy="210312"/>
          </a:xfrm>
          <a:prstGeom prst="rect">
            <a:avLst/>
          </a:prstGeom>
          <a:noFill/>
        </p:spPr>
        <p:txBody>
          <a:bodyPr wrap="square">
            <a:spAutoFit/>
          </a:bodyPr>
          <a:lstStyle/>
          <a:p>
            <a:pPr algn="l"/>
            <a:r>
              <a:rPr sz="900" b="0">
                <a:solidFill>
                  <a:srgbClr val="F2F2F0"/>
                </a:solidFill>
                <a:latin typeface="Inter"/>
              </a:rPr>
              <a:t>Creative</a:t>
            </a:r>
          </a:p>
        </p:txBody>
      </p:sp>
      <p:sp>
        <p:nvSpPr>
          <p:cNvPr id="42" name="Rectangle 41"/>
          <p:cNvSpPr/>
          <p:nvPr/>
        </p:nvSpPr>
        <p:spPr>
          <a:xfrm>
            <a:off x="4422648" y="702056"/>
            <a:ext cx="16154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98848" y="702056"/>
            <a:ext cx="1539240" cy="210312"/>
          </a:xfrm>
          <a:prstGeom prst="rect">
            <a:avLst/>
          </a:prstGeom>
          <a:noFill/>
        </p:spPr>
        <p:txBody>
          <a:bodyPr wrap="square">
            <a:spAutoFit/>
          </a:bodyPr>
          <a:lstStyle/>
          <a:p>
            <a:pPr algn="l"/>
            <a:r>
              <a:rPr sz="900" b="0">
                <a:solidFill>
                  <a:srgbClr val="F2F2F0"/>
                </a:solidFill>
                <a:latin typeface="Inter"/>
              </a:rPr>
              <a:t>Positionally Dominant</a:t>
            </a:r>
          </a:p>
        </p:txBody>
      </p:sp>
      <p:sp>
        <p:nvSpPr>
          <p:cNvPr id="44" name="Rectangle 43"/>
          <p:cNvSpPr/>
          <p:nvPr/>
        </p:nvSpPr>
        <p:spPr>
          <a:xfrm>
            <a:off x="6092952" y="702056"/>
            <a:ext cx="19456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69152" y="702056"/>
            <a:ext cx="1869440" cy="210312"/>
          </a:xfrm>
          <a:prstGeom prst="rect">
            <a:avLst/>
          </a:prstGeom>
          <a:noFill/>
        </p:spPr>
        <p:txBody>
          <a:bodyPr wrap="square">
            <a:spAutoFit/>
          </a:bodyPr>
          <a:lstStyle/>
          <a:p>
            <a:pPr algn="l"/>
            <a:r>
              <a:rPr sz="900" b="0">
                <a:solidFill>
                  <a:srgbClr val="F2F2F0"/>
                </a:solidFill>
                <a:latin typeface="Inter"/>
              </a:rPr>
              <a:t>Accurate, Dynamic Crossing</a:t>
            </a:r>
          </a:p>
        </p:txBody>
      </p:sp>
      <p:sp>
        <p:nvSpPr>
          <p:cNvPr id="46" name="Rectangle 45"/>
          <p:cNvSpPr/>
          <p:nvPr/>
        </p:nvSpPr>
        <p:spPr>
          <a:xfrm>
            <a:off x="8093456" y="702056"/>
            <a:ext cx="19456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69656" y="702056"/>
            <a:ext cx="1869440" cy="210312"/>
          </a:xfrm>
          <a:prstGeom prst="rect">
            <a:avLst/>
          </a:prstGeom>
          <a:noFill/>
        </p:spPr>
        <p:txBody>
          <a:bodyPr wrap="square">
            <a:spAutoFit/>
          </a:bodyPr>
          <a:lstStyle/>
          <a:p>
            <a:pPr algn="l"/>
            <a:r>
              <a:rPr sz="900" b="0">
                <a:solidFill>
                  <a:srgbClr val="F2F2F0"/>
                </a:solidFill>
                <a:latin typeface="Inter"/>
              </a:rPr>
              <a:t>High Endurance, Good Speed</a:t>
            </a:r>
          </a:p>
        </p:txBody>
      </p:sp>
      <p:sp>
        <p:nvSpPr>
          <p:cNvPr id="48" name="Rectangle 47"/>
          <p:cNvSpPr/>
          <p:nvPr/>
        </p:nvSpPr>
        <p:spPr>
          <a:xfrm>
            <a:off x="1874520" y="948944"/>
            <a:ext cx="33985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50720" y="948944"/>
            <a:ext cx="3322320" cy="210312"/>
          </a:xfrm>
          <a:prstGeom prst="rect">
            <a:avLst/>
          </a:prstGeom>
          <a:noFill/>
        </p:spPr>
        <p:txBody>
          <a:bodyPr wrap="square">
            <a:spAutoFit/>
          </a:bodyPr>
          <a:lstStyle/>
          <a:p>
            <a:pPr algn="l"/>
            <a:r>
              <a:rPr sz="900" b="0">
                <a:solidFill>
                  <a:srgbClr val="F2F2F0"/>
                </a:solidFill>
                <a:latin typeface="Inter"/>
              </a:rPr>
              <a:t>Accurate Finishing Inside &amp; Outside Penalty Area</a:t>
            </a:r>
          </a:p>
        </p:txBody>
      </p:sp>
      <p:sp>
        <p:nvSpPr>
          <p:cNvPr id="50" name="Rectangle 49"/>
          <p:cNvSpPr/>
          <p:nvPr/>
        </p:nvSpPr>
        <p:spPr>
          <a:xfrm>
            <a:off x="457200"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7200"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5216" y="2433320"/>
            <a:ext cx="3416808" cy="201168"/>
          </a:xfrm>
          <a:prstGeom prst="rect">
            <a:avLst/>
          </a:prstGeom>
          <a:noFill/>
        </p:spPr>
        <p:txBody>
          <a:bodyPr wrap="square">
            <a:spAutoFit/>
          </a:bodyPr>
          <a:lstStyle/>
          <a:p>
            <a:pPr algn="l"/>
            <a:r>
              <a:rPr sz="1500" b="1">
                <a:solidFill>
                  <a:srgbClr val="F5C518"/>
                </a:solidFill>
                <a:latin typeface="Barlow Condensed"/>
              </a:rPr>
              <a:t>DEF 1/3</a:t>
            </a:r>
          </a:p>
        </p:txBody>
      </p:sp>
      <p:sp>
        <p:nvSpPr>
          <p:cNvPr id="53" name="TextBox 52"/>
          <p:cNvSpPr txBox="1"/>
          <p:nvPr/>
        </p:nvSpPr>
        <p:spPr>
          <a:xfrm>
            <a:off x="566928"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54" name="TextBox 53"/>
          <p:cNvSpPr txBox="1"/>
          <p:nvPr/>
        </p:nvSpPr>
        <p:spPr>
          <a:xfrm>
            <a:off x="566928" y="2917952"/>
            <a:ext cx="3453384" cy="868680"/>
          </a:xfrm>
          <a:prstGeom prst="rect">
            <a:avLst/>
          </a:prstGeom>
          <a:noFill/>
        </p:spPr>
        <p:txBody>
          <a:bodyPr wrap="square">
            <a:spAutoFit/>
          </a:bodyPr>
          <a:lstStyle/>
          <a:p>
            <a:pPr algn="l"/>
            <a:r>
              <a:rPr sz="1000" b="0">
                <a:solidFill>
                  <a:srgbClr val="F2F2F0"/>
                </a:solidFill>
                <a:latin typeface="Inter"/>
              </a:rPr>
              <a:t>Position high &amp; wide as starting point to spread opposition &amp; create space for teammates</a:t>
            </a:r>
          </a:p>
        </p:txBody>
      </p:sp>
      <p:sp>
        <p:nvSpPr>
          <p:cNvPr id="55" name="TextBox 54"/>
          <p:cNvSpPr txBox="1"/>
          <p:nvPr/>
        </p:nvSpPr>
        <p:spPr>
          <a:xfrm>
            <a:off x="566928"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56" name="TextBox 55"/>
          <p:cNvSpPr txBox="1"/>
          <p:nvPr/>
        </p:nvSpPr>
        <p:spPr>
          <a:xfrm>
            <a:off x="566928" y="4024376"/>
            <a:ext cx="3453384" cy="777240"/>
          </a:xfrm>
          <a:prstGeom prst="rect">
            <a:avLst/>
          </a:prstGeom>
          <a:noFill/>
        </p:spPr>
        <p:txBody>
          <a:bodyPr wrap="square">
            <a:spAutoFit/>
          </a:bodyPr>
          <a:lstStyle/>
          <a:p>
            <a:pPr algn="l"/>
            <a:r>
              <a:rPr sz="1000" b="0">
                <a:solidFill>
                  <a:srgbClr val="F2F2F0"/>
                </a:solidFill>
                <a:latin typeface="Inter"/>
              </a:rPr>
              <a:t>Recover &amp; track into defensive third to assist fullback when needed</a:t>
            </a:r>
          </a:p>
        </p:txBody>
      </p:sp>
      <p:sp>
        <p:nvSpPr>
          <p:cNvPr id="57" name="TextBox 56"/>
          <p:cNvSpPr txBox="1"/>
          <p:nvPr/>
        </p:nvSpPr>
        <p:spPr>
          <a:xfrm>
            <a:off x="566928"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58" name="TextBox 57"/>
          <p:cNvSpPr txBox="1"/>
          <p:nvPr/>
        </p:nvSpPr>
        <p:spPr>
          <a:xfrm>
            <a:off x="566928" y="5039360"/>
            <a:ext cx="3453384" cy="713232"/>
          </a:xfrm>
          <a:prstGeom prst="rect">
            <a:avLst/>
          </a:prstGeom>
          <a:noFill/>
        </p:spPr>
        <p:txBody>
          <a:bodyPr wrap="square">
            <a:spAutoFit/>
          </a:bodyPr>
          <a:lstStyle/>
          <a:p>
            <a:pPr algn="l"/>
            <a:r>
              <a:rPr sz="1000" b="0">
                <a:solidFill>
                  <a:srgbClr val="F2F2F0"/>
                </a:solidFill>
                <a:latin typeface="Inter"/>
              </a:rPr>
              <a:t>D→A: Move quickly into position to support in space  ·  A→D: If closest, put pressure on the ball immediately</a:t>
            </a:r>
          </a:p>
        </p:txBody>
      </p:sp>
      <p:sp>
        <p:nvSpPr>
          <p:cNvPr id="59" name="Rectangle 58"/>
          <p:cNvSpPr/>
          <p:nvPr/>
        </p:nvSpPr>
        <p:spPr>
          <a:xfrm>
            <a:off x="4258056"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258056"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386072" y="2433320"/>
            <a:ext cx="3416808" cy="201168"/>
          </a:xfrm>
          <a:prstGeom prst="rect">
            <a:avLst/>
          </a:prstGeom>
          <a:noFill/>
        </p:spPr>
        <p:txBody>
          <a:bodyPr wrap="square">
            <a:spAutoFit/>
          </a:bodyPr>
          <a:lstStyle/>
          <a:p>
            <a:pPr algn="l"/>
            <a:r>
              <a:rPr sz="1500" b="1">
                <a:solidFill>
                  <a:srgbClr val="F5C518"/>
                </a:solidFill>
                <a:latin typeface="Barlow Condensed"/>
              </a:rPr>
              <a:t>MID 1/3</a:t>
            </a:r>
          </a:p>
        </p:txBody>
      </p:sp>
      <p:sp>
        <p:nvSpPr>
          <p:cNvPr id="62" name="TextBox 61"/>
          <p:cNvSpPr txBox="1"/>
          <p:nvPr/>
        </p:nvSpPr>
        <p:spPr>
          <a:xfrm>
            <a:off x="4367784"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3" name="TextBox 62"/>
          <p:cNvSpPr txBox="1"/>
          <p:nvPr/>
        </p:nvSpPr>
        <p:spPr>
          <a:xfrm>
            <a:off x="4367784" y="2917952"/>
            <a:ext cx="3453384" cy="868680"/>
          </a:xfrm>
          <a:prstGeom prst="rect">
            <a:avLst/>
          </a:prstGeom>
          <a:noFill/>
        </p:spPr>
        <p:txBody>
          <a:bodyPr wrap="square">
            <a:spAutoFit/>
          </a:bodyPr>
          <a:lstStyle/>
          <a:p>
            <a:pPr algn="l"/>
            <a:r>
              <a:rPr sz="1000" b="0">
                <a:solidFill>
                  <a:srgbClr val="F2F2F0"/>
                </a:solidFill>
                <a:latin typeface="Inter"/>
              </a:rPr>
              <a:t>Vary supporting movements in space between/behind defensive line; Pass or dribble forward, create 1v1/2v1</a:t>
            </a:r>
          </a:p>
        </p:txBody>
      </p:sp>
      <p:sp>
        <p:nvSpPr>
          <p:cNvPr id="64" name="TextBox 63"/>
          <p:cNvSpPr txBox="1"/>
          <p:nvPr/>
        </p:nvSpPr>
        <p:spPr>
          <a:xfrm>
            <a:off x="4367784"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65" name="TextBox 64"/>
          <p:cNvSpPr txBox="1"/>
          <p:nvPr/>
        </p:nvSpPr>
        <p:spPr>
          <a:xfrm>
            <a:off x="4367784" y="4024376"/>
            <a:ext cx="3453384" cy="777240"/>
          </a:xfrm>
          <a:prstGeom prst="rect">
            <a:avLst/>
          </a:prstGeom>
          <a:noFill/>
        </p:spPr>
        <p:txBody>
          <a:bodyPr wrap="square">
            <a:spAutoFit/>
          </a:bodyPr>
          <a:lstStyle/>
          <a:p>
            <a:pPr algn="l"/>
            <a:r>
              <a:rPr sz="1000" b="0">
                <a:solidFill>
                  <a:srgbClr val="F2F2F0"/>
                </a:solidFill>
                <a:latin typeface="Inter"/>
              </a:rPr>
              <a:t>Move centrally to provide cover &amp; balance when ball is on opposite side</a:t>
            </a:r>
          </a:p>
        </p:txBody>
      </p:sp>
      <p:sp>
        <p:nvSpPr>
          <p:cNvPr id="66" name="TextBox 65"/>
          <p:cNvSpPr txBox="1"/>
          <p:nvPr/>
        </p:nvSpPr>
        <p:spPr>
          <a:xfrm>
            <a:off x="4367784"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7" name="TextBox 66"/>
          <p:cNvSpPr txBox="1"/>
          <p:nvPr/>
        </p:nvSpPr>
        <p:spPr>
          <a:xfrm>
            <a:off x="4367784" y="5039360"/>
            <a:ext cx="3453384" cy="713232"/>
          </a:xfrm>
          <a:prstGeom prst="rect">
            <a:avLst/>
          </a:prstGeom>
          <a:noFill/>
        </p:spPr>
        <p:txBody>
          <a:bodyPr wrap="square">
            <a:spAutoFit/>
          </a:bodyPr>
          <a:lstStyle/>
          <a:p>
            <a:pPr algn="l"/>
            <a:r>
              <a:rPr sz="1000" b="0">
                <a:solidFill>
                  <a:srgbClr val="F2F2F0"/>
                </a:solidFill>
                <a:latin typeface="Inter"/>
              </a:rPr>
              <a:t>D→A: Keep the ball when cannot play forward  ·  A→D: Quick decision to pressure, delay, or drop back; Follow direction from teammates behind</a:t>
            </a:r>
          </a:p>
        </p:txBody>
      </p:sp>
      <p:sp>
        <p:nvSpPr>
          <p:cNvPr id="68" name="Rectangle 67"/>
          <p:cNvSpPr/>
          <p:nvPr/>
        </p:nvSpPr>
        <p:spPr>
          <a:xfrm>
            <a:off x="8058912"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058912"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186928" y="2433320"/>
            <a:ext cx="3416808" cy="201168"/>
          </a:xfrm>
          <a:prstGeom prst="rect">
            <a:avLst/>
          </a:prstGeom>
          <a:noFill/>
        </p:spPr>
        <p:txBody>
          <a:bodyPr wrap="square">
            <a:spAutoFit/>
          </a:bodyPr>
          <a:lstStyle/>
          <a:p>
            <a:pPr algn="l"/>
            <a:r>
              <a:rPr sz="1500" b="1">
                <a:solidFill>
                  <a:srgbClr val="F5C518"/>
                </a:solidFill>
                <a:latin typeface="Barlow Condensed"/>
              </a:rPr>
              <a:t>OFF 1/3</a:t>
            </a:r>
          </a:p>
        </p:txBody>
      </p:sp>
      <p:sp>
        <p:nvSpPr>
          <p:cNvPr id="71" name="TextBox 70"/>
          <p:cNvSpPr txBox="1"/>
          <p:nvPr/>
        </p:nvSpPr>
        <p:spPr>
          <a:xfrm>
            <a:off x="8168640"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72" name="TextBox 71"/>
          <p:cNvSpPr txBox="1"/>
          <p:nvPr/>
        </p:nvSpPr>
        <p:spPr>
          <a:xfrm>
            <a:off x="8168640" y="2917952"/>
            <a:ext cx="3453384" cy="868680"/>
          </a:xfrm>
          <a:prstGeom prst="rect">
            <a:avLst/>
          </a:prstGeom>
          <a:noFill/>
        </p:spPr>
        <p:txBody>
          <a:bodyPr wrap="square">
            <a:spAutoFit/>
          </a:bodyPr>
          <a:lstStyle/>
          <a:p>
            <a:pPr algn="l"/>
            <a:r>
              <a:rPr sz="1000" b="0">
                <a:solidFill>
                  <a:srgbClr val="F2F2F0"/>
                </a:solidFill>
                <a:latin typeface="Inter"/>
              </a:rPr>
              <a:t>Take on defenders 1v1; outside for crosses or inside to score; Move into goal scoring positions at back post</a:t>
            </a:r>
          </a:p>
        </p:txBody>
      </p:sp>
      <p:sp>
        <p:nvSpPr>
          <p:cNvPr id="73" name="TextBox 72"/>
          <p:cNvSpPr txBox="1"/>
          <p:nvPr/>
        </p:nvSpPr>
        <p:spPr>
          <a:xfrm>
            <a:off x="8168640"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74" name="TextBox 73"/>
          <p:cNvSpPr txBox="1"/>
          <p:nvPr/>
        </p:nvSpPr>
        <p:spPr>
          <a:xfrm>
            <a:off x="8168640" y="4024376"/>
            <a:ext cx="3453384" cy="777240"/>
          </a:xfrm>
          <a:prstGeom prst="rect">
            <a:avLst/>
          </a:prstGeom>
          <a:noFill/>
        </p:spPr>
        <p:txBody>
          <a:bodyPr wrap="square">
            <a:spAutoFit/>
          </a:bodyPr>
          <a:lstStyle/>
          <a:p>
            <a:pPr algn="l"/>
            <a:r>
              <a:rPr sz="1000" b="0">
                <a:solidFill>
                  <a:srgbClr val="F2F2F0"/>
                </a:solidFill>
                <a:latin typeface="Inter"/>
              </a:rPr>
              <a:t>Monitor situation to defend space &amp; opponent; Prevent opponent from dribbling/passing forward (1v1)</a:t>
            </a:r>
          </a:p>
        </p:txBody>
      </p:sp>
      <p:sp>
        <p:nvSpPr>
          <p:cNvPr id="75" name="TextBox 74"/>
          <p:cNvSpPr txBox="1"/>
          <p:nvPr/>
        </p:nvSpPr>
        <p:spPr>
          <a:xfrm>
            <a:off x="8168640"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76" name="TextBox 75"/>
          <p:cNvSpPr txBox="1"/>
          <p:nvPr/>
        </p:nvSpPr>
        <p:spPr>
          <a:xfrm>
            <a:off x="8168640" y="5039360"/>
            <a:ext cx="3453384" cy="713232"/>
          </a:xfrm>
          <a:prstGeom prst="rect">
            <a:avLst/>
          </a:prstGeom>
          <a:noFill/>
        </p:spPr>
        <p:txBody>
          <a:bodyPr wrap="square">
            <a:spAutoFit/>
          </a:bodyPr>
          <a:lstStyle/>
          <a:p>
            <a:pPr algn="l"/>
            <a:r>
              <a:rPr sz="1000" b="0">
                <a:solidFill>
                  <a:srgbClr val="F2F2F0"/>
                </a:solidFill>
                <a:latin typeface="Inter"/>
              </a:rPr>
              <a:t>D→A: Position &amp; support quickly in space to exploit opponent &amp; create chances  ·  A→D: If closest, put pressure on the ball immediately</a:t>
            </a:r>
          </a:p>
        </p:txBody>
      </p:sp>
      <p:sp>
        <p:nvSpPr>
          <p:cNvPr id="77" name="TextBox 76"/>
          <p:cNvSpPr txBox="1"/>
          <p:nvPr/>
        </p:nvSpPr>
        <p:spPr>
          <a:xfrm>
            <a:off x="457200" y="5405120"/>
            <a:ext cx="11274552" cy="219456"/>
          </a:xfrm>
          <a:prstGeom prst="rect">
            <a:avLst/>
          </a:prstGeom>
          <a:noFill/>
        </p:spPr>
        <p:txBody>
          <a:bodyPr wrap="square">
            <a:spAutoFit/>
          </a:bodyPr>
          <a:lstStyle/>
          <a:p>
            <a:pPr algn="l"/>
            <a:r>
              <a:rPr sz="900" b="1">
                <a:solidFill>
                  <a:srgbClr val="00D4E4"/>
                </a:solidFill>
                <a:latin typeface="Inter"/>
              </a:rPr>
              <a:t>PRINCIPLES OF PLAY</a:t>
            </a:r>
          </a:p>
        </p:txBody>
      </p:sp>
      <p:sp>
        <p:nvSpPr>
          <p:cNvPr id="78" name="Rectangle 77"/>
          <p:cNvSpPr/>
          <p:nvPr/>
        </p:nvSpPr>
        <p:spPr>
          <a:xfrm>
            <a:off x="457200"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66928" y="5706872"/>
            <a:ext cx="3453384" cy="219456"/>
          </a:xfrm>
          <a:prstGeom prst="rect">
            <a:avLst/>
          </a:prstGeom>
          <a:noFill/>
        </p:spPr>
        <p:txBody>
          <a:bodyPr wrap="square">
            <a:spAutoFit/>
          </a:bodyPr>
          <a:lstStyle/>
          <a:p>
            <a:pPr algn="l"/>
            <a:r>
              <a:rPr sz="800" b="1">
                <a:solidFill>
                  <a:srgbClr val="F5C518"/>
                </a:solidFill>
                <a:latin typeface="Inter"/>
              </a:rPr>
              <a:t>BUILD OUT</a:t>
            </a:r>
          </a:p>
        </p:txBody>
      </p:sp>
      <p:sp>
        <p:nvSpPr>
          <p:cNvPr id="80" name="TextBox 79"/>
          <p:cNvSpPr txBox="1"/>
          <p:nvPr/>
        </p:nvSpPr>
        <p:spPr>
          <a:xfrm>
            <a:off x="566928" y="5953760"/>
            <a:ext cx="3453384" cy="219456"/>
          </a:xfrm>
          <a:prstGeom prst="rect">
            <a:avLst/>
          </a:prstGeom>
          <a:noFill/>
        </p:spPr>
        <p:txBody>
          <a:bodyPr wrap="square">
            <a:spAutoFit/>
          </a:bodyPr>
          <a:lstStyle/>
          <a:p>
            <a:pPr algn="l"/>
            <a:r>
              <a:rPr sz="1000" b="0">
                <a:solidFill>
                  <a:srgbClr val="F2F2F0"/>
                </a:solidFill>
                <a:latin typeface="Inter"/>
              </a:rPr>
              <a:t>• Stretch opponent</a:t>
            </a:r>
          </a:p>
        </p:txBody>
      </p:sp>
      <p:sp>
        <p:nvSpPr>
          <p:cNvPr id="81" name="TextBox 80"/>
          <p:cNvSpPr txBox="1"/>
          <p:nvPr/>
        </p:nvSpPr>
        <p:spPr>
          <a:xfrm>
            <a:off x="566928" y="6200648"/>
            <a:ext cx="3453384" cy="219456"/>
          </a:xfrm>
          <a:prstGeom prst="rect">
            <a:avLst/>
          </a:prstGeom>
          <a:noFill/>
        </p:spPr>
        <p:txBody>
          <a:bodyPr wrap="square">
            <a:spAutoFit/>
          </a:bodyPr>
          <a:lstStyle/>
          <a:p>
            <a:pPr algn="l"/>
            <a:r>
              <a:rPr sz="1000" b="0">
                <a:solidFill>
                  <a:srgbClr val="F2F2F0"/>
                </a:solidFill>
                <a:latin typeface="Inter"/>
              </a:rPr>
              <a:t>• Occupy half space</a:t>
            </a:r>
          </a:p>
        </p:txBody>
      </p:sp>
      <p:sp>
        <p:nvSpPr>
          <p:cNvPr id="82" name="TextBox 81"/>
          <p:cNvSpPr txBox="1"/>
          <p:nvPr/>
        </p:nvSpPr>
        <p:spPr>
          <a:xfrm>
            <a:off x="566928" y="6447536"/>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83" name="Rectangle 82"/>
          <p:cNvSpPr/>
          <p:nvPr/>
        </p:nvSpPr>
        <p:spPr>
          <a:xfrm>
            <a:off x="4258056"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367784" y="5706872"/>
            <a:ext cx="3453384" cy="219456"/>
          </a:xfrm>
          <a:prstGeom prst="rect">
            <a:avLst/>
          </a:prstGeom>
          <a:noFill/>
        </p:spPr>
        <p:txBody>
          <a:bodyPr wrap="square">
            <a:spAutoFit/>
          </a:bodyPr>
          <a:lstStyle/>
          <a:p>
            <a:pPr algn="l"/>
            <a:r>
              <a:rPr sz="800" b="1">
                <a:solidFill>
                  <a:srgbClr val="F5C518"/>
                </a:solidFill>
                <a:latin typeface="Inter"/>
              </a:rPr>
              <a:t>ADVANCEMENT PHASE</a:t>
            </a:r>
          </a:p>
        </p:txBody>
      </p:sp>
      <p:sp>
        <p:nvSpPr>
          <p:cNvPr id="85" name="TextBox 84"/>
          <p:cNvSpPr txBox="1"/>
          <p:nvPr/>
        </p:nvSpPr>
        <p:spPr>
          <a:xfrm>
            <a:off x="4367784" y="5953760"/>
            <a:ext cx="3453384" cy="219456"/>
          </a:xfrm>
          <a:prstGeom prst="rect">
            <a:avLst/>
          </a:prstGeom>
          <a:noFill/>
        </p:spPr>
        <p:txBody>
          <a:bodyPr wrap="square">
            <a:spAutoFit/>
          </a:bodyPr>
          <a:lstStyle/>
          <a:p>
            <a:pPr algn="l"/>
            <a:r>
              <a:rPr sz="1000" b="0">
                <a:solidFill>
                  <a:srgbClr val="F2F2F0"/>
                </a:solidFill>
                <a:latin typeface="Inter"/>
              </a:rPr>
              <a:t>• Occupy half space</a:t>
            </a:r>
          </a:p>
        </p:txBody>
      </p:sp>
      <p:sp>
        <p:nvSpPr>
          <p:cNvPr id="86" name="TextBox 85"/>
          <p:cNvSpPr txBox="1"/>
          <p:nvPr/>
        </p:nvSpPr>
        <p:spPr>
          <a:xfrm>
            <a:off x="4367784" y="6200648"/>
            <a:ext cx="3453384" cy="219456"/>
          </a:xfrm>
          <a:prstGeom prst="rect">
            <a:avLst/>
          </a:prstGeom>
          <a:noFill/>
        </p:spPr>
        <p:txBody>
          <a:bodyPr wrap="square">
            <a:spAutoFit/>
          </a:bodyPr>
          <a:lstStyle/>
          <a:p>
            <a:pPr algn="l"/>
            <a:r>
              <a:rPr sz="1000" b="0">
                <a:solidFill>
                  <a:srgbClr val="F2F2F0"/>
                </a:solidFill>
                <a:latin typeface="Inter"/>
              </a:rPr>
              <a:t>• Create overloads</a:t>
            </a:r>
          </a:p>
        </p:txBody>
      </p:sp>
      <p:sp>
        <p:nvSpPr>
          <p:cNvPr id="87" name="TextBox 86"/>
          <p:cNvSpPr txBox="1"/>
          <p:nvPr/>
        </p:nvSpPr>
        <p:spPr>
          <a:xfrm>
            <a:off x="4367784" y="6447536"/>
            <a:ext cx="3453384" cy="219456"/>
          </a:xfrm>
          <a:prstGeom prst="rect">
            <a:avLst/>
          </a:prstGeom>
          <a:noFill/>
        </p:spPr>
        <p:txBody>
          <a:bodyPr wrap="square">
            <a:spAutoFit/>
          </a:bodyPr>
          <a:lstStyle/>
          <a:p>
            <a:pPr algn="l"/>
            <a:r>
              <a:rPr sz="1000" b="0">
                <a:solidFill>
                  <a:srgbClr val="F2F2F0"/>
                </a:solidFill>
                <a:latin typeface="Inter"/>
              </a:rPr>
              <a:t>• Create diamond shape</a:t>
            </a:r>
          </a:p>
        </p:txBody>
      </p:sp>
      <p:sp>
        <p:nvSpPr>
          <p:cNvPr id="88" name="Rectangle 87"/>
          <p:cNvSpPr/>
          <p:nvPr/>
        </p:nvSpPr>
        <p:spPr>
          <a:xfrm>
            <a:off x="8058912"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68640" y="5706872"/>
            <a:ext cx="3453384" cy="219456"/>
          </a:xfrm>
          <a:prstGeom prst="rect">
            <a:avLst/>
          </a:prstGeom>
          <a:noFill/>
        </p:spPr>
        <p:txBody>
          <a:bodyPr wrap="square">
            <a:spAutoFit/>
          </a:bodyPr>
          <a:lstStyle/>
          <a:p>
            <a:pPr algn="l"/>
            <a:r>
              <a:rPr sz="800" b="1">
                <a:solidFill>
                  <a:srgbClr val="F5C518"/>
                </a:solidFill>
                <a:latin typeface="Inter"/>
              </a:rPr>
              <a:t>CHANCE CREATION / SCORING</a:t>
            </a:r>
          </a:p>
        </p:txBody>
      </p:sp>
      <p:sp>
        <p:nvSpPr>
          <p:cNvPr id="90" name="TextBox 89"/>
          <p:cNvSpPr txBox="1"/>
          <p:nvPr/>
        </p:nvSpPr>
        <p:spPr>
          <a:xfrm>
            <a:off x="8168640" y="5953760"/>
            <a:ext cx="3453384" cy="219456"/>
          </a:xfrm>
          <a:prstGeom prst="rect">
            <a:avLst/>
          </a:prstGeom>
          <a:noFill/>
        </p:spPr>
        <p:txBody>
          <a:bodyPr wrap="square">
            <a:spAutoFit/>
          </a:bodyPr>
          <a:lstStyle/>
          <a:p>
            <a:pPr algn="l"/>
            <a:r>
              <a:rPr sz="1000" b="0">
                <a:solidFill>
                  <a:srgbClr val="F2F2F0"/>
                </a:solidFill>
                <a:latin typeface="Inter"/>
              </a:rPr>
              <a:t>• Eliminate defenders on pass or dribble</a:t>
            </a:r>
          </a:p>
        </p:txBody>
      </p:sp>
      <p:sp>
        <p:nvSpPr>
          <p:cNvPr id="91" name="TextBox 90"/>
          <p:cNvSpPr txBox="1"/>
          <p:nvPr/>
        </p:nvSpPr>
        <p:spPr>
          <a:xfrm>
            <a:off x="8168640" y="6200648"/>
            <a:ext cx="3453384" cy="219456"/>
          </a:xfrm>
          <a:prstGeom prst="rect">
            <a:avLst/>
          </a:prstGeom>
          <a:noFill/>
        </p:spPr>
        <p:txBody>
          <a:bodyPr wrap="square">
            <a:spAutoFit/>
          </a:bodyPr>
          <a:lstStyle/>
          <a:p>
            <a:pPr algn="l"/>
            <a:r>
              <a:rPr sz="1000" b="0">
                <a:solidFill>
                  <a:srgbClr val="F2F2F0"/>
                </a:solidFill>
                <a:latin typeface="Inter"/>
              </a:rPr>
              <a:t>• Occupy half space</a:t>
            </a:r>
          </a:p>
        </p:txBody>
      </p:sp>
      <p:sp>
        <p:nvSpPr>
          <p:cNvPr id="92" name="TextBox 91"/>
          <p:cNvSpPr txBox="1"/>
          <p:nvPr/>
        </p:nvSpPr>
        <p:spPr>
          <a:xfrm>
            <a:off x="8168640" y="6447536"/>
            <a:ext cx="3453384" cy="219456"/>
          </a:xfrm>
          <a:prstGeom prst="rect">
            <a:avLst/>
          </a:prstGeom>
          <a:noFill/>
        </p:spPr>
        <p:txBody>
          <a:bodyPr wrap="square">
            <a:spAutoFit/>
          </a:bodyPr>
          <a:lstStyle/>
          <a:p>
            <a:pPr algn="l"/>
            <a:r>
              <a:rPr sz="1000" b="0">
                <a:solidFill>
                  <a:srgbClr val="F2F2F0"/>
                </a:solidFill>
                <a:latin typeface="Inter"/>
              </a:rPr>
              <a:t>• Create overloads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
            <a:ext cx="685800" cy="5303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685800" cy="530352"/>
          </a:xfrm>
          <a:prstGeom prst="rect">
            <a:avLst/>
          </a:prstGeom>
          <a:noFill/>
        </p:spPr>
        <p:txBody>
          <a:bodyPr wrap="square">
            <a:spAutoFit/>
          </a:bodyPr>
          <a:lstStyle/>
          <a:p>
            <a:pPr algn="ctr"/>
            <a:r>
              <a:rPr sz="2000" b="1">
                <a:solidFill>
                  <a:srgbClr val="0D0D0D"/>
                </a:solidFill>
                <a:latin typeface="Barlow Condensed"/>
              </a:rPr>
              <a:t>#9</a:t>
            </a:r>
          </a:p>
        </p:txBody>
      </p:sp>
      <p:sp>
        <p:nvSpPr>
          <p:cNvPr id="5" name="TextBox 4"/>
          <p:cNvSpPr txBox="1"/>
          <p:nvPr/>
        </p:nvSpPr>
        <p:spPr>
          <a:xfrm>
            <a:off x="1271016" y="91440"/>
            <a:ext cx="9043416" cy="530352"/>
          </a:xfrm>
          <a:prstGeom prst="rect">
            <a:avLst/>
          </a:prstGeom>
          <a:noFill/>
        </p:spPr>
        <p:txBody>
          <a:bodyPr wrap="square">
            <a:spAutoFit/>
          </a:bodyPr>
          <a:lstStyle/>
          <a:p>
            <a:pPr algn="l"/>
            <a:r>
              <a:rPr sz="2800" b="1">
                <a:solidFill>
                  <a:srgbClr val="F5C518"/>
                </a:solidFill>
                <a:latin typeface="Barlow Condensed"/>
              </a:rPr>
              <a:t>FORWARD — FWD</a:t>
            </a:r>
          </a:p>
        </p:txBody>
      </p:sp>
      <p:sp>
        <p:nvSpPr>
          <p:cNvPr id="6" name="Rectangle 5"/>
          <p:cNvSpPr/>
          <p:nvPr/>
        </p:nvSpPr>
        <p:spPr>
          <a:xfrm>
            <a:off x="10314432" y="91440"/>
            <a:ext cx="1417320" cy="2204720"/>
          </a:xfrm>
          <a:prstGeom prst="rect">
            <a:avLst/>
          </a:prstGeom>
          <a:solidFill>
            <a:srgbClr val="1E6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7424" y="154432"/>
            <a:ext cx="1291336" cy="2078736"/>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7424" y="1193800"/>
            <a:ext cx="1291336" cy="7874"/>
          </a:xfrm>
          <a:prstGeom prst="rect">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18368" y="989076"/>
            <a:ext cx="409448" cy="409448"/>
          </a:xfrm>
          <a:prstGeom prst="ellipse">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11281" y="1189863"/>
            <a:ext cx="23622" cy="23622"/>
          </a:xfrm>
          <a:prstGeom prst="ellipse">
            <a:avLst/>
          </a:prstGeom>
          <a:solidFill>
            <a:srgbClr val="7AD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76636" y="1760728"/>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76636" y="217424"/>
            <a:ext cx="692912" cy="409448"/>
          </a:xfrm>
          <a:prstGeom prst="rect">
            <a:avLst/>
          </a:prstGeom>
          <a:solidFill>
            <a:srgbClr val="1E621E"/>
          </a:solidFill>
          <a:ln w="9525">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02620" y="2044192"/>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02620" y="217424"/>
            <a:ext cx="440944" cy="125984"/>
          </a:xfrm>
          <a:prstGeom prst="rect">
            <a:avLst/>
          </a:prstGeom>
          <a:solidFill>
            <a:srgbClr val="1E621E"/>
          </a:solidFill>
          <a:ln w="6350">
            <a:solidFill>
              <a:srgbClr val="7AD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52226" y="205206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52226" y="2039366"/>
            <a:ext cx="141732" cy="141732"/>
          </a:xfrm>
          <a:prstGeom prst="rect">
            <a:avLst/>
          </a:prstGeom>
          <a:noFill/>
        </p:spPr>
        <p:txBody>
          <a:bodyPr wrap="square">
            <a:spAutoFit/>
          </a:bodyPr>
          <a:lstStyle/>
          <a:p>
            <a:pPr algn="ctr"/>
            <a:r>
              <a:rPr sz="600" b="1">
                <a:solidFill>
                  <a:srgbClr val="FFFFFF"/>
                </a:solidFill>
                <a:latin typeface="Arial"/>
              </a:rPr>
              <a:t>1</a:t>
            </a:r>
          </a:p>
        </p:txBody>
      </p:sp>
      <p:sp>
        <p:nvSpPr>
          <p:cNvPr id="17" name="Oval 16"/>
          <p:cNvSpPr/>
          <p:nvPr/>
        </p:nvSpPr>
        <p:spPr>
          <a:xfrm>
            <a:off x="10731754"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31754" y="1755902"/>
            <a:ext cx="141732" cy="141732"/>
          </a:xfrm>
          <a:prstGeom prst="rect">
            <a:avLst/>
          </a:prstGeom>
          <a:noFill/>
        </p:spPr>
        <p:txBody>
          <a:bodyPr wrap="square">
            <a:spAutoFit/>
          </a:bodyPr>
          <a:lstStyle/>
          <a:p>
            <a:pPr algn="ctr"/>
            <a:r>
              <a:rPr sz="600" b="1">
                <a:solidFill>
                  <a:srgbClr val="FFFFFF"/>
                </a:solidFill>
                <a:latin typeface="Arial"/>
              </a:rPr>
              <a:t>5</a:t>
            </a:r>
          </a:p>
        </p:txBody>
      </p:sp>
      <p:sp>
        <p:nvSpPr>
          <p:cNvPr id="19" name="Oval 18"/>
          <p:cNvSpPr/>
          <p:nvPr/>
        </p:nvSpPr>
        <p:spPr>
          <a:xfrm>
            <a:off x="11172698" y="176860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72698" y="1755902"/>
            <a:ext cx="141732" cy="141732"/>
          </a:xfrm>
          <a:prstGeom prst="rect">
            <a:avLst/>
          </a:prstGeom>
          <a:noFill/>
        </p:spPr>
        <p:txBody>
          <a:bodyPr wrap="square">
            <a:spAutoFit/>
          </a:bodyPr>
          <a:lstStyle/>
          <a:p>
            <a:pPr algn="ctr"/>
            <a:r>
              <a:rPr sz="600" b="1">
                <a:solidFill>
                  <a:srgbClr val="FFFFFF"/>
                </a:solidFill>
                <a:latin typeface="Arial"/>
              </a:rPr>
              <a:t>4</a:t>
            </a:r>
          </a:p>
        </p:txBody>
      </p:sp>
      <p:sp>
        <p:nvSpPr>
          <p:cNvPr id="21" name="Oval 20"/>
          <p:cNvSpPr/>
          <p:nvPr/>
        </p:nvSpPr>
        <p:spPr>
          <a:xfrm>
            <a:off x="10385298"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85298" y="1622044"/>
            <a:ext cx="141732" cy="141732"/>
          </a:xfrm>
          <a:prstGeom prst="rect">
            <a:avLst/>
          </a:prstGeom>
          <a:noFill/>
        </p:spPr>
        <p:txBody>
          <a:bodyPr wrap="square">
            <a:spAutoFit/>
          </a:bodyPr>
          <a:lstStyle/>
          <a:p>
            <a:pPr algn="ctr"/>
            <a:r>
              <a:rPr sz="600" b="1">
                <a:solidFill>
                  <a:srgbClr val="FFFFFF"/>
                </a:solidFill>
                <a:latin typeface="Arial"/>
              </a:rPr>
              <a:t>3</a:t>
            </a:r>
          </a:p>
        </p:txBody>
      </p:sp>
      <p:sp>
        <p:nvSpPr>
          <p:cNvPr id="23" name="Oval 22"/>
          <p:cNvSpPr/>
          <p:nvPr/>
        </p:nvSpPr>
        <p:spPr>
          <a:xfrm>
            <a:off x="11519154" y="163474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19154" y="1622044"/>
            <a:ext cx="141732" cy="141732"/>
          </a:xfrm>
          <a:prstGeom prst="rect">
            <a:avLst/>
          </a:prstGeom>
          <a:noFill/>
        </p:spPr>
        <p:txBody>
          <a:bodyPr wrap="square">
            <a:spAutoFit/>
          </a:bodyPr>
          <a:lstStyle/>
          <a:p>
            <a:pPr algn="ctr"/>
            <a:r>
              <a:rPr sz="600" b="1">
                <a:solidFill>
                  <a:srgbClr val="FFFFFF"/>
                </a:solidFill>
                <a:latin typeface="Arial"/>
              </a:rPr>
              <a:t>2</a:t>
            </a:r>
          </a:p>
        </p:txBody>
      </p:sp>
      <p:sp>
        <p:nvSpPr>
          <p:cNvPr id="25" name="Oval 24"/>
          <p:cNvSpPr/>
          <p:nvPr/>
        </p:nvSpPr>
        <p:spPr>
          <a:xfrm>
            <a:off x="10952226" y="1437894"/>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52226" y="1425194"/>
            <a:ext cx="141732" cy="141732"/>
          </a:xfrm>
          <a:prstGeom prst="rect">
            <a:avLst/>
          </a:prstGeom>
          <a:noFill/>
        </p:spPr>
        <p:txBody>
          <a:bodyPr wrap="square">
            <a:spAutoFit/>
          </a:bodyPr>
          <a:lstStyle/>
          <a:p>
            <a:pPr algn="ctr"/>
            <a:r>
              <a:rPr sz="600" b="1">
                <a:solidFill>
                  <a:srgbClr val="FFFFFF"/>
                </a:solidFill>
                <a:latin typeface="Arial"/>
              </a:rPr>
              <a:t>6</a:t>
            </a:r>
          </a:p>
        </p:txBody>
      </p:sp>
      <p:sp>
        <p:nvSpPr>
          <p:cNvPr id="27" name="Oval 26"/>
          <p:cNvSpPr/>
          <p:nvPr/>
        </p:nvSpPr>
        <p:spPr>
          <a:xfrm>
            <a:off x="10653014"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53014" y="1204722"/>
            <a:ext cx="141732" cy="141732"/>
          </a:xfrm>
          <a:prstGeom prst="rect">
            <a:avLst/>
          </a:prstGeom>
          <a:noFill/>
        </p:spPr>
        <p:txBody>
          <a:bodyPr wrap="square">
            <a:spAutoFit/>
          </a:bodyPr>
          <a:lstStyle/>
          <a:p>
            <a:pPr algn="ctr"/>
            <a:r>
              <a:rPr sz="600" b="1">
                <a:solidFill>
                  <a:srgbClr val="FFFFFF"/>
                </a:solidFill>
                <a:latin typeface="Arial"/>
              </a:rPr>
              <a:t>8</a:t>
            </a:r>
          </a:p>
        </p:txBody>
      </p:sp>
      <p:sp>
        <p:nvSpPr>
          <p:cNvPr id="29" name="Oval 28"/>
          <p:cNvSpPr/>
          <p:nvPr/>
        </p:nvSpPr>
        <p:spPr>
          <a:xfrm>
            <a:off x="11251438" y="1217422"/>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1438" y="1204722"/>
            <a:ext cx="141732" cy="141732"/>
          </a:xfrm>
          <a:prstGeom prst="rect">
            <a:avLst/>
          </a:prstGeom>
          <a:noFill/>
        </p:spPr>
        <p:txBody>
          <a:bodyPr wrap="square">
            <a:spAutoFit/>
          </a:bodyPr>
          <a:lstStyle/>
          <a:p>
            <a:pPr algn="ctr"/>
            <a:r>
              <a:rPr sz="600" b="1">
                <a:solidFill>
                  <a:srgbClr val="FFFFFF"/>
                </a:solidFill>
                <a:latin typeface="Arial"/>
              </a:rPr>
              <a:t>10</a:t>
            </a:r>
          </a:p>
        </p:txBody>
      </p:sp>
      <p:sp>
        <p:nvSpPr>
          <p:cNvPr id="31" name="Oval 30"/>
          <p:cNvSpPr/>
          <p:nvPr/>
        </p:nvSpPr>
        <p:spPr>
          <a:xfrm>
            <a:off x="10385298"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85298" y="700786"/>
            <a:ext cx="141732" cy="141732"/>
          </a:xfrm>
          <a:prstGeom prst="rect">
            <a:avLst/>
          </a:prstGeom>
          <a:noFill/>
        </p:spPr>
        <p:txBody>
          <a:bodyPr wrap="square">
            <a:spAutoFit/>
          </a:bodyPr>
          <a:lstStyle/>
          <a:p>
            <a:pPr algn="ctr"/>
            <a:r>
              <a:rPr sz="600" b="1">
                <a:solidFill>
                  <a:srgbClr val="FFFFFF"/>
                </a:solidFill>
                <a:latin typeface="Arial"/>
              </a:rPr>
              <a:t>11</a:t>
            </a:r>
          </a:p>
        </p:txBody>
      </p:sp>
      <p:sp>
        <p:nvSpPr>
          <p:cNvPr id="33" name="Oval 32"/>
          <p:cNvSpPr/>
          <p:nvPr/>
        </p:nvSpPr>
        <p:spPr>
          <a:xfrm>
            <a:off x="11519154" y="713486"/>
            <a:ext cx="141732" cy="141732"/>
          </a:xfrm>
          <a:prstGeom prst="ellipse">
            <a:avLst/>
          </a:prstGeom>
          <a:solidFill>
            <a:srgbClr val="3A3A3A"/>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19154" y="700786"/>
            <a:ext cx="141732" cy="141732"/>
          </a:xfrm>
          <a:prstGeom prst="rect">
            <a:avLst/>
          </a:prstGeom>
          <a:noFill/>
        </p:spPr>
        <p:txBody>
          <a:bodyPr wrap="square">
            <a:spAutoFit/>
          </a:bodyPr>
          <a:lstStyle/>
          <a:p>
            <a:pPr algn="ctr"/>
            <a:r>
              <a:rPr sz="600" b="1">
                <a:solidFill>
                  <a:srgbClr val="FFFFFF"/>
                </a:solidFill>
                <a:latin typeface="Arial"/>
              </a:rPr>
              <a:t>7</a:t>
            </a:r>
          </a:p>
        </p:txBody>
      </p:sp>
      <p:sp>
        <p:nvSpPr>
          <p:cNvPr id="35" name="Oval 34"/>
          <p:cNvSpPr/>
          <p:nvPr/>
        </p:nvSpPr>
        <p:spPr>
          <a:xfrm>
            <a:off x="10936478" y="414274"/>
            <a:ext cx="173228" cy="173228"/>
          </a:xfrm>
          <a:prstGeom prst="ellipse">
            <a:avLst/>
          </a:prstGeom>
          <a:solidFill>
            <a:srgbClr val="F5C518"/>
          </a:solidFill>
          <a:ln w="19050">
            <a:solidFill>
              <a:srgbClr val="FAD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36478" y="401574"/>
            <a:ext cx="173228" cy="173228"/>
          </a:xfrm>
          <a:prstGeom prst="rect">
            <a:avLst/>
          </a:prstGeom>
          <a:noFill/>
        </p:spPr>
        <p:txBody>
          <a:bodyPr wrap="square">
            <a:spAutoFit/>
          </a:bodyPr>
          <a:lstStyle/>
          <a:p>
            <a:pPr algn="ctr"/>
            <a:r>
              <a:rPr sz="600" b="1">
                <a:solidFill>
                  <a:srgbClr val="0D0D0D"/>
                </a:solidFill>
                <a:latin typeface="Arial"/>
              </a:rPr>
              <a:t>9</a:t>
            </a:r>
          </a:p>
        </p:txBody>
      </p:sp>
      <p:sp>
        <p:nvSpPr>
          <p:cNvPr id="37" name="TextBox 36"/>
          <p:cNvSpPr txBox="1"/>
          <p:nvPr/>
        </p:nvSpPr>
        <p:spPr>
          <a:xfrm>
            <a:off x="457200" y="676656"/>
            <a:ext cx="1417320" cy="219456"/>
          </a:xfrm>
          <a:prstGeom prst="rect">
            <a:avLst/>
          </a:prstGeom>
          <a:noFill/>
        </p:spPr>
        <p:txBody>
          <a:bodyPr wrap="square">
            <a:spAutoFit/>
          </a:bodyPr>
          <a:lstStyle/>
          <a:p>
            <a:pPr algn="l"/>
            <a:r>
              <a:rPr sz="900" b="1">
                <a:solidFill>
                  <a:srgbClr val="00D4E4"/>
                </a:solidFill>
                <a:latin typeface="Inter"/>
              </a:rPr>
              <a:t>KEY QUALITIES:</a:t>
            </a:r>
          </a:p>
        </p:txBody>
      </p:sp>
      <p:sp>
        <p:nvSpPr>
          <p:cNvPr id="38" name="Rectangle 37"/>
          <p:cNvSpPr/>
          <p:nvPr/>
        </p:nvSpPr>
        <p:spPr>
          <a:xfrm>
            <a:off x="1874520" y="702056"/>
            <a:ext cx="12852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50720" y="702056"/>
            <a:ext cx="1209040" cy="210312"/>
          </a:xfrm>
          <a:prstGeom prst="rect">
            <a:avLst/>
          </a:prstGeom>
          <a:noFill/>
        </p:spPr>
        <p:txBody>
          <a:bodyPr wrap="square">
            <a:spAutoFit/>
          </a:bodyPr>
          <a:lstStyle/>
          <a:p>
            <a:pPr algn="l"/>
            <a:r>
              <a:rPr sz="900" b="0">
                <a:solidFill>
                  <a:srgbClr val="F2F2F0"/>
                </a:solidFill>
                <a:latin typeface="Inter"/>
              </a:rPr>
              <a:t>Dynamic Dribbler</a:t>
            </a:r>
          </a:p>
        </p:txBody>
      </p:sp>
      <p:sp>
        <p:nvSpPr>
          <p:cNvPr id="40" name="Rectangle 39"/>
          <p:cNvSpPr/>
          <p:nvPr/>
        </p:nvSpPr>
        <p:spPr>
          <a:xfrm>
            <a:off x="3214624" y="702056"/>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0824" y="702056"/>
            <a:ext cx="680720" cy="210312"/>
          </a:xfrm>
          <a:prstGeom prst="rect">
            <a:avLst/>
          </a:prstGeom>
          <a:noFill/>
        </p:spPr>
        <p:txBody>
          <a:bodyPr wrap="square">
            <a:spAutoFit/>
          </a:bodyPr>
          <a:lstStyle/>
          <a:p>
            <a:pPr algn="l"/>
            <a:r>
              <a:rPr sz="900" b="0">
                <a:solidFill>
                  <a:srgbClr val="F2F2F0"/>
                </a:solidFill>
                <a:latin typeface="Inter"/>
              </a:rPr>
              <a:t>Creative</a:t>
            </a:r>
          </a:p>
        </p:txBody>
      </p:sp>
      <p:sp>
        <p:nvSpPr>
          <p:cNvPr id="42" name="Rectangle 41"/>
          <p:cNvSpPr/>
          <p:nvPr/>
        </p:nvSpPr>
        <p:spPr>
          <a:xfrm>
            <a:off x="4026408" y="702056"/>
            <a:ext cx="154940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02608" y="702056"/>
            <a:ext cx="1473200" cy="210312"/>
          </a:xfrm>
          <a:prstGeom prst="rect">
            <a:avLst/>
          </a:prstGeom>
          <a:noFill/>
        </p:spPr>
        <p:txBody>
          <a:bodyPr wrap="square">
            <a:spAutoFit/>
          </a:bodyPr>
          <a:lstStyle/>
          <a:p>
            <a:pPr algn="l"/>
            <a:r>
              <a:rPr sz="900" b="0">
                <a:solidFill>
                  <a:srgbClr val="F2F2F0"/>
                </a:solidFill>
                <a:latin typeface="Inter"/>
              </a:rPr>
              <a:t>Good Touch / Control</a:t>
            </a:r>
          </a:p>
        </p:txBody>
      </p:sp>
      <p:sp>
        <p:nvSpPr>
          <p:cNvPr id="44" name="Rectangle 43"/>
          <p:cNvSpPr/>
          <p:nvPr/>
        </p:nvSpPr>
        <p:spPr>
          <a:xfrm>
            <a:off x="5630672" y="702056"/>
            <a:ext cx="161544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06872" y="702056"/>
            <a:ext cx="1539240" cy="210312"/>
          </a:xfrm>
          <a:prstGeom prst="rect">
            <a:avLst/>
          </a:prstGeom>
          <a:noFill/>
        </p:spPr>
        <p:txBody>
          <a:bodyPr wrap="square">
            <a:spAutoFit/>
          </a:bodyPr>
          <a:lstStyle/>
          <a:p>
            <a:pPr algn="l"/>
            <a:r>
              <a:rPr sz="900" b="0">
                <a:solidFill>
                  <a:srgbClr val="F2F2F0"/>
                </a:solidFill>
                <a:latin typeface="Inter"/>
              </a:rPr>
              <a:t>Positionally Dominant</a:t>
            </a:r>
          </a:p>
        </p:txBody>
      </p:sp>
      <p:sp>
        <p:nvSpPr>
          <p:cNvPr id="46" name="Rectangle 45"/>
          <p:cNvSpPr/>
          <p:nvPr/>
        </p:nvSpPr>
        <p:spPr>
          <a:xfrm>
            <a:off x="7300976" y="702056"/>
            <a:ext cx="135128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77176" y="702056"/>
            <a:ext cx="1275080" cy="210312"/>
          </a:xfrm>
          <a:prstGeom prst="rect">
            <a:avLst/>
          </a:prstGeom>
          <a:noFill/>
        </p:spPr>
        <p:txBody>
          <a:bodyPr wrap="square">
            <a:spAutoFit/>
          </a:bodyPr>
          <a:lstStyle/>
          <a:p>
            <a:pPr algn="l"/>
            <a:r>
              <a:rPr sz="900" b="0">
                <a:solidFill>
                  <a:srgbClr val="F2F2F0"/>
                </a:solidFill>
                <a:latin typeface="Inter"/>
              </a:rPr>
              <a:t>Aerially Dominant</a:t>
            </a:r>
          </a:p>
        </p:txBody>
      </p:sp>
      <p:sp>
        <p:nvSpPr>
          <p:cNvPr id="48" name="Rectangle 47"/>
          <p:cNvSpPr/>
          <p:nvPr/>
        </p:nvSpPr>
        <p:spPr>
          <a:xfrm>
            <a:off x="8707120" y="702056"/>
            <a:ext cx="7569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83320" y="702056"/>
            <a:ext cx="680720" cy="210312"/>
          </a:xfrm>
          <a:prstGeom prst="rect">
            <a:avLst/>
          </a:prstGeom>
          <a:noFill/>
        </p:spPr>
        <p:txBody>
          <a:bodyPr wrap="square">
            <a:spAutoFit/>
          </a:bodyPr>
          <a:lstStyle/>
          <a:p>
            <a:pPr algn="l"/>
            <a:r>
              <a:rPr sz="900" b="0">
                <a:solidFill>
                  <a:srgbClr val="F2F2F0"/>
                </a:solidFill>
                <a:latin typeface="Inter"/>
              </a:rPr>
              <a:t>Athletic</a:t>
            </a:r>
          </a:p>
        </p:txBody>
      </p:sp>
      <p:sp>
        <p:nvSpPr>
          <p:cNvPr id="50" name="Rectangle 49"/>
          <p:cNvSpPr/>
          <p:nvPr/>
        </p:nvSpPr>
        <p:spPr>
          <a:xfrm>
            <a:off x="1874520" y="948944"/>
            <a:ext cx="3398520" cy="21031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950720" y="948944"/>
            <a:ext cx="3322320" cy="210312"/>
          </a:xfrm>
          <a:prstGeom prst="rect">
            <a:avLst/>
          </a:prstGeom>
          <a:noFill/>
        </p:spPr>
        <p:txBody>
          <a:bodyPr wrap="square">
            <a:spAutoFit/>
          </a:bodyPr>
          <a:lstStyle/>
          <a:p>
            <a:pPr algn="l"/>
            <a:r>
              <a:rPr sz="900" b="0">
                <a:solidFill>
                  <a:srgbClr val="F2F2F0"/>
                </a:solidFill>
                <a:latin typeface="Inter"/>
              </a:rPr>
              <a:t>Accurate Finishing Inside &amp; Outside Penalty Area</a:t>
            </a:r>
          </a:p>
        </p:txBody>
      </p:sp>
      <p:sp>
        <p:nvSpPr>
          <p:cNvPr id="52" name="Rectangle 51"/>
          <p:cNvSpPr/>
          <p:nvPr/>
        </p:nvSpPr>
        <p:spPr>
          <a:xfrm>
            <a:off x="457200"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7200"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5216" y="2433320"/>
            <a:ext cx="3416808" cy="201168"/>
          </a:xfrm>
          <a:prstGeom prst="rect">
            <a:avLst/>
          </a:prstGeom>
          <a:noFill/>
        </p:spPr>
        <p:txBody>
          <a:bodyPr wrap="square">
            <a:spAutoFit/>
          </a:bodyPr>
          <a:lstStyle/>
          <a:p>
            <a:pPr algn="l"/>
            <a:r>
              <a:rPr sz="1500" b="1">
                <a:solidFill>
                  <a:srgbClr val="F5C518"/>
                </a:solidFill>
                <a:latin typeface="Barlow Condensed"/>
              </a:rPr>
              <a:t>DEF 1/3</a:t>
            </a:r>
          </a:p>
        </p:txBody>
      </p:sp>
      <p:sp>
        <p:nvSpPr>
          <p:cNvPr id="55" name="TextBox 54"/>
          <p:cNvSpPr txBox="1"/>
          <p:nvPr/>
        </p:nvSpPr>
        <p:spPr>
          <a:xfrm>
            <a:off x="566928"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56" name="TextBox 55"/>
          <p:cNvSpPr txBox="1"/>
          <p:nvPr/>
        </p:nvSpPr>
        <p:spPr>
          <a:xfrm>
            <a:off x="566928" y="2917952"/>
            <a:ext cx="3453384" cy="868680"/>
          </a:xfrm>
          <a:prstGeom prst="rect">
            <a:avLst/>
          </a:prstGeom>
          <a:noFill/>
        </p:spPr>
        <p:txBody>
          <a:bodyPr wrap="square">
            <a:spAutoFit/>
          </a:bodyPr>
          <a:lstStyle/>
          <a:p>
            <a:pPr algn="l"/>
            <a:r>
              <a:rPr sz="1000" b="0">
                <a:solidFill>
                  <a:srgbClr val="F2F2F0"/>
                </a:solidFill>
                <a:latin typeface="Inter"/>
              </a:rPr>
              <a:t>Position high &amp; centrally as a target to occupy opposition #4 &amp; #5; Receive, hold/protect, lay-off the ball &amp; create space</a:t>
            </a:r>
          </a:p>
        </p:txBody>
      </p:sp>
      <p:sp>
        <p:nvSpPr>
          <p:cNvPr id="57" name="TextBox 56"/>
          <p:cNvSpPr txBox="1"/>
          <p:nvPr/>
        </p:nvSpPr>
        <p:spPr>
          <a:xfrm>
            <a:off x="566928"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58" name="TextBox 57"/>
          <p:cNvSpPr txBox="1"/>
          <p:nvPr/>
        </p:nvSpPr>
        <p:spPr>
          <a:xfrm>
            <a:off x="566928" y="4024376"/>
            <a:ext cx="3453384" cy="777240"/>
          </a:xfrm>
          <a:prstGeom prst="rect">
            <a:avLst/>
          </a:prstGeom>
          <a:noFill/>
        </p:spPr>
        <p:txBody>
          <a:bodyPr wrap="square">
            <a:spAutoFit/>
          </a:bodyPr>
          <a:lstStyle/>
          <a:p>
            <a:pPr algn="l"/>
            <a:r>
              <a:rPr sz="1000" b="0">
                <a:solidFill>
                  <a:srgbClr val="F2F2F0"/>
                </a:solidFill>
                <a:latin typeface="Inter"/>
              </a:rPr>
              <a:t>Take anticipated attacking action &amp; positioning</a:t>
            </a:r>
          </a:p>
        </p:txBody>
      </p:sp>
      <p:sp>
        <p:nvSpPr>
          <p:cNvPr id="59" name="TextBox 58"/>
          <p:cNvSpPr txBox="1"/>
          <p:nvPr/>
        </p:nvSpPr>
        <p:spPr>
          <a:xfrm>
            <a:off x="566928"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0" name="TextBox 59"/>
          <p:cNvSpPr txBox="1"/>
          <p:nvPr/>
        </p:nvSpPr>
        <p:spPr>
          <a:xfrm>
            <a:off x="566928" y="5039360"/>
            <a:ext cx="3453384" cy="713232"/>
          </a:xfrm>
          <a:prstGeom prst="rect">
            <a:avLst/>
          </a:prstGeom>
          <a:noFill/>
        </p:spPr>
        <p:txBody>
          <a:bodyPr wrap="square">
            <a:spAutoFit/>
          </a:bodyPr>
          <a:lstStyle/>
          <a:p>
            <a:pPr algn="l"/>
            <a:r>
              <a:rPr sz="1000" b="0">
                <a:solidFill>
                  <a:srgbClr val="F2F2F0"/>
                </a:solidFill>
                <a:latin typeface="Inter"/>
              </a:rPr>
              <a:t>D→A: Move quickly into position (onside) to support high up the field  ·  A→D: Position &amp; support on side of field for clearances; Prevent opponent from sustaining attack</a:t>
            </a:r>
          </a:p>
        </p:txBody>
      </p:sp>
      <p:sp>
        <p:nvSpPr>
          <p:cNvPr id="61" name="Rectangle 60"/>
          <p:cNvSpPr/>
          <p:nvPr/>
        </p:nvSpPr>
        <p:spPr>
          <a:xfrm>
            <a:off x="4258056"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258056"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86072" y="2433320"/>
            <a:ext cx="3416808" cy="201168"/>
          </a:xfrm>
          <a:prstGeom prst="rect">
            <a:avLst/>
          </a:prstGeom>
          <a:noFill/>
        </p:spPr>
        <p:txBody>
          <a:bodyPr wrap="square">
            <a:spAutoFit/>
          </a:bodyPr>
          <a:lstStyle/>
          <a:p>
            <a:pPr algn="l"/>
            <a:r>
              <a:rPr sz="1500" b="1">
                <a:solidFill>
                  <a:srgbClr val="F5C518"/>
                </a:solidFill>
                <a:latin typeface="Barlow Condensed"/>
              </a:rPr>
              <a:t>MID 1/3</a:t>
            </a:r>
          </a:p>
        </p:txBody>
      </p:sp>
      <p:sp>
        <p:nvSpPr>
          <p:cNvPr id="64" name="TextBox 63"/>
          <p:cNvSpPr txBox="1"/>
          <p:nvPr/>
        </p:nvSpPr>
        <p:spPr>
          <a:xfrm>
            <a:off x="4367784"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65" name="TextBox 64"/>
          <p:cNvSpPr txBox="1"/>
          <p:nvPr/>
        </p:nvSpPr>
        <p:spPr>
          <a:xfrm>
            <a:off x="4367784" y="2917952"/>
            <a:ext cx="3453384" cy="868680"/>
          </a:xfrm>
          <a:prstGeom prst="rect">
            <a:avLst/>
          </a:prstGeom>
          <a:noFill/>
        </p:spPr>
        <p:txBody>
          <a:bodyPr wrap="square">
            <a:spAutoFit/>
          </a:bodyPr>
          <a:lstStyle/>
          <a:p>
            <a:pPr algn="l"/>
            <a:r>
              <a:rPr sz="1000" b="0">
                <a:solidFill>
                  <a:srgbClr val="F2F2F0"/>
                </a:solidFill>
                <a:latin typeface="Inter"/>
              </a:rPr>
              <a:t>Make varied forward runs in space behind defensive line; Pass or dribble forward to create 1v1 or 2v1</a:t>
            </a:r>
          </a:p>
        </p:txBody>
      </p:sp>
      <p:sp>
        <p:nvSpPr>
          <p:cNvPr id="66" name="TextBox 65"/>
          <p:cNvSpPr txBox="1"/>
          <p:nvPr/>
        </p:nvSpPr>
        <p:spPr>
          <a:xfrm>
            <a:off x="4367784"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67" name="TextBox 66"/>
          <p:cNvSpPr txBox="1"/>
          <p:nvPr/>
        </p:nvSpPr>
        <p:spPr>
          <a:xfrm>
            <a:off x="4367784" y="4024376"/>
            <a:ext cx="3453384" cy="777240"/>
          </a:xfrm>
          <a:prstGeom prst="rect">
            <a:avLst/>
          </a:prstGeom>
          <a:noFill/>
        </p:spPr>
        <p:txBody>
          <a:bodyPr wrap="square">
            <a:spAutoFit/>
          </a:bodyPr>
          <a:lstStyle/>
          <a:p>
            <a:pPr algn="l"/>
            <a:r>
              <a:rPr sz="1000" b="0">
                <a:solidFill>
                  <a:srgbClr val="F2F2F0"/>
                </a:solidFill>
                <a:latin typeface="Inter"/>
              </a:rPr>
              <a:t>Position to force opponent to play to one side / prevent switching; Pressure the ball &amp; help teammates outnumber opponent</a:t>
            </a:r>
          </a:p>
        </p:txBody>
      </p:sp>
      <p:sp>
        <p:nvSpPr>
          <p:cNvPr id="68" name="TextBox 67"/>
          <p:cNvSpPr txBox="1"/>
          <p:nvPr/>
        </p:nvSpPr>
        <p:spPr>
          <a:xfrm>
            <a:off x="4367784"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69" name="TextBox 68"/>
          <p:cNvSpPr txBox="1"/>
          <p:nvPr/>
        </p:nvSpPr>
        <p:spPr>
          <a:xfrm>
            <a:off x="4367784" y="5039360"/>
            <a:ext cx="3453384" cy="713232"/>
          </a:xfrm>
          <a:prstGeom prst="rect">
            <a:avLst/>
          </a:prstGeom>
          <a:noFill/>
        </p:spPr>
        <p:txBody>
          <a:bodyPr wrap="square">
            <a:spAutoFit/>
          </a:bodyPr>
          <a:lstStyle/>
          <a:p>
            <a:pPr algn="l"/>
            <a:r>
              <a:rPr sz="1000" b="0">
                <a:solidFill>
                  <a:srgbClr val="F2F2F0"/>
                </a:solidFill>
                <a:latin typeface="Inter"/>
              </a:rPr>
              <a:t>D→A: Keep the ball, hold &amp; protect while teammates support the attack  ·  A→D: Quick decision to pressure, delay the attack, or drop back; Follow direction from teammates behind</a:t>
            </a:r>
          </a:p>
        </p:txBody>
      </p:sp>
      <p:sp>
        <p:nvSpPr>
          <p:cNvPr id="70" name="Rectangle 69"/>
          <p:cNvSpPr/>
          <p:nvPr/>
        </p:nvSpPr>
        <p:spPr>
          <a:xfrm>
            <a:off x="8058912" y="2387600"/>
            <a:ext cx="3672840" cy="2944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058912" y="2387600"/>
            <a:ext cx="3672840" cy="27432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186928" y="2433320"/>
            <a:ext cx="3416808" cy="201168"/>
          </a:xfrm>
          <a:prstGeom prst="rect">
            <a:avLst/>
          </a:prstGeom>
          <a:noFill/>
        </p:spPr>
        <p:txBody>
          <a:bodyPr wrap="square">
            <a:spAutoFit/>
          </a:bodyPr>
          <a:lstStyle/>
          <a:p>
            <a:pPr algn="l"/>
            <a:r>
              <a:rPr sz="1500" b="1">
                <a:solidFill>
                  <a:srgbClr val="F5C518"/>
                </a:solidFill>
                <a:latin typeface="Barlow Condensed"/>
              </a:rPr>
              <a:t>OFF 1/3</a:t>
            </a:r>
          </a:p>
        </p:txBody>
      </p:sp>
      <p:sp>
        <p:nvSpPr>
          <p:cNvPr id="73" name="TextBox 72"/>
          <p:cNvSpPr txBox="1"/>
          <p:nvPr/>
        </p:nvSpPr>
        <p:spPr>
          <a:xfrm>
            <a:off x="8168640" y="2707640"/>
            <a:ext cx="3453384" cy="201168"/>
          </a:xfrm>
          <a:prstGeom prst="rect">
            <a:avLst/>
          </a:prstGeom>
          <a:noFill/>
        </p:spPr>
        <p:txBody>
          <a:bodyPr wrap="square">
            <a:spAutoFit/>
          </a:bodyPr>
          <a:lstStyle/>
          <a:p>
            <a:pPr algn="l"/>
            <a:r>
              <a:rPr sz="900" b="1">
                <a:solidFill>
                  <a:srgbClr val="F5C518"/>
                </a:solidFill>
                <a:latin typeface="Inter"/>
              </a:rPr>
              <a:t>ATTACKING</a:t>
            </a:r>
          </a:p>
        </p:txBody>
      </p:sp>
      <p:sp>
        <p:nvSpPr>
          <p:cNvPr id="74" name="TextBox 73"/>
          <p:cNvSpPr txBox="1"/>
          <p:nvPr/>
        </p:nvSpPr>
        <p:spPr>
          <a:xfrm>
            <a:off x="8168640" y="2917952"/>
            <a:ext cx="3453384" cy="868680"/>
          </a:xfrm>
          <a:prstGeom prst="rect">
            <a:avLst/>
          </a:prstGeom>
          <a:noFill/>
        </p:spPr>
        <p:txBody>
          <a:bodyPr wrap="square">
            <a:spAutoFit/>
          </a:bodyPr>
          <a:lstStyle/>
          <a:p>
            <a:pPr algn="l"/>
            <a:r>
              <a:rPr sz="1000" b="0">
                <a:solidFill>
                  <a:srgbClr val="F2F2F0"/>
                </a:solidFill>
                <a:latin typeface="Inter"/>
              </a:rPr>
              <a:t>Position with varied, well timed runs in the box near goal to finish chances or create for teammates</a:t>
            </a:r>
          </a:p>
        </p:txBody>
      </p:sp>
      <p:sp>
        <p:nvSpPr>
          <p:cNvPr id="75" name="TextBox 74"/>
          <p:cNvSpPr txBox="1"/>
          <p:nvPr/>
        </p:nvSpPr>
        <p:spPr>
          <a:xfrm>
            <a:off x="8168640" y="3814064"/>
            <a:ext cx="3453384" cy="201168"/>
          </a:xfrm>
          <a:prstGeom prst="rect">
            <a:avLst/>
          </a:prstGeom>
          <a:noFill/>
        </p:spPr>
        <p:txBody>
          <a:bodyPr wrap="square">
            <a:spAutoFit/>
          </a:bodyPr>
          <a:lstStyle/>
          <a:p>
            <a:pPr algn="l"/>
            <a:r>
              <a:rPr sz="900" b="1">
                <a:solidFill>
                  <a:srgbClr val="00D4E4"/>
                </a:solidFill>
                <a:latin typeface="Inter"/>
              </a:rPr>
              <a:t>DEFENDING</a:t>
            </a:r>
          </a:p>
        </p:txBody>
      </p:sp>
      <p:sp>
        <p:nvSpPr>
          <p:cNvPr id="76" name="TextBox 75"/>
          <p:cNvSpPr txBox="1"/>
          <p:nvPr/>
        </p:nvSpPr>
        <p:spPr>
          <a:xfrm>
            <a:off x="8168640" y="4024376"/>
            <a:ext cx="3453384" cy="777240"/>
          </a:xfrm>
          <a:prstGeom prst="rect">
            <a:avLst/>
          </a:prstGeom>
          <a:noFill/>
        </p:spPr>
        <p:txBody>
          <a:bodyPr wrap="square">
            <a:spAutoFit/>
          </a:bodyPr>
          <a:lstStyle/>
          <a:p>
            <a:pPr algn="l"/>
            <a:r>
              <a:rPr sz="1000" b="0">
                <a:solidFill>
                  <a:srgbClr val="F2F2F0"/>
                </a:solidFill>
                <a:latin typeface="Inter"/>
              </a:rPr>
              <a:t>Monitor situation to defend space &amp; opponent; Decide to pressure, stay in zone, or track opposition center back</a:t>
            </a:r>
          </a:p>
        </p:txBody>
      </p:sp>
      <p:sp>
        <p:nvSpPr>
          <p:cNvPr id="77" name="TextBox 76"/>
          <p:cNvSpPr txBox="1"/>
          <p:nvPr/>
        </p:nvSpPr>
        <p:spPr>
          <a:xfrm>
            <a:off x="8168640" y="4829048"/>
            <a:ext cx="3453384" cy="201168"/>
          </a:xfrm>
          <a:prstGeom prst="rect">
            <a:avLst/>
          </a:prstGeom>
          <a:noFill/>
        </p:spPr>
        <p:txBody>
          <a:bodyPr wrap="square">
            <a:spAutoFit/>
          </a:bodyPr>
          <a:lstStyle/>
          <a:p>
            <a:pPr algn="l"/>
            <a:r>
              <a:rPr sz="900" b="1">
                <a:solidFill>
                  <a:srgbClr val="FF8C42"/>
                </a:solidFill>
                <a:latin typeface="Inter"/>
              </a:rPr>
              <a:t>TRANSITIONS</a:t>
            </a:r>
          </a:p>
        </p:txBody>
      </p:sp>
      <p:sp>
        <p:nvSpPr>
          <p:cNvPr id="78" name="TextBox 77"/>
          <p:cNvSpPr txBox="1"/>
          <p:nvPr/>
        </p:nvSpPr>
        <p:spPr>
          <a:xfrm>
            <a:off x="8168640" y="5039360"/>
            <a:ext cx="3453384" cy="713232"/>
          </a:xfrm>
          <a:prstGeom prst="rect">
            <a:avLst/>
          </a:prstGeom>
          <a:noFill/>
        </p:spPr>
        <p:txBody>
          <a:bodyPr wrap="square">
            <a:spAutoFit/>
          </a:bodyPr>
          <a:lstStyle/>
          <a:p>
            <a:pPr algn="l"/>
            <a:r>
              <a:rPr sz="1000" b="0">
                <a:solidFill>
                  <a:srgbClr val="F2F2F0"/>
                </a:solidFill>
                <a:latin typeface="Inter"/>
              </a:rPr>
              <a:t>D→A: Position &amp; support quickly in space to exploit opponent &amp; create chances  ·  A→D: If closest, put pressure on the ball immediately</a:t>
            </a:r>
          </a:p>
        </p:txBody>
      </p:sp>
      <p:sp>
        <p:nvSpPr>
          <p:cNvPr id="79" name="TextBox 78"/>
          <p:cNvSpPr txBox="1"/>
          <p:nvPr/>
        </p:nvSpPr>
        <p:spPr>
          <a:xfrm>
            <a:off x="457200" y="5405120"/>
            <a:ext cx="11274552" cy="219456"/>
          </a:xfrm>
          <a:prstGeom prst="rect">
            <a:avLst/>
          </a:prstGeom>
          <a:noFill/>
        </p:spPr>
        <p:txBody>
          <a:bodyPr wrap="square">
            <a:spAutoFit/>
          </a:bodyPr>
          <a:lstStyle/>
          <a:p>
            <a:pPr algn="l"/>
            <a:r>
              <a:rPr sz="900" b="1">
                <a:solidFill>
                  <a:srgbClr val="00D4E4"/>
                </a:solidFill>
                <a:latin typeface="Inter"/>
              </a:rPr>
              <a:t>PRINCIPLES OF PLAY</a:t>
            </a:r>
          </a:p>
        </p:txBody>
      </p:sp>
      <p:sp>
        <p:nvSpPr>
          <p:cNvPr id="80" name="Rectangle 79"/>
          <p:cNvSpPr/>
          <p:nvPr/>
        </p:nvSpPr>
        <p:spPr>
          <a:xfrm>
            <a:off x="457200"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6928" y="5706872"/>
            <a:ext cx="3453384" cy="219456"/>
          </a:xfrm>
          <a:prstGeom prst="rect">
            <a:avLst/>
          </a:prstGeom>
          <a:noFill/>
        </p:spPr>
        <p:txBody>
          <a:bodyPr wrap="square">
            <a:spAutoFit/>
          </a:bodyPr>
          <a:lstStyle/>
          <a:p>
            <a:pPr algn="l"/>
            <a:r>
              <a:rPr sz="800" b="1">
                <a:solidFill>
                  <a:srgbClr val="F5C518"/>
                </a:solidFill>
                <a:latin typeface="Inter"/>
              </a:rPr>
              <a:t>BUILD OUT</a:t>
            </a:r>
          </a:p>
        </p:txBody>
      </p:sp>
      <p:sp>
        <p:nvSpPr>
          <p:cNvPr id="82" name="TextBox 81"/>
          <p:cNvSpPr txBox="1"/>
          <p:nvPr/>
        </p:nvSpPr>
        <p:spPr>
          <a:xfrm>
            <a:off x="566928" y="5953760"/>
            <a:ext cx="3453384" cy="219456"/>
          </a:xfrm>
          <a:prstGeom prst="rect">
            <a:avLst/>
          </a:prstGeom>
          <a:noFill/>
        </p:spPr>
        <p:txBody>
          <a:bodyPr wrap="square">
            <a:spAutoFit/>
          </a:bodyPr>
          <a:lstStyle/>
          <a:p>
            <a:pPr algn="l"/>
            <a:r>
              <a:rPr sz="1000" b="0">
                <a:solidFill>
                  <a:srgbClr val="F2F2F0"/>
                </a:solidFill>
                <a:latin typeface="Inter"/>
              </a:rPr>
              <a:t>• Maintain possession for team</a:t>
            </a:r>
          </a:p>
        </p:txBody>
      </p:sp>
      <p:sp>
        <p:nvSpPr>
          <p:cNvPr id="83" name="TextBox 82"/>
          <p:cNvSpPr txBox="1"/>
          <p:nvPr/>
        </p:nvSpPr>
        <p:spPr>
          <a:xfrm>
            <a:off x="566928" y="6200648"/>
            <a:ext cx="3453384" cy="219456"/>
          </a:xfrm>
          <a:prstGeom prst="rect">
            <a:avLst/>
          </a:prstGeom>
          <a:noFill/>
        </p:spPr>
        <p:txBody>
          <a:bodyPr wrap="square">
            <a:spAutoFit/>
          </a:bodyPr>
          <a:lstStyle/>
          <a:p>
            <a:pPr algn="l"/>
            <a:r>
              <a:rPr sz="1000" b="0">
                <a:solidFill>
                  <a:srgbClr val="F2F2F0"/>
                </a:solidFill>
                <a:latin typeface="Inter"/>
              </a:rPr>
              <a:t>• Occupy half space</a:t>
            </a:r>
          </a:p>
        </p:txBody>
      </p:sp>
      <p:sp>
        <p:nvSpPr>
          <p:cNvPr id="84" name="TextBox 83"/>
          <p:cNvSpPr txBox="1"/>
          <p:nvPr/>
        </p:nvSpPr>
        <p:spPr>
          <a:xfrm>
            <a:off x="566928" y="6447536"/>
            <a:ext cx="3453384" cy="219456"/>
          </a:xfrm>
          <a:prstGeom prst="rect">
            <a:avLst/>
          </a:prstGeom>
          <a:noFill/>
        </p:spPr>
        <p:txBody>
          <a:bodyPr wrap="square">
            <a:spAutoFit/>
          </a:bodyPr>
          <a:lstStyle/>
          <a:p>
            <a:pPr algn="l"/>
            <a:r>
              <a:rPr sz="1000" b="0">
                <a:solidFill>
                  <a:srgbClr val="F2F2F0"/>
                </a:solidFill>
                <a:latin typeface="Inter"/>
              </a:rPr>
              <a:t>• Stretch opponent backline</a:t>
            </a:r>
          </a:p>
        </p:txBody>
      </p:sp>
      <p:sp>
        <p:nvSpPr>
          <p:cNvPr id="85" name="Rectangle 84"/>
          <p:cNvSpPr/>
          <p:nvPr/>
        </p:nvSpPr>
        <p:spPr>
          <a:xfrm>
            <a:off x="4258056"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367784" y="5706872"/>
            <a:ext cx="3453384" cy="219456"/>
          </a:xfrm>
          <a:prstGeom prst="rect">
            <a:avLst/>
          </a:prstGeom>
          <a:noFill/>
        </p:spPr>
        <p:txBody>
          <a:bodyPr wrap="square">
            <a:spAutoFit/>
          </a:bodyPr>
          <a:lstStyle/>
          <a:p>
            <a:pPr algn="l"/>
            <a:r>
              <a:rPr sz="800" b="1">
                <a:solidFill>
                  <a:srgbClr val="F5C518"/>
                </a:solidFill>
                <a:latin typeface="Inter"/>
              </a:rPr>
              <a:t>ADVANCEMENT PHASE</a:t>
            </a:r>
          </a:p>
        </p:txBody>
      </p:sp>
      <p:sp>
        <p:nvSpPr>
          <p:cNvPr id="87" name="TextBox 86"/>
          <p:cNvSpPr txBox="1"/>
          <p:nvPr/>
        </p:nvSpPr>
        <p:spPr>
          <a:xfrm>
            <a:off x="4367784" y="5953760"/>
            <a:ext cx="3453384" cy="219456"/>
          </a:xfrm>
          <a:prstGeom prst="rect">
            <a:avLst/>
          </a:prstGeom>
          <a:noFill/>
        </p:spPr>
        <p:txBody>
          <a:bodyPr wrap="square">
            <a:spAutoFit/>
          </a:bodyPr>
          <a:lstStyle/>
          <a:p>
            <a:pPr algn="l"/>
            <a:r>
              <a:rPr sz="1000" b="0">
                <a:solidFill>
                  <a:srgbClr val="F2F2F0"/>
                </a:solidFill>
                <a:latin typeface="Inter"/>
              </a:rPr>
              <a:t>• Maintain possession; Eliminate defenders</a:t>
            </a:r>
          </a:p>
        </p:txBody>
      </p:sp>
      <p:sp>
        <p:nvSpPr>
          <p:cNvPr id="88" name="TextBox 87"/>
          <p:cNvSpPr txBox="1"/>
          <p:nvPr/>
        </p:nvSpPr>
        <p:spPr>
          <a:xfrm>
            <a:off x="4367784" y="6200648"/>
            <a:ext cx="3453384" cy="219456"/>
          </a:xfrm>
          <a:prstGeom prst="rect">
            <a:avLst/>
          </a:prstGeom>
          <a:noFill/>
        </p:spPr>
        <p:txBody>
          <a:bodyPr wrap="square">
            <a:spAutoFit/>
          </a:bodyPr>
          <a:lstStyle/>
          <a:p>
            <a:pPr algn="l"/>
            <a:r>
              <a:rPr sz="1000" b="0">
                <a:solidFill>
                  <a:srgbClr val="F2F2F0"/>
                </a:solidFill>
                <a:latin typeface="Inter"/>
              </a:rPr>
              <a:t>• Occupy half space; Create overloads</a:t>
            </a:r>
          </a:p>
        </p:txBody>
      </p:sp>
      <p:sp>
        <p:nvSpPr>
          <p:cNvPr id="89" name="TextBox 88"/>
          <p:cNvSpPr txBox="1"/>
          <p:nvPr/>
        </p:nvSpPr>
        <p:spPr>
          <a:xfrm>
            <a:off x="4367784" y="6447536"/>
            <a:ext cx="3453384" cy="219456"/>
          </a:xfrm>
          <a:prstGeom prst="rect">
            <a:avLst/>
          </a:prstGeom>
          <a:noFill/>
        </p:spPr>
        <p:txBody>
          <a:bodyPr wrap="square">
            <a:spAutoFit/>
          </a:bodyPr>
          <a:lstStyle/>
          <a:p>
            <a:pPr algn="l"/>
            <a:r>
              <a:rPr sz="1000" b="0">
                <a:solidFill>
                  <a:srgbClr val="F2F2F0"/>
                </a:solidFill>
                <a:latin typeface="Inter"/>
              </a:rPr>
              <a:t>• Penetrate opponent in half space / box</a:t>
            </a:r>
          </a:p>
        </p:txBody>
      </p:sp>
      <p:sp>
        <p:nvSpPr>
          <p:cNvPr id="90" name="Rectangle 89"/>
          <p:cNvSpPr/>
          <p:nvPr/>
        </p:nvSpPr>
        <p:spPr>
          <a:xfrm>
            <a:off x="8058912" y="5642864"/>
            <a:ext cx="3672840" cy="1160272"/>
          </a:xfrm>
          <a:prstGeom prst="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168640" y="5706872"/>
            <a:ext cx="3453384" cy="219456"/>
          </a:xfrm>
          <a:prstGeom prst="rect">
            <a:avLst/>
          </a:prstGeom>
          <a:noFill/>
        </p:spPr>
        <p:txBody>
          <a:bodyPr wrap="square">
            <a:spAutoFit/>
          </a:bodyPr>
          <a:lstStyle/>
          <a:p>
            <a:pPr algn="l"/>
            <a:r>
              <a:rPr sz="800" b="1">
                <a:solidFill>
                  <a:srgbClr val="F5C518"/>
                </a:solidFill>
                <a:latin typeface="Inter"/>
              </a:rPr>
              <a:t>CHANCE CREATION / SCORING</a:t>
            </a:r>
          </a:p>
        </p:txBody>
      </p:sp>
      <p:sp>
        <p:nvSpPr>
          <p:cNvPr id="92" name="TextBox 91"/>
          <p:cNvSpPr txBox="1"/>
          <p:nvPr/>
        </p:nvSpPr>
        <p:spPr>
          <a:xfrm>
            <a:off x="8168640" y="5953760"/>
            <a:ext cx="3453384" cy="219456"/>
          </a:xfrm>
          <a:prstGeom prst="rect">
            <a:avLst/>
          </a:prstGeom>
          <a:noFill/>
        </p:spPr>
        <p:txBody>
          <a:bodyPr wrap="square">
            <a:spAutoFit/>
          </a:bodyPr>
          <a:lstStyle/>
          <a:p>
            <a:pPr algn="l"/>
            <a:r>
              <a:rPr sz="1000" b="0">
                <a:solidFill>
                  <a:srgbClr val="F2F2F0"/>
                </a:solidFill>
                <a:latin typeface="Inter"/>
              </a:rPr>
              <a:t>• Score and assist goals</a:t>
            </a:r>
          </a:p>
        </p:txBody>
      </p:sp>
      <p:sp>
        <p:nvSpPr>
          <p:cNvPr id="93" name="TextBox 92"/>
          <p:cNvSpPr txBox="1"/>
          <p:nvPr/>
        </p:nvSpPr>
        <p:spPr>
          <a:xfrm>
            <a:off x="8168640" y="6200648"/>
            <a:ext cx="3453384" cy="219456"/>
          </a:xfrm>
          <a:prstGeom prst="rect">
            <a:avLst/>
          </a:prstGeom>
          <a:noFill/>
        </p:spPr>
        <p:txBody>
          <a:bodyPr wrap="square">
            <a:spAutoFit/>
          </a:bodyPr>
          <a:lstStyle/>
          <a:p>
            <a:pPr algn="l"/>
            <a:r>
              <a:rPr sz="1000" b="0">
                <a:solidFill>
                  <a:srgbClr val="F2F2F0"/>
                </a:solidFill>
                <a:latin typeface="Inter"/>
              </a:rPr>
              <a:t>• Dynamic runs in the box</a:t>
            </a:r>
          </a:p>
        </p:txBody>
      </p:sp>
      <p:sp>
        <p:nvSpPr>
          <p:cNvPr id="94" name="TextBox 93"/>
          <p:cNvSpPr txBox="1"/>
          <p:nvPr/>
        </p:nvSpPr>
        <p:spPr>
          <a:xfrm>
            <a:off x="8168640" y="6447536"/>
            <a:ext cx="3453384" cy="219456"/>
          </a:xfrm>
          <a:prstGeom prst="rect">
            <a:avLst/>
          </a:prstGeom>
          <a:noFill/>
        </p:spPr>
        <p:txBody>
          <a:bodyPr wrap="square">
            <a:spAutoFit/>
          </a:bodyPr>
          <a:lstStyle/>
          <a:p>
            <a:pPr algn="l"/>
            <a:r>
              <a:rPr sz="1000" b="0">
                <a:solidFill>
                  <a:srgbClr val="F2F2F0"/>
                </a:solidFill>
                <a:latin typeface="Inter"/>
              </a:rPr>
              <a:t>• Stretch opponent backline – create space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